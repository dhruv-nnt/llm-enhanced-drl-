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87" r:id="rId2"/>
    <p:sldId id="288" r:id="rId3"/>
    <p:sldId id="272" r:id="rId4"/>
    <p:sldId id="292" r:id="rId5"/>
    <p:sldId id="293" r:id="rId6"/>
    <p:sldId id="289" r:id="rId7"/>
    <p:sldId id="276" r:id="rId8"/>
    <p:sldId id="290" r:id="rId9"/>
    <p:sldId id="291" r:id="rId10"/>
    <p:sldId id="294" r:id="rId11"/>
    <p:sldId id="296" r:id="rId12"/>
    <p:sldId id="299" r:id="rId13"/>
    <p:sldId id="298" r:id="rId14"/>
    <p:sldId id="297" r:id="rId15"/>
    <p:sldId id="300" r:id="rId16"/>
    <p:sldId id="30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47BB3A-4616-4148-EDF2-3E8DA0B750BE}" name="Aradhya Dhruv" initials="AD" userId="S::aradhya.dhruv@staff.main.ntu.edu.sg::80c4da6b-26d6-4c4d-8c95-6f4770a2f4f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4B79FE-6588-CF4A-BE58-2A581FA12ECE}" v="255" dt="2025-08-06T08:02:12.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45"/>
    <p:restoredTop sz="96087"/>
  </p:normalViewPr>
  <p:slideViewPr>
    <p:cSldViewPr snapToGrid="0">
      <p:cViewPr>
        <p:scale>
          <a:sx n="110" d="100"/>
          <a:sy n="110" d="100"/>
        </p:scale>
        <p:origin x="392" y="296"/>
      </p:cViewPr>
      <p:guideLst/>
    </p:cSldViewPr>
  </p:slideViewPr>
  <p:outlineViewPr>
    <p:cViewPr>
      <p:scale>
        <a:sx n="33" d="100"/>
        <a:sy n="33" d="100"/>
      </p:scale>
      <p:origin x="0" y="-23728"/>
    </p:cViewPr>
  </p:outlineViewPr>
  <p:notesTextViewPr>
    <p:cViewPr>
      <p:scale>
        <a:sx n="120" d="100"/>
        <a:sy n="1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9DAAD-CCFC-7B48-8E2B-E15B609EF3B0}" type="datetimeFigureOut">
              <a:rPr lang="en-US" smtClean="0"/>
              <a:t>8/8/25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51A7D7-8F41-8049-90E5-C84D065AEA28}" type="slidenum">
              <a:rPr lang="en-US" smtClean="0"/>
              <a:t>‹#›</a:t>
            </a:fld>
            <a:endParaRPr lang="en-US"/>
          </a:p>
        </p:txBody>
      </p:sp>
    </p:spTree>
    <p:extLst>
      <p:ext uri="{BB962C8B-B14F-4D97-AF65-F5344CB8AC3E}">
        <p14:creationId xmlns:p14="http://schemas.microsoft.com/office/powerpoint/2010/main" val="373447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rxiv.org/html/2502.01387v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rxiv.org/html/2502.01387v1"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rxiv.org/html/2502.01387v1"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u="none" strike="noStrike" kern="1200" dirty="0">
                <a:solidFill>
                  <a:schemeClr val="tx1"/>
                </a:solidFill>
                <a:effectLst/>
                <a:latin typeface="+mn-lt"/>
                <a:ea typeface="+mn-ea"/>
                <a:cs typeface="+mn-cs"/>
              </a:rPr>
              <a:t>The eight traffic movements at the four-legged intersection (with right-turns omitted) </a:t>
            </a:r>
            <a:r>
              <a:rPr lang="en-SG" sz="1200" b="1" i="0" u="none" strike="noStrike" kern="1200" dirty="0">
                <a:solidFill>
                  <a:schemeClr val="tx1"/>
                </a:solidFill>
                <a:effectLst/>
                <a:latin typeface="+mn-lt"/>
                <a:ea typeface="+mn-ea"/>
                <a:cs typeface="+mn-cs"/>
              </a:rPr>
              <a:t>are simply each entrance (E0–E3) doing a left turn or going straight:</a:t>
            </a:r>
          </a:p>
          <a:p>
            <a:pPr marL="171450" indent="-171450">
              <a:buFont typeface="Arial" panose="020B0604020202020204" pitchFamily="34" charset="0"/>
              <a:buChar char="•"/>
            </a:pPr>
            <a:r>
              <a:rPr lang="en-SG" b="1" dirty="0"/>
              <a:t>E0_l</a:t>
            </a:r>
            <a:r>
              <a:rPr lang="en-SG" dirty="0"/>
              <a:t> (from entrance E0, turning left)</a:t>
            </a:r>
          </a:p>
          <a:p>
            <a:pPr marL="171450" indent="-171450">
              <a:buFont typeface="Arial" panose="020B0604020202020204" pitchFamily="34" charset="0"/>
              <a:buChar char="•"/>
            </a:pPr>
            <a:r>
              <a:rPr lang="en-SG" b="1" dirty="0"/>
              <a:t>E0_s</a:t>
            </a:r>
            <a:r>
              <a:rPr lang="en-SG" dirty="0"/>
              <a:t> (from E0, going straight)</a:t>
            </a:r>
          </a:p>
          <a:p>
            <a:pPr marL="171450" indent="-171450">
              <a:buFont typeface="Arial" panose="020B0604020202020204" pitchFamily="34" charset="0"/>
              <a:buChar char="•"/>
            </a:pPr>
            <a:r>
              <a:rPr lang="en-SG" b="1" dirty="0"/>
              <a:t>E1_l</a:t>
            </a:r>
            <a:r>
              <a:rPr lang="en-SG" dirty="0"/>
              <a:t> (from E1, turning left)</a:t>
            </a:r>
          </a:p>
          <a:p>
            <a:pPr marL="171450" indent="-171450">
              <a:buFont typeface="Arial" panose="020B0604020202020204" pitchFamily="34" charset="0"/>
              <a:buChar char="•"/>
            </a:pPr>
            <a:r>
              <a:rPr lang="en-SG" b="1" dirty="0"/>
              <a:t>E1_s</a:t>
            </a:r>
            <a:r>
              <a:rPr lang="en-SG" dirty="0"/>
              <a:t> (from E1, going straight)</a:t>
            </a:r>
          </a:p>
          <a:p>
            <a:pPr marL="171450" indent="-171450">
              <a:buFont typeface="Arial" panose="020B0604020202020204" pitchFamily="34" charset="0"/>
              <a:buChar char="•"/>
            </a:pPr>
            <a:r>
              <a:rPr lang="en-SG" b="1" dirty="0"/>
              <a:t>E2_l</a:t>
            </a:r>
            <a:r>
              <a:rPr lang="en-SG" dirty="0"/>
              <a:t> (from E2, turning left)</a:t>
            </a:r>
          </a:p>
          <a:p>
            <a:pPr marL="171450" indent="-171450">
              <a:buFont typeface="Arial" panose="020B0604020202020204" pitchFamily="34" charset="0"/>
              <a:buChar char="•"/>
            </a:pPr>
            <a:r>
              <a:rPr lang="en-SG" b="1" dirty="0"/>
              <a:t>E2_s</a:t>
            </a:r>
            <a:r>
              <a:rPr lang="en-SG" dirty="0"/>
              <a:t> (from E2, going straight)</a:t>
            </a:r>
          </a:p>
          <a:p>
            <a:pPr marL="171450" indent="-171450">
              <a:buFont typeface="Arial" panose="020B0604020202020204" pitchFamily="34" charset="0"/>
              <a:buChar char="•"/>
            </a:pPr>
            <a:r>
              <a:rPr lang="en-SG" b="1" dirty="0"/>
              <a:t>E3_l</a:t>
            </a:r>
            <a:r>
              <a:rPr lang="en-SG" dirty="0"/>
              <a:t> (from E3, turning left)</a:t>
            </a:r>
          </a:p>
          <a:p>
            <a:pPr marL="171450" indent="-171450">
              <a:buFont typeface="Arial" panose="020B0604020202020204" pitchFamily="34" charset="0"/>
              <a:buChar char="•"/>
            </a:pPr>
            <a:r>
              <a:rPr lang="en-SG" b="1" dirty="0"/>
              <a:t>E3_s</a:t>
            </a:r>
            <a:r>
              <a:rPr lang="en-SG" dirty="0"/>
              <a:t> (from E3, going straight)</a:t>
            </a:r>
            <a:endParaRPr lang="en-SG" b="1" dirty="0"/>
          </a:p>
          <a:p>
            <a:endParaRPr lang="en-SG" b="1" dirty="0"/>
          </a:p>
          <a:p>
            <a:r>
              <a:rPr lang="en-SG" b="1" dirty="0"/>
              <a:t>Observation state</a:t>
            </a:r>
            <a:r>
              <a:rPr lang="en-SG" dirty="0"/>
              <a:t> st∈R</a:t>
            </a:r>
            <a:r>
              <a:rPr lang="en-SG" baseline="30000" dirty="0"/>
              <a:t>8×5</a:t>
            </a:r>
            <a:r>
              <a:rPr lang="en-SG" dirty="0"/>
              <a:t> : for each of the 8 traffic movements (), the vector includes</a:t>
            </a:r>
          </a:p>
          <a:p>
            <a:pPr marL="171450" indent="-171450">
              <a:buFont typeface="Arial" panose="020B0604020202020204" pitchFamily="34" charset="0"/>
              <a:buChar char="•"/>
            </a:pPr>
            <a:r>
              <a:rPr lang="en-SG" dirty="0"/>
              <a:t>Flow speed</a:t>
            </a:r>
          </a:p>
          <a:p>
            <a:pPr marL="171450" indent="-171450">
              <a:buFont typeface="Arial" panose="020B0604020202020204" pitchFamily="34" charset="0"/>
              <a:buChar char="•"/>
            </a:pPr>
            <a:r>
              <a:rPr lang="en-SG" dirty="0"/>
              <a:t>Mean lane occupancy</a:t>
            </a:r>
          </a:p>
          <a:p>
            <a:pPr marL="171450" indent="-171450">
              <a:buFont typeface="Arial" panose="020B0604020202020204" pitchFamily="34" charset="0"/>
              <a:buChar char="•"/>
            </a:pPr>
            <a:r>
              <a:rPr lang="en-SG" dirty="0"/>
              <a:t>Jam length (meters)</a:t>
            </a:r>
          </a:p>
          <a:p>
            <a:pPr marL="171450" indent="-171450">
              <a:buFont typeface="Arial" panose="020B0604020202020204" pitchFamily="34" charset="0"/>
              <a:buChar char="•"/>
            </a:pPr>
            <a:r>
              <a:rPr lang="en-SG" dirty="0"/>
              <a:t>Jam length (vehicles)</a:t>
            </a:r>
          </a:p>
          <a:p>
            <a:pPr marL="171450" indent="-171450">
              <a:buFont typeface="Arial" panose="020B0604020202020204" pitchFamily="34" charset="0"/>
              <a:buChar char="•"/>
            </a:pPr>
            <a:r>
              <a:rPr lang="en-SG" dirty="0"/>
              <a:t>Current phase (binary: passable or not)</a:t>
            </a:r>
            <a:br>
              <a:rPr lang="en-SG" dirty="0"/>
            </a:br>
            <a:r>
              <a:rPr lang="en-SG" dirty="0"/>
              <a:t>After transmission it’s passed through the degraded-communication model f </a:t>
            </a:r>
            <a:r>
              <a:rPr lang="en-SG" baseline="-25000" dirty="0"/>
              <a:t>degraded</a:t>
            </a:r>
            <a:r>
              <a:rPr lang="en-SG" dirty="0"/>
              <a:t> to handle packet loss/noise .</a:t>
            </a:r>
          </a:p>
          <a:p>
            <a:endParaRPr lang="en-SG" b="1" dirty="0"/>
          </a:p>
          <a:p>
            <a:r>
              <a:rPr lang="en-SG" b="1" dirty="0"/>
              <a:t>Action space A=P: choose one of four signal phases {0,1,2,3} to apply for the next 5-second time slot</a:t>
            </a:r>
          </a:p>
          <a:p>
            <a:r>
              <a:rPr lang="en-SG" b="1" dirty="0"/>
              <a:t>Phase 0</a:t>
            </a:r>
            <a:r>
              <a:rPr lang="en-SG" dirty="0"/>
              <a:t>: permits the straight movements </a:t>
            </a:r>
            <a:r>
              <a:rPr lang="en-SG" b="1" dirty="0"/>
              <a:t>E0_s</a:t>
            </a:r>
            <a:r>
              <a:rPr lang="en-SG" dirty="0"/>
              <a:t> and </a:t>
            </a:r>
            <a:r>
              <a:rPr lang="en-SG" b="1" dirty="0"/>
              <a:t>E1_s</a:t>
            </a:r>
            <a:r>
              <a:rPr lang="en-SG" dirty="0"/>
              <a:t> (east–west through traffic) .</a:t>
            </a:r>
          </a:p>
          <a:p>
            <a:r>
              <a:rPr lang="en-SG" b="1" dirty="0"/>
              <a:t>Phase 1</a:t>
            </a:r>
            <a:r>
              <a:rPr lang="en-SG" dirty="0"/>
              <a:t>: permits the left-turn movements </a:t>
            </a:r>
            <a:r>
              <a:rPr lang="en-SG" b="1" dirty="0"/>
              <a:t>E0_l</a:t>
            </a:r>
            <a:r>
              <a:rPr lang="en-SG" dirty="0"/>
              <a:t> and </a:t>
            </a:r>
            <a:r>
              <a:rPr lang="en-SG" b="1" dirty="0"/>
              <a:t>E1_l</a:t>
            </a:r>
            <a:r>
              <a:rPr lang="en-SG" dirty="0"/>
              <a:t> (east–west left turns) .</a:t>
            </a:r>
          </a:p>
          <a:p>
            <a:r>
              <a:rPr lang="en-SG" b="1" dirty="0"/>
              <a:t>Phase 2</a:t>
            </a:r>
            <a:r>
              <a:rPr lang="en-SG" dirty="0"/>
              <a:t>: permits the straight movements </a:t>
            </a:r>
            <a:r>
              <a:rPr lang="en-SG" b="1" dirty="0"/>
              <a:t>E3_s</a:t>
            </a:r>
            <a:r>
              <a:rPr lang="en-SG" dirty="0"/>
              <a:t> and </a:t>
            </a:r>
            <a:r>
              <a:rPr lang="en-SG" b="1" dirty="0"/>
              <a:t>E2_s</a:t>
            </a:r>
            <a:r>
              <a:rPr lang="en-SG" dirty="0"/>
              <a:t> (north–south through traffic) .</a:t>
            </a:r>
          </a:p>
          <a:p>
            <a:r>
              <a:rPr lang="en-SG" b="1" dirty="0"/>
              <a:t>Phase 3</a:t>
            </a:r>
            <a:r>
              <a:rPr lang="en-SG" dirty="0"/>
              <a:t>: permits the left-turn movements </a:t>
            </a:r>
            <a:r>
              <a:rPr lang="en-SG" b="1" dirty="0"/>
              <a:t>E3_l</a:t>
            </a:r>
            <a:r>
              <a:rPr lang="en-SG" dirty="0"/>
              <a:t> and </a:t>
            </a:r>
            <a:r>
              <a:rPr lang="en-SG" b="1" dirty="0"/>
              <a:t>E2_l</a:t>
            </a:r>
            <a:r>
              <a:rPr lang="en-SG" dirty="0"/>
              <a:t> (north–south left turns)</a:t>
            </a:r>
            <a:endParaRPr lang="en-SG" b="1" dirty="0"/>
          </a:p>
          <a:p>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u="none" strike="noStrike" kern="1200" dirty="0">
                <a:solidFill>
                  <a:schemeClr val="tx1"/>
                </a:solidFill>
                <a:effectLst/>
                <a:latin typeface="+mn-lt"/>
                <a:ea typeface="+mn-ea"/>
                <a:cs typeface="+mn-cs"/>
              </a:rPr>
              <a:t>----------------------------------------------------------------------------------------------------------------------------------------------------------</a:t>
            </a:r>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i="0" u="none" strike="noStrike" kern="1200" dirty="0">
                <a:solidFill>
                  <a:schemeClr val="tx1"/>
                </a:solidFill>
                <a:effectLst/>
                <a:latin typeface="+mn-lt"/>
                <a:ea typeface="+mn-ea"/>
                <a:cs typeface="+mn-cs"/>
              </a:rPr>
              <a:t>Key Novelty:</a:t>
            </a:r>
            <a:br>
              <a:rPr lang="en-SG" dirty="0"/>
            </a:br>
            <a:r>
              <a:rPr lang="en-SG" sz="1200" b="0" i="0" u="none" strike="noStrike" kern="1200" dirty="0">
                <a:solidFill>
                  <a:schemeClr val="tx1"/>
                </a:solidFill>
                <a:effectLst/>
                <a:latin typeface="+mn-lt"/>
                <a:ea typeface="+mn-ea"/>
                <a:cs typeface="+mn-cs"/>
              </a:rPr>
              <a:t>The key novelty of </a:t>
            </a:r>
            <a:r>
              <a:rPr lang="en-SG" sz="1200" b="0" i="0" u="none" strike="noStrike" kern="1200" dirty="0" err="1">
                <a:solidFill>
                  <a:schemeClr val="tx1"/>
                </a:solidFill>
                <a:effectLst/>
                <a:latin typeface="+mn-lt"/>
                <a:ea typeface="+mn-ea"/>
                <a:cs typeface="+mn-cs"/>
              </a:rPr>
              <a:t>iLLM</a:t>
            </a:r>
            <a:r>
              <a:rPr lang="en-SG" sz="1200" b="0" i="0" u="none" strike="noStrike" kern="1200" dirty="0">
                <a:solidFill>
                  <a:schemeClr val="tx1"/>
                </a:solidFill>
                <a:effectLst/>
                <a:latin typeface="+mn-lt"/>
                <a:ea typeface="+mn-ea"/>
                <a:cs typeface="+mn-cs"/>
              </a:rPr>
              <a:t>-TSC is that it layers a pretrained LLM </a:t>
            </a:r>
            <a:r>
              <a:rPr lang="en-SG" sz="1200" b="1" i="0" u="none" strike="noStrike" kern="1200" dirty="0">
                <a:solidFill>
                  <a:schemeClr val="tx1"/>
                </a:solidFill>
                <a:effectLst/>
                <a:latin typeface="+mn-lt"/>
                <a:ea typeface="+mn-ea"/>
                <a:cs typeface="+mn-cs"/>
              </a:rPr>
              <a:t>at inference time</a:t>
            </a:r>
            <a:r>
              <a:rPr lang="en-SG" sz="1200" b="0" i="0" u="none" strike="noStrike" kern="1200" dirty="0">
                <a:solidFill>
                  <a:schemeClr val="tx1"/>
                </a:solidFill>
                <a:effectLst/>
                <a:latin typeface="+mn-lt"/>
                <a:ea typeface="+mn-ea"/>
                <a:cs typeface="+mn-cs"/>
              </a:rPr>
              <a:t> on top of a standard RL-based traffic controller in a </a:t>
            </a:r>
            <a:r>
              <a:rPr lang="en-SG" sz="1200" b="1" i="0" u="none" strike="noStrike" kern="1200" dirty="0">
                <a:solidFill>
                  <a:schemeClr val="tx1"/>
                </a:solidFill>
                <a:effectLst/>
                <a:latin typeface="+mn-lt"/>
                <a:ea typeface="+mn-ea"/>
                <a:cs typeface="+mn-cs"/>
              </a:rPr>
              <a:t>dual-step loop</a:t>
            </a:r>
            <a:r>
              <a:rPr lang="en-SG" sz="1200" b="0" i="0" u="none" strike="noStrike" kern="1200" dirty="0">
                <a:solidFill>
                  <a:schemeClr val="tx1"/>
                </a:solidFill>
                <a:effectLst/>
                <a:latin typeface="+mn-lt"/>
                <a:ea typeface="+mn-ea"/>
                <a:cs typeface="+mn-cs"/>
              </a:rPr>
              <a:t>: the PPO agent first proposes a signal phase, then GPT-4 “reviews” that choice via a structured natural-language prompt and can adjust it on the fly. This plug-and-play design combines RL’s environment-specific learning with the LLM’s broad reasoning—boosting robustness to noisy sensors and rare events—</a:t>
            </a:r>
            <a:r>
              <a:rPr lang="en-SG" sz="1200" b="1" i="0" u="none" strike="noStrike" kern="1200" dirty="0">
                <a:solidFill>
                  <a:schemeClr val="tx1"/>
                </a:solidFill>
                <a:effectLst/>
                <a:latin typeface="+mn-lt"/>
                <a:ea typeface="+mn-ea"/>
                <a:cs typeface="+mn-cs"/>
              </a:rPr>
              <a:t>without </a:t>
            </a:r>
            <a:r>
              <a:rPr lang="en-SG" sz="1200" b="0" i="0" u="none" strike="noStrike" kern="1200" dirty="0">
                <a:solidFill>
                  <a:schemeClr val="tx1"/>
                </a:solidFill>
                <a:effectLst/>
                <a:latin typeface="+mn-lt"/>
                <a:ea typeface="+mn-ea"/>
                <a:cs typeface="+mn-cs"/>
              </a:rPr>
              <a:t>retraining either model or altering the core RL pipeline</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51A7D7-8F41-8049-90E5-C84D065AEA28}" type="slidenum">
              <a:rPr lang="en-US" smtClean="0"/>
              <a:t>2</a:t>
            </a:fld>
            <a:endParaRPr lang="en-US"/>
          </a:p>
        </p:txBody>
      </p:sp>
    </p:spTree>
    <p:extLst>
      <p:ext uri="{BB962C8B-B14F-4D97-AF65-F5344CB8AC3E}">
        <p14:creationId xmlns:p14="http://schemas.microsoft.com/office/powerpoint/2010/main" val="2287016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Action space A=P: choose one of four signal phases {0,1,2,3} to apply for the next 5-second time slot</a:t>
            </a:r>
          </a:p>
          <a:p>
            <a:r>
              <a:rPr lang="en-SG" b="1" dirty="0"/>
              <a:t>Phase 0</a:t>
            </a:r>
            <a:r>
              <a:rPr lang="en-SG" dirty="0"/>
              <a:t>: permits the straight movements </a:t>
            </a:r>
            <a:r>
              <a:rPr lang="en-SG" b="1" dirty="0"/>
              <a:t>E0_s</a:t>
            </a:r>
            <a:r>
              <a:rPr lang="en-SG" dirty="0"/>
              <a:t> and </a:t>
            </a:r>
            <a:r>
              <a:rPr lang="en-SG" b="1" dirty="0"/>
              <a:t>E1_s</a:t>
            </a:r>
            <a:r>
              <a:rPr lang="en-SG" dirty="0"/>
              <a:t> (east–west through traffic) .</a:t>
            </a:r>
          </a:p>
          <a:p>
            <a:r>
              <a:rPr lang="en-SG" b="1" dirty="0"/>
              <a:t>Phase 1</a:t>
            </a:r>
            <a:r>
              <a:rPr lang="en-SG" dirty="0"/>
              <a:t>: permits the left-turn movements </a:t>
            </a:r>
            <a:r>
              <a:rPr lang="en-SG" b="1" dirty="0"/>
              <a:t>E0_l</a:t>
            </a:r>
            <a:r>
              <a:rPr lang="en-SG" dirty="0"/>
              <a:t> and </a:t>
            </a:r>
            <a:r>
              <a:rPr lang="en-SG" b="1" dirty="0"/>
              <a:t>E1_l</a:t>
            </a:r>
            <a:r>
              <a:rPr lang="en-SG" dirty="0"/>
              <a:t> (east–west left turns) .</a:t>
            </a:r>
          </a:p>
          <a:p>
            <a:r>
              <a:rPr lang="en-SG" b="1" dirty="0"/>
              <a:t>Phase 2</a:t>
            </a:r>
            <a:r>
              <a:rPr lang="en-SG" dirty="0"/>
              <a:t>: permits the straight movements </a:t>
            </a:r>
            <a:r>
              <a:rPr lang="en-SG" b="1" dirty="0"/>
              <a:t>E3_s</a:t>
            </a:r>
            <a:r>
              <a:rPr lang="en-SG" dirty="0"/>
              <a:t> and </a:t>
            </a:r>
            <a:r>
              <a:rPr lang="en-SG" b="1" dirty="0"/>
              <a:t>E2_s</a:t>
            </a:r>
            <a:r>
              <a:rPr lang="en-SG" dirty="0"/>
              <a:t> (north–south through traffic) .</a:t>
            </a:r>
          </a:p>
          <a:p>
            <a:r>
              <a:rPr lang="en-SG" b="1" dirty="0"/>
              <a:t>Phase 3</a:t>
            </a:r>
            <a:r>
              <a:rPr lang="en-SG" dirty="0"/>
              <a:t>: permits the left-turn movements </a:t>
            </a:r>
            <a:r>
              <a:rPr lang="en-SG" b="1" dirty="0"/>
              <a:t>E3_l</a:t>
            </a:r>
            <a:r>
              <a:rPr lang="en-SG" dirty="0"/>
              <a:t> and </a:t>
            </a:r>
            <a:r>
              <a:rPr lang="en-SG" b="1" dirty="0"/>
              <a:t>E2_l</a:t>
            </a:r>
            <a:r>
              <a:rPr lang="en-SG" dirty="0"/>
              <a:t> (north–south left turns)</a:t>
            </a:r>
            <a:endParaRPr lang="en-SG" b="1" dirty="0"/>
          </a:p>
          <a:p>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i="0" u="none" strike="noStrike" kern="1200" dirty="0">
                <a:solidFill>
                  <a:schemeClr val="tx1"/>
                </a:solidFill>
                <a:effectLst/>
                <a:latin typeface="+mn-lt"/>
                <a:ea typeface="+mn-ea"/>
                <a:cs typeface="+mn-cs"/>
              </a:rPr>
              <a:t>----------------------------------------------------------------------------------------------------------------------------------------------------------</a:t>
            </a:r>
            <a:endParaRPr lang="en-SG"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i="0" u="none" strike="noStrike" kern="1200" dirty="0">
                <a:solidFill>
                  <a:schemeClr val="tx1"/>
                </a:solidFill>
                <a:effectLst/>
                <a:latin typeface="+mn-lt"/>
                <a:ea typeface="+mn-ea"/>
                <a:cs typeface="+mn-cs"/>
              </a:rPr>
              <a:t>Key Novelty:</a:t>
            </a:r>
            <a:br>
              <a:rPr lang="en-SG" dirty="0"/>
            </a:br>
            <a:r>
              <a:rPr lang="en-SG" sz="1200" b="0" i="0" u="none" strike="noStrike" kern="1200" dirty="0">
                <a:solidFill>
                  <a:schemeClr val="tx1"/>
                </a:solidFill>
                <a:effectLst/>
                <a:latin typeface="+mn-lt"/>
                <a:ea typeface="+mn-ea"/>
                <a:cs typeface="+mn-cs"/>
              </a:rPr>
              <a:t>The key novelty of </a:t>
            </a:r>
            <a:r>
              <a:rPr lang="en-SG" sz="1200" b="0" i="0" u="none" strike="noStrike" kern="1200" dirty="0" err="1">
                <a:solidFill>
                  <a:schemeClr val="tx1"/>
                </a:solidFill>
                <a:effectLst/>
                <a:latin typeface="+mn-lt"/>
                <a:ea typeface="+mn-ea"/>
                <a:cs typeface="+mn-cs"/>
              </a:rPr>
              <a:t>iLLM</a:t>
            </a:r>
            <a:r>
              <a:rPr lang="en-SG" sz="1200" b="0" i="0" u="none" strike="noStrike" kern="1200" dirty="0">
                <a:solidFill>
                  <a:schemeClr val="tx1"/>
                </a:solidFill>
                <a:effectLst/>
                <a:latin typeface="+mn-lt"/>
                <a:ea typeface="+mn-ea"/>
                <a:cs typeface="+mn-cs"/>
              </a:rPr>
              <a:t>-TSC is that it layers a pretrained LLM </a:t>
            </a:r>
            <a:r>
              <a:rPr lang="en-SG" sz="1200" b="1" i="0" u="none" strike="noStrike" kern="1200" dirty="0">
                <a:solidFill>
                  <a:schemeClr val="tx1"/>
                </a:solidFill>
                <a:effectLst/>
                <a:latin typeface="+mn-lt"/>
                <a:ea typeface="+mn-ea"/>
                <a:cs typeface="+mn-cs"/>
              </a:rPr>
              <a:t>at inference time</a:t>
            </a:r>
            <a:r>
              <a:rPr lang="en-SG" sz="1200" b="0" i="0" u="none" strike="noStrike" kern="1200" dirty="0">
                <a:solidFill>
                  <a:schemeClr val="tx1"/>
                </a:solidFill>
                <a:effectLst/>
                <a:latin typeface="+mn-lt"/>
                <a:ea typeface="+mn-ea"/>
                <a:cs typeface="+mn-cs"/>
              </a:rPr>
              <a:t> on top of a standard RL-based traffic controller in a </a:t>
            </a:r>
            <a:r>
              <a:rPr lang="en-SG" sz="1200" b="1" i="0" u="none" strike="noStrike" kern="1200" dirty="0">
                <a:solidFill>
                  <a:schemeClr val="tx1"/>
                </a:solidFill>
                <a:effectLst/>
                <a:latin typeface="+mn-lt"/>
                <a:ea typeface="+mn-ea"/>
                <a:cs typeface="+mn-cs"/>
              </a:rPr>
              <a:t>dual-step loop</a:t>
            </a:r>
            <a:r>
              <a:rPr lang="en-SG" sz="1200" b="0" i="0" u="none" strike="noStrike" kern="1200" dirty="0">
                <a:solidFill>
                  <a:schemeClr val="tx1"/>
                </a:solidFill>
                <a:effectLst/>
                <a:latin typeface="+mn-lt"/>
                <a:ea typeface="+mn-ea"/>
                <a:cs typeface="+mn-cs"/>
              </a:rPr>
              <a:t>: the PPO agent first proposes a signal phase, then GPT-4 “reviews” that choice via a structured natural-language prompt and can adjust it on the fly. This plug-and-play design combines RL’s environment-specific learning with the LLM’s broad reasoning—boosting robustness to noisy sensors and rare events—</a:t>
            </a:r>
            <a:r>
              <a:rPr lang="en-SG" sz="1200" b="1" i="0" u="none" strike="noStrike" kern="1200" dirty="0" err="1">
                <a:solidFill>
                  <a:schemeClr val="tx1"/>
                </a:solidFill>
                <a:effectLst/>
                <a:latin typeface="+mn-lt"/>
                <a:ea typeface="+mn-ea"/>
                <a:cs typeface="+mn-cs"/>
              </a:rPr>
              <a:t>without</a:t>
            </a:r>
            <a:r>
              <a:rPr lang="en-SG" sz="1200" b="0" i="0" u="none" strike="noStrike" kern="1200" dirty="0" err="1">
                <a:solidFill>
                  <a:schemeClr val="tx1"/>
                </a:solidFill>
                <a:effectLst/>
                <a:latin typeface="+mn-lt"/>
                <a:ea typeface="+mn-ea"/>
                <a:cs typeface="+mn-cs"/>
              </a:rPr>
              <a:t>retraining</a:t>
            </a:r>
            <a:r>
              <a:rPr lang="en-SG" sz="1200" b="0" i="0" u="none" strike="noStrike" kern="1200" dirty="0">
                <a:solidFill>
                  <a:schemeClr val="tx1"/>
                </a:solidFill>
                <a:effectLst/>
                <a:latin typeface="+mn-lt"/>
                <a:ea typeface="+mn-ea"/>
                <a:cs typeface="+mn-cs"/>
              </a:rPr>
              <a:t> either model or altering the core RL pipeline</a:t>
            </a:r>
            <a:endParaRPr lang="en-SG"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FCE97AB-59EC-F947-9B92-7907293B735A}" type="slidenum">
              <a:rPr lang="en-US" smtClean="0"/>
              <a:t>3</a:t>
            </a:fld>
            <a:endParaRPr lang="en-US"/>
          </a:p>
        </p:txBody>
      </p:sp>
    </p:spTree>
    <p:extLst>
      <p:ext uri="{BB962C8B-B14F-4D97-AF65-F5344CB8AC3E}">
        <p14:creationId xmlns:p14="http://schemas.microsoft.com/office/powerpoint/2010/main" val="3692689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900" b="1" dirty="0"/>
              <a:t>Observation state</a:t>
            </a:r>
            <a:r>
              <a:rPr lang="en-SG" sz="900" dirty="0"/>
              <a:t>: At each time step t, the agent observes</a:t>
            </a:r>
          </a:p>
          <a:p>
            <a:r>
              <a:rPr lang="en-SG" sz="900" dirty="0"/>
              <a:t>A </a:t>
            </a:r>
            <a:r>
              <a:rPr lang="en-SG" sz="900" b="1" dirty="0"/>
              <a:t>neighbour matrix</a:t>
            </a:r>
            <a:r>
              <a:rPr lang="en-SG" sz="900" dirty="0"/>
              <a:t> </a:t>
            </a:r>
            <a:r>
              <a:rPr lang="en-SG" sz="900" dirty="0" err="1"/>
              <a:t>X</a:t>
            </a:r>
            <a:r>
              <a:rPr lang="en-SG" sz="900" baseline="-25000" dirty="0" err="1"/>
              <a:t>t</a:t>
            </a:r>
            <a:r>
              <a:rPr lang="en-SG" sz="900" dirty="0" err="1"/>
              <a:t>∈R</a:t>
            </a:r>
            <a:r>
              <a:rPr lang="en-SG" sz="900" baseline="30000" dirty="0" err="1"/>
              <a:t>d×N</a:t>
            </a:r>
            <a:r>
              <a:rPr lang="en-SG" sz="900" dirty="0"/>
              <a:t>, where each column </a:t>
            </a:r>
            <a:r>
              <a:rPr lang="en-SG" sz="900" dirty="0" err="1"/>
              <a:t>x</a:t>
            </a:r>
            <a:r>
              <a:rPr lang="en-SG" sz="900" baseline="-25000" dirty="0" err="1"/>
              <a:t>t</a:t>
            </a:r>
            <a:r>
              <a:rPr lang="en-SG" sz="900" baseline="-25000" dirty="0"/>
              <a:t>(</a:t>
            </a:r>
            <a:r>
              <a:rPr lang="en-SG" sz="900" baseline="-25000" dirty="0" err="1"/>
              <a:t>i</a:t>
            </a:r>
            <a:r>
              <a:rPr lang="en-SG" sz="900" baseline="-25000" dirty="0"/>
              <a:t>). </a:t>
            </a:r>
            <a:r>
              <a:rPr lang="en-SG" sz="900" dirty="0"/>
              <a:t>is a feature vector [</a:t>
            </a:r>
            <a:r>
              <a:rPr lang="en-SG" sz="900" dirty="0" err="1"/>
              <a:t>px,py,vx,vy</a:t>
            </a:r>
            <a:r>
              <a:rPr lang="en-SG" sz="900" dirty="0"/>
              <a:t>,</a:t>
            </a:r>
            <a:r>
              <a:rPr lang="el-GR" sz="900" dirty="0"/>
              <a:t>θ] </a:t>
            </a:r>
            <a:r>
              <a:rPr lang="en-SG" sz="900" dirty="0"/>
              <a:t>encoding </a:t>
            </a:r>
            <a:r>
              <a:rPr lang="en-SG" sz="900" b="1" dirty="0"/>
              <a:t>the position, velocity, and orientation of up to N nearby vehicles</a:t>
            </a:r>
            <a:r>
              <a:rPr lang="en-SG" sz="900" dirty="0"/>
              <a:t>.</a:t>
            </a:r>
          </a:p>
          <a:p>
            <a:r>
              <a:rPr lang="en-SG" sz="900" dirty="0"/>
              <a:t>An </a:t>
            </a:r>
            <a:r>
              <a:rPr lang="en-SG" sz="900" b="1" dirty="0"/>
              <a:t>ego-state vector</a:t>
            </a:r>
            <a:r>
              <a:rPr lang="en-SG" sz="900" dirty="0"/>
              <a:t> e</a:t>
            </a:r>
            <a:r>
              <a:rPr lang="en-SG" sz="900" baseline="-25000" dirty="0"/>
              <a:t>t</a:t>
            </a:r>
            <a:r>
              <a:rPr lang="en-SG" sz="900" dirty="0"/>
              <a:t>​ describing the agent’s own position, velocity, and heading.</a:t>
            </a:r>
            <a:br>
              <a:rPr lang="en-SG" sz="900" dirty="0"/>
            </a:br>
            <a:r>
              <a:rPr lang="en-SG" sz="900" dirty="0"/>
              <a:t>These two parts are concatenated to form the compact observation </a:t>
            </a:r>
            <a:r>
              <a:rPr lang="en-SG" sz="900" dirty="0" err="1"/>
              <a:t>o</a:t>
            </a:r>
            <a:r>
              <a:rPr lang="en-SG" sz="900" baseline="-25000" dirty="0" err="1"/>
              <a:t>t</a:t>
            </a:r>
            <a:r>
              <a:rPr lang="en-SG" sz="900" dirty="0"/>
              <a:t>​. </a:t>
            </a:r>
            <a:r>
              <a:rPr lang="en-SG" sz="900" dirty="0">
                <a:hlinkClick r:id="rId3"/>
              </a:rPr>
              <a:t>arXiv</a:t>
            </a:r>
            <a:endParaRPr lang="en-SG" sz="900" dirty="0"/>
          </a:p>
          <a:p>
            <a:r>
              <a:rPr lang="en-SG" sz="900" b="1" dirty="0"/>
              <a:t>Action space</a:t>
            </a:r>
            <a:r>
              <a:rPr lang="en-SG" sz="900" dirty="0"/>
              <a:t>: A discrete set of five high-level </a:t>
            </a:r>
            <a:r>
              <a:rPr lang="en-SG" sz="900" dirty="0" err="1"/>
              <a:t>maneuvers</a:t>
            </a:r>
            <a:endParaRPr lang="en-SG" sz="900" dirty="0"/>
          </a:p>
          <a:p>
            <a:r>
              <a:rPr lang="en-SG" sz="900" dirty="0"/>
              <a:t>A={Accelerate, Decelerate, </a:t>
            </a:r>
            <a:r>
              <a:rPr lang="en-SG" sz="900" dirty="0" err="1"/>
              <a:t>TurnLeft</a:t>
            </a:r>
            <a:r>
              <a:rPr lang="en-SG" sz="900" dirty="0"/>
              <a:t>, </a:t>
            </a:r>
            <a:r>
              <a:rPr lang="en-SG" sz="900" dirty="0" err="1"/>
              <a:t>TurnRight</a:t>
            </a:r>
            <a:r>
              <a:rPr lang="en-SG" sz="900" dirty="0"/>
              <a:t>, </a:t>
            </a:r>
            <a:r>
              <a:rPr lang="en-SG" sz="900" dirty="0" err="1"/>
              <a:t>MaintainSpeed</a:t>
            </a:r>
            <a:r>
              <a:rPr lang="en-SG" sz="900" dirty="0"/>
              <a:t>}. A={Accelerate, Decelerate, </a:t>
            </a:r>
            <a:r>
              <a:rPr lang="en-SG" sz="900" dirty="0" err="1"/>
              <a:t>TurnLeft</a:t>
            </a:r>
            <a:r>
              <a:rPr lang="en-SG" sz="900" dirty="0"/>
              <a:t>, </a:t>
            </a:r>
            <a:r>
              <a:rPr lang="en-SG" sz="900" dirty="0" err="1"/>
              <a:t>TurnRight</a:t>
            </a:r>
            <a:r>
              <a:rPr lang="en-SG" sz="900" dirty="0"/>
              <a:t>, </a:t>
            </a:r>
            <a:r>
              <a:rPr lang="en-SG" sz="900" dirty="0" err="1"/>
              <a:t>MaintainSpeed</a:t>
            </a:r>
            <a:r>
              <a:rPr lang="en-SG" sz="900" dirty="0"/>
              <a:t>}. Once a </a:t>
            </a:r>
            <a:r>
              <a:rPr lang="en-SG" sz="900" dirty="0" err="1"/>
              <a:t>maneuver</a:t>
            </a:r>
            <a:r>
              <a:rPr lang="en-SG" sz="900" dirty="0"/>
              <a:t> is chosen, a lower-level PID controller generates the actual steering and throttle commands. </a:t>
            </a:r>
          </a:p>
        </p:txBody>
      </p:sp>
      <p:sp>
        <p:nvSpPr>
          <p:cNvPr id="4" name="Slide Number Placeholder 3"/>
          <p:cNvSpPr>
            <a:spLocks noGrp="1"/>
          </p:cNvSpPr>
          <p:nvPr>
            <p:ph type="sldNum" sz="quarter" idx="5"/>
          </p:nvPr>
        </p:nvSpPr>
        <p:spPr/>
        <p:txBody>
          <a:bodyPr/>
          <a:lstStyle/>
          <a:p>
            <a:fld id="{7F51A7D7-8F41-8049-90E5-C84D065AEA28}" type="slidenum">
              <a:rPr lang="en-US" smtClean="0"/>
              <a:t>6</a:t>
            </a:fld>
            <a:endParaRPr lang="en-US"/>
          </a:p>
        </p:txBody>
      </p:sp>
    </p:spTree>
    <p:extLst>
      <p:ext uri="{BB962C8B-B14F-4D97-AF65-F5344CB8AC3E}">
        <p14:creationId xmlns:p14="http://schemas.microsoft.com/office/powerpoint/2010/main" val="763285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000" b="1" dirty="0"/>
              <a:t>Observation state</a:t>
            </a:r>
            <a:r>
              <a:rPr lang="en-SG" sz="1000" dirty="0"/>
              <a:t>: At each time step t, the agent observes</a:t>
            </a:r>
          </a:p>
          <a:p>
            <a:r>
              <a:rPr lang="en-SG" sz="1000" dirty="0"/>
              <a:t>A </a:t>
            </a:r>
            <a:r>
              <a:rPr lang="en-SG" sz="1000" b="1" dirty="0"/>
              <a:t>neighbour matrix</a:t>
            </a:r>
            <a:r>
              <a:rPr lang="en-SG" sz="1000" dirty="0"/>
              <a:t> </a:t>
            </a:r>
            <a:r>
              <a:rPr lang="en-SG" sz="1000" dirty="0" err="1"/>
              <a:t>X</a:t>
            </a:r>
            <a:r>
              <a:rPr lang="en-SG" sz="1000" baseline="-25000" dirty="0" err="1"/>
              <a:t>t</a:t>
            </a:r>
            <a:r>
              <a:rPr lang="en-SG" sz="1000" dirty="0" err="1"/>
              <a:t>∈R</a:t>
            </a:r>
            <a:r>
              <a:rPr lang="en-SG" sz="1000" baseline="30000" dirty="0" err="1"/>
              <a:t>d×N</a:t>
            </a:r>
            <a:r>
              <a:rPr lang="en-SG" sz="1000" dirty="0"/>
              <a:t>, where each column </a:t>
            </a:r>
            <a:r>
              <a:rPr lang="en-SG" sz="1000" dirty="0" err="1"/>
              <a:t>x</a:t>
            </a:r>
            <a:r>
              <a:rPr lang="en-SG" sz="1000" baseline="-25000" dirty="0" err="1"/>
              <a:t>t</a:t>
            </a:r>
            <a:r>
              <a:rPr lang="en-SG" sz="1000" baseline="-25000" dirty="0"/>
              <a:t>(</a:t>
            </a:r>
            <a:r>
              <a:rPr lang="en-SG" sz="1000" baseline="-25000" dirty="0" err="1"/>
              <a:t>i</a:t>
            </a:r>
            <a:r>
              <a:rPr lang="en-SG" sz="1000" baseline="-25000" dirty="0"/>
              <a:t>). </a:t>
            </a:r>
            <a:r>
              <a:rPr lang="en-SG" sz="1000" dirty="0"/>
              <a:t>is a feature vector [</a:t>
            </a:r>
            <a:r>
              <a:rPr lang="en-SG" sz="1000" dirty="0" err="1"/>
              <a:t>px,py,vx,vy</a:t>
            </a:r>
            <a:r>
              <a:rPr lang="en-SG" sz="1000" dirty="0"/>
              <a:t>,</a:t>
            </a:r>
            <a:r>
              <a:rPr lang="el-GR" sz="1000" dirty="0"/>
              <a:t>θ] </a:t>
            </a:r>
            <a:r>
              <a:rPr lang="en-SG" sz="1000" dirty="0"/>
              <a:t>encoding </a:t>
            </a:r>
            <a:r>
              <a:rPr lang="en-SG" sz="1000" b="1" dirty="0"/>
              <a:t>the position, velocity, and orientation of up to N nearby vehicles</a:t>
            </a:r>
            <a:r>
              <a:rPr lang="en-SG" sz="1000" dirty="0"/>
              <a:t>.</a:t>
            </a:r>
          </a:p>
          <a:p>
            <a:r>
              <a:rPr lang="en-SG" sz="1000" dirty="0"/>
              <a:t>An </a:t>
            </a:r>
            <a:r>
              <a:rPr lang="en-SG" sz="1000" b="1" dirty="0"/>
              <a:t>ego-state vector</a:t>
            </a:r>
            <a:r>
              <a:rPr lang="en-SG" sz="1000" dirty="0"/>
              <a:t> e</a:t>
            </a:r>
            <a:r>
              <a:rPr lang="en-SG" sz="1000" baseline="-25000" dirty="0"/>
              <a:t>t</a:t>
            </a:r>
            <a:r>
              <a:rPr lang="en-SG" sz="1000" dirty="0"/>
              <a:t>​ describing the agent’s own position, velocity, and heading.</a:t>
            </a:r>
            <a:br>
              <a:rPr lang="en-SG" sz="1000" dirty="0"/>
            </a:br>
            <a:r>
              <a:rPr lang="en-SG" sz="1000" dirty="0"/>
              <a:t>These two parts are concatenated to form the compact observation </a:t>
            </a:r>
            <a:r>
              <a:rPr lang="en-SG" sz="1000" dirty="0" err="1"/>
              <a:t>o</a:t>
            </a:r>
            <a:r>
              <a:rPr lang="en-SG" sz="1000" baseline="-25000" dirty="0" err="1"/>
              <a:t>t</a:t>
            </a:r>
            <a:r>
              <a:rPr lang="en-SG" sz="1000" dirty="0"/>
              <a:t>​. </a:t>
            </a:r>
            <a:r>
              <a:rPr lang="en-SG" sz="1000" dirty="0">
                <a:hlinkClick r:id="rId3"/>
              </a:rPr>
              <a:t>arXiv</a:t>
            </a:r>
            <a:endParaRPr lang="en-SG" sz="1000" dirty="0"/>
          </a:p>
          <a:p>
            <a:r>
              <a:rPr lang="en-SG" sz="1000" b="1" dirty="0"/>
              <a:t>Action space</a:t>
            </a:r>
            <a:r>
              <a:rPr lang="en-SG" sz="1000" dirty="0"/>
              <a:t>: A discrete set of five high-level </a:t>
            </a:r>
            <a:r>
              <a:rPr lang="en-SG" sz="1000" dirty="0" err="1"/>
              <a:t>maneuvers</a:t>
            </a:r>
            <a:endParaRPr lang="en-SG" sz="1000" dirty="0"/>
          </a:p>
          <a:p>
            <a:r>
              <a:rPr lang="en-SG" sz="1000" dirty="0"/>
              <a:t>A={Accelerate, Decelerate, </a:t>
            </a:r>
            <a:r>
              <a:rPr lang="en-SG" sz="1000" dirty="0" err="1"/>
              <a:t>TurnLeft</a:t>
            </a:r>
            <a:r>
              <a:rPr lang="en-SG" sz="1000" dirty="0"/>
              <a:t>, </a:t>
            </a:r>
            <a:r>
              <a:rPr lang="en-SG" sz="1000" dirty="0" err="1"/>
              <a:t>TurnRight</a:t>
            </a:r>
            <a:r>
              <a:rPr lang="en-SG" sz="1000" dirty="0"/>
              <a:t>, </a:t>
            </a:r>
            <a:r>
              <a:rPr lang="en-SG" sz="1000" dirty="0" err="1"/>
              <a:t>MaintainSpeed</a:t>
            </a:r>
            <a:r>
              <a:rPr lang="en-SG" sz="1000" dirty="0"/>
              <a:t>}. A={Accelerate, Decelerate, </a:t>
            </a:r>
            <a:r>
              <a:rPr lang="en-SG" sz="1000" dirty="0" err="1"/>
              <a:t>TurnLeft</a:t>
            </a:r>
            <a:r>
              <a:rPr lang="en-SG" sz="1000" dirty="0"/>
              <a:t>, </a:t>
            </a:r>
            <a:r>
              <a:rPr lang="en-SG" sz="1000" dirty="0" err="1"/>
              <a:t>TurnRight</a:t>
            </a:r>
            <a:r>
              <a:rPr lang="en-SG" sz="1000" dirty="0"/>
              <a:t>, </a:t>
            </a:r>
            <a:r>
              <a:rPr lang="en-SG" sz="1000" dirty="0" err="1"/>
              <a:t>MaintainSpeed</a:t>
            </a:r>
            <a:r>
              <a:rPr lang="en-SG" sz="1000" dirty="0"/>
              <a:t>}. Once a </a:t>
            </a:r>
            <a:r>
              <a:rPr lang="en-SG" sz="1000" dirty="0" err="1"/>
              <a:t>maneuver</a:t>
            </a:r>
            <a:r>
              <a:rPr lang="en-SG" sz="1000" dirty="0"/>
              <a:t> is chosen, a lower-level PID controller generates the actual steering and throttle commands. </a:t>
            </a:r>
          </a:p>
          <a:p>
            <a:endParaRPr lang="en-SG"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0" i="0" u="none" strike="noStrike" kern="1200" dirty="0">
                <a:solidFill>
                  <a:schemeClr val="tx1"/>
                </a:solidFill>
                <a:effectLst/>
                <a:latin typeface="+mn-lt"/>
                <a:ea typeface="+mn-ea"/>
                <a:cs typeface="+mn-cs"/>
              </a:rPr>
              <a:t>----------------------------------------------------------------------------------------------------------------------------------------------------------</a:t>
            </a:r>
            <a:endParaRPr lang="en-SG" sz="10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1" dirty="0"/>
              <a:t>What is the rationale behind the authors using self attention and single step </a:t>
            </a:r>
            <a:r>
              <a:rPr lang="en-SG" sz="1000" b="1" dirty="0" err="1"/>
              <a:t>manuevers</a:t>
            </a:r>
            <a:r>
              <a:rPr lang="en-SG" sz="1000" b="1" dirty="0"/>
              <a:t> from the LLM action?</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The student network sees two inputs—its own state embedding and the teacher’s suggestion embedding. </a:t>
            </a:r>
          </a:p>
          <a:p>
            <a:r>
              <a:rPr lang="en-SG" sz="1000" b="0" i="0" u="none" strike="noStrike" kern="1200" dirty="0">
                <a:solidFill>
                  <a:schemeClr val="tx1"/>
                </a:solidFill>
                <a:effectLst/>
                <a:latin typeface="+mn-lt"/>
                <a:ea typeface="+mn-ea"/>
                <a:cs typeface="+mn-cs"/>
              </a:rPr>
              <a:t>A fixed linear merge (like simple concatenation + MLP) would force a one-size-fits-all blending. Self-attention lets the network </a:t>
            </a:r>
            <a:r>
              <a:rPr lang="en-SG" sz="1000" b="1" i="0" u="none" strike="noStrike" kern="1200" dirty="0">
                <a:solidFill>
                  <a:schemeClr val="tx1"/>
                </a:solidFill>
                <a:effectLst/>
                <a:latin typeface="+mn-lt"/>
                <a:ea typeface="+mn-ea"/>
                <a:cs typeface="+mn-cs"/>
              </a:rPr>
              <a:t>learn</a:t>
            </a:r>
          </a:p>
          <a:p>
            <a:r>
              <a:rPr lang="en-SG" sz="1000" b="0" i="0" u="none" strike="noStrike" kern="1200" dirty="0">
                <a:solidFill>
                  <a:schemeClr val="tx1"/>
                </a:solidFill>
                <a:effectLst/>
                <a:latin typeface="+mn-lt"/>
                <a:ea typeface="+mn-ea"/>
                <a:cs typeface="+mn-cs"/>
              </a:rPr>
              <a:t>when to lean heavily on the teacher and when to rely more on raw observations, on a case-by-case basis.</a:t>
            </a:r>
          </a:p>
          <a:p>
            <a:r>
              <a:rPr lang="en-SG" sz="1000" b="1" i="0" u="none" strike="noStrike" kern="1200" dirty="0">
                <a:solidFill>
                  <a:schemeClr val="tx1"/>
                </a:solidFill>
                <a:effectLst/>
                <a:latin typeface="+mn-lt"/>
                <a:ea typeface="+mn-ea"/>
                <a:cs typeface="+mn-cs"/>
              </a:rPr>
              <a:t>Multi-Head Insights:</a:t>
            </a:r>
            <a:r>
              <a:rPr lang="en-SG" sz="1000" b="0" i="0" u="none" strike="noStrike" kern="1200" dirty="0">
                <a:solidFill>
                  <a:schemeClr val="tx1"/>
                </a:solidFill>
                <a:effectLst/>
                <a:latin typeface="+mn-lt"/>
                <a:ea typeface="+mn-ea"/>
                <a:cs typeface="+mn-cs"/>
              </a:rPr>
              <a:t> With multiple attention heads, the model can attend to different “angles” of the teacher vs. state signals </a:t>
            </a:r>
          </a:p>
          <a:p>
            <a:endParaRPr lang="en-SG" sz="10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0" i="0" u="none" strike="noStrike" kern="1200" dirty="0">
                <a:solidFill>
                  <a:schemeClr val="tx1"/>
                </a:solidFill>
                <a:effectLst/>
                <a:latin typeface="+mn-lt"/>
                <a:ea typeface="+mn-ea"/>
                <a:cs typeface="+mn-cs"/>
              </a:rPr>
              <a:t>----------------------------------------------------------------------------------------------------------------------------------------------------------</a:t>
            </a:r>
            <a:endParaRPr lang="en-US" sz="1000" dirty="0"/>
          </a:p>
          <a:p>
            <a:r>
              <a:rPr lang="en-SG" sz="1000" b="1" i="0" u="none" strike="noStrike" kern="1200" dirty="0">
                <a:solidFill>
                  <a:schemeClr val="tx1"/>
                </a:solidFill>
                <a:effectLst/>
                <a:latin typeface="+mn-lt"/>
                <a:ea typeface="+mn-ea"/>
                <a:cs typeface="+mn-cs"/>
              </a:rPr>
              <a:t>What training scenario have researchers considered</a:t>
            </a:r>
          </a:p>
          <a:p>
            <a:r>
              <a:rPr lang="en-SG" sz="1000" b="1" i="0" u="none" strike="noStrike" kern="1200" dirty="0">
                <a:solidFill>
                  <a:schemeClr val="tx1"/>
                </a:solidFill>
                <a:effectLst/>
                <a:latin typeface="+mn-lt"/>
                <a:ea typeface="+mn-ea"/>
                <a:cs typeface="+mn-cs"/>
              </a:rPr>
              <a:t>Training (Simulation) Scenarios:</a:t>
            </a:r>
            <a:br>
              <a:rPr lang="en-SG" sz="1000" b="0" i="0" u="none" strike="noStrike" kern="1200" dirty="0">
                <a:solidFill>
                  <a:schemeClr val="tx1"/>
                </a:solidFill>
                <a:effectLst/>
                <a:latin typeface="+mn-lt"/>
                <a:ea typeface="+mn-ea"/>
                <a:cs typeface="+mn-cs"/>
              </a:rPr>
            </a:br>
            <a:r>
              <a:rPr lang="en-SG" sz="1000" b="0" i="0" u="none" strike="noStrike" kern="1200" dirty="0">
                <a:solidFill>
                  <a:schemeClr val="tx1"/>
                </a:solidFill>
                <a:effectLst/>
                <a:latin typeface="+mn-lt"/>
                <a:ea typeface="+mn-ea"/>
                <a:cs typeface="+mn-cs"/>
              </a:rPr>
              <a:t>Built on Highway-Env and OpenAI Gym, the authors designed three progressively challenging tasks:</a:t>
            </a:r>
          </a:p>
          <a:p>
            <a:r>
              <a:rPr lang="en-SG" sz="1000" b="1" i="0" u="none" strike="noStrike" kern="1200" dirty="0">
                <a:solidFill>
                  <a:schemeClr val="tx1"/>
                </a:solidFill>
                <a:effectLst/>
                <a:latin typeface="+mn-lt"/>
                <a:ea typeface="+mn-ea"/>
                <a:cs typeface="+mn-cs"/>
              </a:rPr>
              <a:t>Unsignalized Intersection:</a:t>
            </a:r>
            <a:r>
              <a:rPr lang="en-SG" sz="1000" b="0" i="0" u="none" strike="noStrike" kern="1200" dirty="0">
                <a:solidFill>
                  <a:schemeClr val="tx1"/>
                </a:solidFill>
                <a:effectLst/>
                <a:latin typeface="+mn-lt"/>
                <a:ea typeface="+mn-ea"/>
                <a:cs typeface="+mn-cs"/>
              </a:rPr>
              <a:t> Unprotected left-turn conflict resolution.</a:t>
            </a:r>
          </a:p>
          <a:p>
            <a:r>
              <a:rPr lang="en-SG" sz="1000" b="1" i="0" u="none" strike="noStrike" kern="1200" dirty="0">
                <a:solidFill>
                  <a:schemeClr val="tx1"/>
                </a:solidFill>
                <a:effectLst/>
                <a:latin typeface="+mn-lt"/>
                <a:ea typeface="+mn-ea"/>
                <a:cs typeface="+mn-cs"/>
              </a:rPr>
              <a:t>High-Speed Ramp Merging:</a:t>
            </a:r>
            <a:r>
              <a:rPr lang="en-SG" sz="1000" b="0" i="0" u="none" strike="noStrike" kern="1200" dirty="0">
                <a:solidFill>
                  <a:schemeClr val="tx1"/>
                </a:solidFill>
                <a:effectLst/>
                <a:latin typeface="+mn-lt"/>
                <a:ea typeface="+mn-ea"/>
                <a:cs typeface="+mn-cs"/>
              </a:rPr>
              <a:t> Speed matching and gap selection on an acceleration lane.</a:t>
            </a:r>
          </a:p>
          <a:p>
            <a:r>
              <a:rPr lang="en-SG" sz="1000" b="1" i="0" u="none" strike="noStrike" kern="1200" dirty="0">
                <a:solidFill>
                  <a:schemeClr val="tx1"/>
                </a:solidFill>
                <a:effectLst/>
                <a:latin typeface="+mn-lt"/>
                <a:ea typeface="+mn-ea"/>
                <a:cs typeface="+mn-cs"/>
              </a:rPr>
              <a:t>Four-Lane Adaptive Cruise:</a:t>
            </a:r>
            <a:r>
              <a:rPr lang="en-SG" sz="1000" b="0" i="0" u="none" strike="noStrike" kern="1200" dirty="0">
                <a:solidFill>
                  <a:schemeClr val="tx1"/>
                </a:solidFill>
                <a:effectLst/>
                <a:latin typeface="+mn-lt"/>
                <a:ea typeface="+mn-ea"/>
                <a:cs typeface="+mn-cs"/>
              </a:rPr>
              <a:t> Precise longitudinal control across four lanes, with varying driver profiles and 15 % speed disturbances.</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a:t>
            </a:r>
          </a:p>
          <a:p>
            <a:r>
              <a:rPr lang="en-SG" sz="1000" b="1" i="0" u="none" strike="noStrike" kern="1200" dirty="0">
                <a:solidFill>
                  <a:schemeClr val="tx1"/>
                </a:solidFill>
                <a:effectLst/>
                <a:latin typeface="+mn-lt"/>
                <a:ea typeface="+mn-ea"/>
                <a:cs typeface="+mn-cs"/>
              </a:rPr>
              <a:t>Key novelty:</a:t>
            </a:r>
          </a:p>
          <a:p>
            <a:r>
              <a:rPr lang="en-SG" sz="1000" b="0" i="0" u="none" strike="noStrike" kern="1200" dirty="0">
                <a:solidFill>
                  <a:schemeClr val="tx1"/>
                </a:solidFill>
                <a:effectLst/>
                <a:latin typeface="+mn-lt"/>
                <a:ea typeface="+mn-ea"/>
                <a:cs typeface="+mn-cs"/>
              </a:rPr>
              <a:t>What makes </a:t>
            </a:r>
            <a:r>
              <a:rPr lang="en-SG" sz="1000" b="0" i="0" u="none" strike="noStrike" kern="1200" dirty="0" err="1">
                <a:solidFill>
                  <a:schemeClr val="tx1"/>
                </a:solidFill>
                <a:effectLst/>
                <a:latin typeface="+mn-lt"/>
                <a:ea typeface="+mn-ea"/>
                <a:cs typeface="+mn-cs"/>
              </a:rPr>
              <a:t>TeLL</a:t>
            </a:r>
            <a:r>
              <a:rPr lang="en-SG" sz="1000" b="0" i="0" u="none" strike="noStrike" kern="1200" dirty="0">
                <a:solidFill>
                  <a:schemeClr val="tx1"/>
                </a:solidFill>
                <a:effectLst/>
                <a:latin typeface="+mn-lt"/>
                <a:ea typeface="+mn-ea"/>
                <a:cs typeface="+mn-cs"/>
              </a:rPr>
              <a:t>-Drive stand out is that it doesn’t just fine-tune an LLM or bolt on its advice afterward. Instead, it keeps a small “memory” of real driving experiences, pulls up the closest match to build a simple prompt, and asks the LLM for a one-step suggestion. That suggestion is woven into the student’s network via attention and the student is gently nudged to imitate it early on, then gradually left to learn on its own. On top of that, whenever the student makes a risky move, the system asks the LLM to </a:t>
            </a:r>
            <a:r>
              <a:rPr lang="en-SG" sz="1000" b="0" i="0" u="none" strike="noStrike" kern="1200" dirty="0" err="1">
                <a:solidFill>
                  <a:schemeClr val="tx1"/>
                </a:solidFill>
                <a:effectLst/>
                <a:latin typeface="+mn-lt"/>
                <a:ea typeface="+mn-ea"/>
                <a:cs typeface="+mn-cs"/>
              </a:rPr>
              <a:t>analyze</a:t>
            </a:r>
            <a:r>
              <a:rPr lang="en-SG" sz="1000" b="0" i="0" u="none" strike="noStrike" kern="1200" dirty="0">
                <a:solidFill>
                  <a:schemeClr val="tx1"/>
                </a:solidFill>
                <a:effectLst/>
                <a:latin typeface="+mn-lt"/>
                <a:ea typeface="+mn-ea"/>
                <a:cs typeface="+mn-cs"/>
              </a:rPr>
              <a:t> what went wrong and adds that correction back into memory—so the agent learns faster, stays safer, and ultimately runs in real time without needing the LLM at every step.</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a:t>
            </a:r>
          </a:p>
          <a:p>
            <a:endParaRPr lang="en-SG" sz="1000" b="0" i="0" u="none" strike="noStrike" kern="1200" dirty="0">
              <a:solidFill>
                <a:schemeClr val="tx1"/>
              </a:solidFill>
              <a:effectLst/>
              <a:latin typeface="+mn-lt"/>
              <a:ea typeface="+mn-ea"/>
              <a:cs typeface="+mn-cs"/>
            </a:endParaRPr>
          </a:p>
          <a:p>
            <a:r>
              <a:rPr lang="en-SG" sz="1000" b="1" i="0" u="none" strike="noStrike" kern="1200" dirty="0">
                <a:solidFill>
                  <a:schemeClr val="tx1"/>
                </a:solidFill>
                <a:effectLst/>
                <a:latin typeface="+mn-lt"/>
                <a:ea typeface="+mn-ea"/>
                <a:cs typeface="+mn-cs"/>
              </a:rPr>
              <a:t>Why not have the LLM spit out raw low-level commands?</a:t>
            </a:r>
            <a:endParaRPr lang="en-SG" sz="1000" b="0"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Unreliable timing</a:t>
            </a:r>
            <a:r>
              <a:rPr lang="en-SG" sz="1000" b="0" i="0" u="none" strike="noStrike" kern="1200" dirty="0">
                <a:solidFill>
                  <a:schemeClr val="tx1"/>
                </a:solidFill>
                <a:effectLst/>
                <a:latin typeface="+mn-lt"/>
                <a:ea typeface="+mn-ea"/>
                <a:cs typeface="+mn-cs"/>
              </a:rPr>
              <a:t>: LLMs run at hundreds of milliseconds per call. </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Jittery </a:t>
            </a:r>
            <a:r>
              <a:rPr lang="en-SG" sz="1000" b="1" i="0" u="none" strike="noStrike" kern="1200" dirty="0" err="1">
                <a:solidFill>
                  <a:schemeClr val="tx1"/>
                </a:solidFill>
                <a:effectLst/>
                <a:latin typeface="+mn-lt"/>
                <a:ea typeface="+mn-ea"/>
                <a:cs typeface="+mn-cs"/>
              </a:rPr>
              <a:t>behavior</a:t>
            </a:r>
            <a:r>
              <a:rPr lang="en-SG" sz="1000" b="0" i="0" u="none" strike="noStrike" kern="1200" dirty="0">
                <a:solidFill>
                  <a:schemeClr val="tx1"/>
                </a:solidFill>
                <a:effectLst/>
                <a:latin typeface="+mn-lt"/>
                <a:ea typeface="+mn-ea"/>
                <a:cs typeface="+mn-cs"/>
              </a:rPr>
              <a:t>: Text-trained models haven’t learned smooth physics-consistent control and your aircraft will wobble.</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Lack of fine-tuning</a:t>
            </a:r>
            <a:r>
              <a:rPr lang="en-SG" sz="1000" b="0" i="0" u="none" strike="noStrike" kern="1200" dirty="0">
                <a:solidFill>
                  <a:schemeClr val="tx1"/>
                </a:solidFill>
                <a:effectLst/>
                <a:latin typeface="+mn-lt"/>
                <a:ea typeface="+mn-ea"/>
                <a:cs typeface="+mn-cs"/>
              </a:rPr>
              <a:t>: Low-level flight control lives in a very narrow, safety-critical manifold. It’s hard to get the LLM to generate exactly the right </a:t>
            </a:r>
            <a:r>
              <a:rPr lang="en-SG" sz="1000" b="0" i="0" u="none" strike="noStrike" kern="1200" dirty="0" err="1">
                <a:solidFill>
                  <a:schemeClr val="tx1"/>
                </a:solidFill>
                <a:effectLst/>
                <a:latin typeface="+mn-lt"/>
                <a:ea typeface="+mn-ea"/>
                <a:cs typeface="+mn-cs"/>
              </a:rPr>
              <a:t>manoeuvers</a:t>
            </a:r>
            <a:r>
              <a:rPr lang="en-SG" sz="1000" b="0" i="0" u="none" strike="noStrike" kern="1200" dirty="0">
                <a:solidFill>
                  <a:schemeClr val="tx1"/>
                </a:solidFill>
                <a:effectLst/>
                <a:latin typeface="+mn-lt"/>
                <a:ea typeface="+mn-ea"/>
                <a:cs typeface="+mn-cs"/>
              </a:rPr>
              <a:t> </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Separation of concerns</a:t>
            </a:r>
            <a:r>
              <a:rPr lang="en-SG" sz="1000" b="0" i="0" u="none" strike="noStrike" kern="1200" dirty="0">
                <a:solidFill>
                  <a:schemeClr val="tx1"/>
                </a:solidFill>
                <a:effectLst/>
                <a:latin typeface="+mn-lt"/>
                <a:ea typeface="+mn-ea"/>
                <a:cs typeface="+mn-cs"/>
              </a:rPr>
              <a:t>: By having the LLM propose a high-level intent vector (via an MLP) and then fusing that with the current state in a small neural block (self-attention or similar), you let your PPO actor learn how </a:t>
            </a:r>
            <a:r>
              <a:rPr lang="en-SG" sz="1000" b="0" i="1" u="none" strike="noStrike" kern="1200" dirty="0">
                <a:solidFill>
                  <a:schemeClr val="tx1"/>
                </a:solidFill>
                <a:effectLst/>
                <a:latin typeface="+mn-lt"/>
                <a:ea typeface="+mn-ea"/>
                <a:cs typeface="+mn-cs"/>
              </a:rPr>
              <a:t>to</a:t>
            </a:r>
            <a:r>
              <a:rPr lang="en-SG" sz="1000" b="0" i="0" u="none" strike="noStrike" kern="1200" dirty="0">
                <a:solidFill>
                  <a:schemeClr val="tx1"/>
                </a:solidFill>
                <a:effectLst/>
                <a:latin typeface="+mn-lt"/>
                <a:ea typeface="+mn-ea"/>
                <a:cs typeface="+mn-cs"/>
              </a:rPr>
              <a:t> execute that intent robustly—decoupling</a:t>
            </a:r>
            <a:endParaRPr lang="en-SG" sz="1000" b="1"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FCE97AB-59EC-F947-9B92-7907293B735A}" type="slidenum">
              <a:rPr lang="en-US" smtClean="0"/>
              <a:t>7</a:t>
            </a:fld>
            <a:endParaRPr lang="en-US"/>
          </a:p>
        </p:txBody>
      </p:sp>
    </p:spTree>
    <p:extLst>
      <p:ext uri="{BB962C8B-B14F-4D97-AF65-F5344CB8AC3E}">
        <p14:creationId xmlns:p14="http://schemas.microsoft.com/office/powerpoint/2010/main" val="3966711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D532-707D-9AAA-4139-AF792E556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4A9E5-A930-E7B5-0784-C27C8B436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7C16B-3F4A-3AEF-0CD7-616AC87F2C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CFF099-C284-7CD9-5147-43FDAED06796}"/>
              </a:ext>
            </a:extLst>
          </p:cNvPr>
          <p:cNvSpPr>
            <a:spLocks noGrp="1"/>
          </p:cNvSpPr>
          <p:nvPr>
            <p:ph type="sldNum" sz="quarter" idx="5"/>
          </p:nvPr>
        </p:nvSpPr>
        <p:spPr/>
        <p:txBody>
          <a:bodyPr/>
          <a:lstStyle/>
          <a:p>
            <a:fld id="{5FCE97AB-59EC-F947-9B92-7907293B735A}" type="slidenum">
              <a:rPr lang="en-US" smtClean="0"/>
              <a:t>8</a:t>
            </a:fld>
            <a:endParaRPr lang="en-US"/>
          </a:p>
        </p:txBody>
      </p:sp>
    </p:spTree>
    <p:extLst>
      <p:ext uri="{BB962C8B-B14F-4D97-AF65-F5344CB8AC3E}">
        <p14:creationId xmlns:p14="http://schemas.microsoft.com/office/powerpoint/2010/main" val="176870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000" b="1" dirty="0"/>
              <a:t>Drawbacks of </a:t>
            </a:r>
            <a:r>
              <a:rPr lang="en-US" sz="1000" b="1" dirty="0" err="1"/>
              <a:t>TeLL</a:t>
            </a:r>
            <a:r>
              <a:rPr lang="en-US" sz="1000" b="1" dirty="0"/>
              <a:t>-Drive which we are overcoming:</a:t>
            </a:r>
          </a:p>
          <a:p>
            <a:pPr marL="628650" lvl="1" indent="-171450">
              <a:buFont typeface="Arial" panose="020B0604020202020204" pitchFamily="34" charset="0"/>
              <a:buChar char="•"/>
            </a:pPr>
            <a:r>
              <a:rPr lang="en-US" sz="1000" b="1" dirty="0"/>
              <a:t>Teacher-only early training</a:t>
            </a:r>
            <a:br>
              <a:rPr lang="en-US" sz="1000" b="1" dirty="0"/>
            </a:br>
            <a:r>
              <a:rPr lang="en-US" sz="1000" b="1" dirty="0"/>
              <a:t>It calls the LLM for the first 10 % of episodes then goes silent—so it can’t help on late-learning edge cases </a:t>
            </a:r>
            <a:r>
              <a:rPr lang="en-US" sz="1000" dirty="0"/>
              <a:t>or at inference time.</a:t>
            </a:r>
            <a:br>
              <a:rPr lang="en-US" sz="1000" dirty="0"/>
            </a:br>
            <a:r>
              <a:rPr lang="en-US" sz="1000" dirty="0"/>
              <a:t>We fix it by triggering LLM guidance on demand (via an adaptive risk gate) both during training and in live deployments.</a:t>
            </a:r>
          </a:p>
          <a:p>
            <a:pPr marL="628650" lvl="1" indent="-171450">
              <a:buFont typeface="Arial" panose="020B0604020202020204" pitchFamily="34" charset="0"/>
              <a:buChar char="•"/>
            </a:pPr>
            <a:r>
              <a:rPr lang="en-US" sz="1000" b="1" dirty="0"/>
              <a:t>Hard threshold </a:t>
            </a:r>
            <a:r>
              <a:rPr lang="el-GR" sz="1000" b="1" dirty="0"/>
              <a:t>β</a:t>
            </a:r>
            <a:br>
              <a:rPr lang="el-GR" sz="1000" b="1" dirty="0"/>
            </a:br>
            <a:r>
              <a:rPr lang="en-US" sz="1000" b="1" dirty="0"/>
              <a:t>It uses one fixed risk cutoff to decide when the LLM steps in, which either over-calls or under-calls </a:t>
            </a:r>
            <a:r>
              <a:rPr lang="en-US" sz="1000" dirty="0"/>
              <a:t>help as the policy changes.</a:t>
            </a:r>
            <a:br>
              <a:rPr lang="en-US" sz="1000" dirty="0"/>
            </a:br>
            <a:r>
              <a:rPr lang="en-US" sz="1000" dirty="0"/>
              <a:t>We fix it by making </a:t>
            </a:r>
            <a:r>
              <a:rPr lang="el-GR" sz="1000" dirty="0"/>
              <a:t>β </a:t>
            </a:r>
            <a:r>
              <a:rPr lang="en-US" sz="1000" dirty="0"/>
              <a:t>adaptive (running percentile or stakes-scaled), so we always intervene only on truly critical moments.</a:t>
            </a:r>
          </a:p>
          <a:p>
            <a:pPr marL="628650" lvl="1"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Single-phase, training-only plans</a:t>
            </a:r>
            <a:br>
              <a:rPr lang="en-SG" sz="1000" dirty="0"/>
            </a:br>
            <a:r>
              <a:rPr lang="en-SG" sz="1000" b="0" i="0" u="none" strike="noStrike" kern="1200" dirty="0">
                <a:solidFill>
                  <a:schemeClr val="tx1"/>
                </a:solidFill>
                <a:effectLst/>
                <a:latin typeface="+mn-lt"/>
                <a:ea typeface="+mn-ea"/>
                <a:cs typeface="+mn-cs"/>
              </a:rPr>
              <a:t>It merges LLM advice into training via attention but never asks for sustained, multi-step guidance that covers both conflict avoidance and merge-back.</a:t>
            </a:r>
            <a:br>
              <a:rPr lang="en-SG" sz="1000" dirty="0"/>
            </a:br>
            <a:r>
              <a:rPr lang="en-SG" sz="1000" b="1" i="0" u="none" strike="noStrike" kern="1200" dirty="0">
                <a:solidFill>
                  <a:schemeClr val="tx1"/>
                </a:solidFill>
                <a:effectLst/>
                <a:latin typeface="+mn-lt"/>
                <a:ea typeface="+mn-ea"/>
                <a:cs typeface="+mn-cs"/>
              </a:rPr>
              <a:t>We fix it</a:t>
            </a:r>
            <a:r>
              <a:rPr lang="en-SG" sz="1000" b="0" i="0" u="none" strike="noStrike" kern="1200" dirty="0">
                <a:solidFill>
                  <a:schemeClr val="tx1"/>
                </a:solidFill>
                <a:effectLst/>
                <a:latin typeface="+mn-lt"/>
                <a:ea typeface="+mn-ea"/>
                <a:cs typeface="+mn-cs"/>
              </a:rPr>
              <a:t> by getting a </a:t>
            </a:r>
            <a:r>
              <a:rPr lang="en-SG" sz="1000" b="1" i="0" u="none" strike="noStrike" kern="1200" dirty="0">
                <a:solidFill>
                  <a:schemeClr val="tx1"/>
                </a:solidFill>
                <a:effectLst/>
                <a:latin typeface="+mn-lt"/>
                <a:ea typeface="+mn-ea"/>
                <a:cs typeface="+mn-cs"/>
              </a:rPr>
              <a:t>two-phase plan</a:t>
            </a:r>
            <a:r>
              <a:rPr lang="en-SG" sz="1000" b="0" i="0" u="none" strike="noStrike" kern="1200" dirty="0">
                <a:solidFill>
                  <a:schemeClr val="tx1"/>
                </a:solidFill>
                <a:effectLst/>
                <a:latin typeface="+mn-lt"/>
                <a:ea typeface="+mn-ea"/>
                <a:cs typeface="+mn-cs"/>
              </a:rPr>
              <a:t> (conflict resolution + route return) and executing it end-to-end before handing back to PPO.</a:t>
            </a:r>
            <a:endParaRPr lang="en-US" sz="1000" dirty="0"/>
          </a:p>
          <a:p>
            <a:endParaRPr lang="en-US" sz="1000" dirty="0"/>
          </a:p>
          <a:p>
            <a:pPr marL="171450" indent="-171450">
              <a:buFont typeface="Arial" panose="020B0604020202020204" pitchFamily="34" charset="0"/>
              <a:buChar char="•"/>
            </a:pPr>
            <a:r>
              <a:rPr lang="en-SG" sz="1000" b="1" i="0" u="none" strike="noStrike" kern="1200" dirty="0" err="1">
                <a:solidFill>
                  <a:schemeClr val="tx1"/>
                </a:solidFill>
                <a:effectLst/>
                <a:latin typeface="+mn-lt"/>
                <a:ea typeface="+mn-ea"/>
                <a:cs typeface="+mn-cs"/>
              </a:rPr>
              <a:t>iLLM</a:t>
            </a:r>
            <a:r>
              <a:rPr lang="en-SG" sz="1000" b="1" i="0" u="none" strike="noStrike" kern="1200" dirty="0">
                <a:solidFill>
                  <a:schemeClr val="tx1"/>
                </a:solidFill>
                <a:effectLst/>
                <a:latin typeface="+mn-lt"/>
                <a:ea typeface="+mn-ea"/>
                <a:cs typeface="+mn-cs"/>
              </a:rPr>
              <a:t>-TSC’s main shortcomings</a:t>
            </a:r>
          </a:p>
          <a:p>
            <a:pPr marL="628650" lvl="1" indent="-171450">
              <a:buFont typeface="Arial" panose="020B0604020202020204" pitchFamily="34" charset="0"/>
              <a:buChar char="•"/>
            </a:pPr>
            <a:r>
              <a:rPr lang="en-US" sz="1000" b="1" dirty="0"/>
              <a:t>Inference-only intervention</a:t>
            </a:r>
            <a:br>
              <a:rPr lang="en-US" sz="1000" b="1" dirty="0"/>
            </a:br>
            <a:r>
              <a:rPr lang="en-US" sz="1000" dirty="0"/>
              <a:t>It doesn’t call the LLM during training, so the policy never learns from those overrides.</a:t>
            </a:r>
          </a:p>
          <a:p>
            <a:pPr marL="628650" lvl="1" indent="-171450">
              <a:buFont typeface="Arial" panose="020B0604020202020204" pitchFamily="34" charset="0"/>
              <a:buChar char="•"/>
            </a:pPr>
            <a:r>
              <a:rPr lang="en-US" sz="1000" b="1" dirty="0"/>
              <a:t>No memory distillation via vector database</a:t>
            </a:r>
            <a:br>
              <a:rPr lang="en-US" sz="1000" dirty="0"/>
            </a:br>
            <a:r>
              <a:rPr lang="en-US" sz="1000" dirty="0"/>
              <a:t>It retrieves examples but never distills successful plans into reusable “skills,” so it keeps re-calling the LLM for the same patterns.</a:t>
            </a:r>
            <a:br>
              <a:rPr lang="en-US" sz="1000" dirty="0"/>
            </a:br>
            <a:r>
              <a:rPr lang="en-US" sz="1000" dirty="0"/>
              <a:t>We fix it by caching and reusing distilled skills, drastically cutting down future LLM calls without losing performance.</a:t>
            </a:r>
          </a:p>
          <a:p>
            <a:pPr marL="171450" indent="-171450">
              <a:buFont typeface="Arial" panose="020B0604020202020204" pitchFamily="34" charset="0"/>
              <a:buChar char="•"/>
            </a:pPr>
            <a:endParaRPr lang="en-US" sz="1000" dirty="0"/>
          </a:p>
        </p:txBody>
      </p:sp>
      <p:sp>
        <p:nvSpPr>
          <p:cNvPr id="4" name="Slide Number Placeholder 3"/>
          <p:cNvSpPr>
            <a:spLocks noGrp="1"/>
          </p:cNvSpPr>
          <p:nvPr>
            <p:ph type="sldNum" sz="quarter" idx="5"/>
          </p:nvPr>
        </p:nvSpPr>
        <p:spPr/>
        <p:txBody>
          <a:bodyPr/>
          <a:lstStyle/>
          <a:p>
            <a:fld id="{7F51A7D7-8F41-8049-90E5-C84D065AEA28}" type="slidenum">
              <a:rPr lang="en-US" smtClean="0"/>
              <a:t>10</a:t>
            </a:fld>
            <a:endParaRPr lang="en-US"/>
          </a:p>
        </p:txBody>
      </p:sp>
    </p:spTree>
    <p:extLst>
      <p:ext uri="{BB962C8B-B14F-4D97-AF65-F5344CB8AC3E}">
        <p14:creationId xmlns:p14="http://schemas.microsoft.com/office/powerpoint/2010/main" val="2480260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the 2-step plan would work, compared to low-level action?</a:t>
            </a:r>
          </a:p>
          <a:p>
            <a:pPr marL="628650" lvl="1" indent="-171450">
              <a:buFont typeface="Arial" panose="020B0604020202020204" pitchFamily="34" charset="0"/>
              <a:buChar char="•"/>
            </a:pPr>
            <a:r>
              <a:rPr lang="en-SG" b="1" dirty="0"/>
              <a:t>Clear plan encoding</a:t>
            </a:r>
            <a:r>
              <a:rPr lang="en-SG" dirty="0"/>
              <a:t>: your MLP must turn “+30°” into a distinct vector the network can’t ignore.</a:t>
            </a:r>
          </a:p>
          <a:p>
            <a:pPr marL="628650" lvl="1"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Consistent repetition</a:t>
            </a:r>
            <a:r>
              <a:rPr lang="en-SG" sz="1200" b="0" i="0" u="none" strike="noStrike" kern="1200" dirty="0">
                <a:solidFill>
                  <a:schemeClr val="tx1"/>
                </a:solidFill>
                <a:effectLst/>
                <a:latin typeface="+mn-lt"/>
                <a:ea typeface="+mn-ea"/>
                <a:cs typeface="+mn-cs"/>
              </a:rPr>
              <a:t>: running the same plan-vector through the fusion and actor for all 10 steps keeps the network focused on the same goal, rather than flicking between many targets</a:t>
            </a: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By feeding the plan-vector into the policy at every step </a:t>
            </a:r>
            <a:r>
              <a:rPr lang="en-SG" sz="1200" b="1" i="0" u="none" strike="noStrike" kern="1200" dirty="0">
                <a:solidFill>
                  <a:schemeClr val="tx1"/>
                </a:solidFill>
                <a:effectLst/>
                <a:latin typeface="+mn-lt"/>
                <a:ea typeface="+mn-ea"/>
                <a:cs typeface="+mn-cs"/>
              </a:rPr>
              <a:t>and</a:t>
            </a:r>
            <a:r>
              <a:rPr lang="en-SG" sz="1200" b="0" i="0" u="none" strike="noStrike" kern="1200" dirty="0">
                <a:solidFill>
                  <a:schemeClr val="tx1"/>
                </a:solidFill>
                <a:effectLst/>
                <a:latin typeface="+mn-lt"/>
                <a:ea typeface="+mn-ea"/>
                <a:cs typeface="+mn-cs"/>
              </a:rPr>
              <a:t> softly penalizing action choices that don’t move you toward the plan’s heading, PPO gradually learns the exact low-level controls needed to fulfil any high-level instruction like “+30° for 10 steps.”</a:t>
            </a:r>
          </a:p>
          <a:p>
            <a:pPr marL="628650" lvl="1" indent="-171450">
              <a:buFont typeface="Arial" panose="020B0604020202020204" pitchFamily="34" charset="0"/>
              <a:buChar char="•"/>
            </a:pPr>
            <a:endParaRPr lang="en-SG"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51A7D7-8F41-8049-90E5-C84D065AEA28}" type="slidenum">
              <a:rPr lang="en-US" smtClean="0"/>
              <a:t>11</a:t>
            </a:fld>
            <a:endParaRPr lang="en-US"/>
          </a:p>
        </p:txBody>
      </p:sp>
    </p:spTree>
    <p:extLst>
      <p:ext uri="{BB962C8B-B14F-4D97-AF65-F5344CB8AC3E}">
        <p14:creationId xmlns:p14="http://schemas.microsoft.com/office/powerpoint/2010/main" val="119168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CB01-88CA-8771-443C-3A6C05DFE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B6A99-07DB-9D7D-9953-0AEEEA24EFF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3409035-F3E0-44A8-5C81-5820BB1D2659}"/>
                  </a:ext>
                </a:extLst>
              </p:cNvPr>
              <p:cNvSpPr>
                <a:spLocks noGrp="1"/>
              </p:cNvSpPr>
              <p:nvPr>
                <p:ph type="body" idx="1"/>
              </p:nvPr>
            </p:nvSpPr>
            <p:spPr/>
            <p:txBody>
              <a:bodyPr/>
              <a:lstStyle/>
              <a:p>
                <a:r>
                  <a:rPr lang="en-SG" sz="1200" b="1" kern="1200" dirty="0">
                    <a:solidFill>
                      <a:schemeClr val="tx1"/>
                    </a:solidFill>
                    <a:effectLst/>
                    <a:latin typeface="+mn-lt"/>
                    <a:ea typeface="+mn-ea"/>
                    <a:cs typeface="+mn-cs"/>
                  </a:rPr>
                  <a:t>1. How are we calculating risk scores and the presence of long tail events?</a:t>
                </a:r>
                <a:endParaRPr lang="en-SG"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Ω=</a:t>
                </a:r>
                <a:r>
                  <a:rPr lang="en-SG" sz="1200" kern="1200" dirty="0">
                    <a:solidFill>
                      <a:schemeClr val="tx1"/>
                    </a:solidFill>
                    <a:effectLst/>
                    <a:latin typeface="+mn-lt"/>
                    <a:ea typeface="+mn-ea"/>
                    <a:cs typeface="+mn-cs"/>
                  </a:rPr>
                  <a:t>w1 × </a:t>
                </a:r>
                <a14:m>
                  <m:oMath xmlns:m="http://schemas.openxmlformats.org/officeDocument/2006/math">
                    <m:f>
                      <m:fPr>
                        <m:ctrlPr>
                          <a:rPr lang="en-SG" sz="1200" i="1" kern="1200" smtClean="0">
                            <a:solidFill>
                              <a:schemeClr val="tx1"/>
                            </a:solidFill>
                            <a:effectLst/>
                            <a:latin typeface="Cambria Math" panose="02040503050406030204" pitchFamily="18" charset="0"/>
                            <a:ea typeface="+mn-ea"/>
                            <a:cs typeface="+mn-cs"/>
                          </a:rPr>
                        </m:ctrlPr>
                      </m:fPr>
                      <m:num>
                        <m:r>
                          <m:rPr>
                            <m:nor/>
                          </m:rPr>
                          <a:rPr lang="en-SG" sz="1200" kern="1200" dirty="0" smtClean="0">
                            <a:solidFill>
                              <a:schemeClr val="tx1"/>
                            </a:solidFill>
                            <a:effectLst/>
                            <a:latin typeface="+mn-lt"/>
                            <a:ea typeface="+mn-ea"/>
                            <a:cs typeface="+mn-cs"/>
                          </a:rPr>
                          <m:t>1</m:t>
                        </m:r>
                      </m:num>
                      <m:den>
                        <m:r>
                          <m:rPr>
                            <m:nor/>
                          </m:rPr>
                          <a:rPr lang="en-SG" sz="1200" kern="1200" dirty="0" smtClean="0">
                            <a:solidFill>
                              <a:schemeClr val="tx1"/>
                            </a:solidFill>
                            <a:effectLst/>
                            <a:latin typeface="+mn-lt"/>
                            <a:ea typeface="+mn-ea"/>
                            <a:cs typeface="+mn-cs"/>
                          </a:rPr>
                          <m:t>separation</m:t>
                        </m:r>
                      </m:den>
                    </m:f>
                  </m:oMath>
                </a14:m>
                <a:r>
                  <a:rPr lang="en-SG" sz="1200" kern="1200" dirty="0">
                    <a:solidFill>
                      <a:schemeClr val="tx1"/>
                    </a:solidFill>
                    <a:effectLst/>
                    <a:latin typeface="+mn-lt"/>
                    <a:ea typeface="+mn-ea"/>
                    <a:cs typeface="+mn-cs"/>
                  </a:rPr>
                  <a:t> + w2 × </a:t>
                </a:r>
                <a14:m>
                  <m:oMath xmlns:m="http://schemas.openxmlformats.org/officeDocument/2006/math">
                    <m:f>
                      <m:fPr>
                        <m:ctrlPr>
                          <a:rPr lang="en-SG" sz="1200" i="1" kern="1200" smtClean="0">
                            <a:solidFill>
                              <a:schemeClr val="tx1"/>
                            </a:solidFill>
                            <a:effectLst/>
                            <a:latin typeface="Cambria Math" panose="02040503050406030204" pitchFamily="18" charset="0"/>
                            <a:ea typeface="+mn-ea"/>
                            <a:cs typeface="+mn-cs"/>
                          </a:rPr>
                        </m:ctrlPr>
                      </m:fPr>
                      <m:num>
                        <m:r>
                          <a:rPr lang="en-SG" sz="1200" i="1" kern="1200" smtClean="0">
                            <a:solidFill>
                              <a:schemeClr val="tx1"/>
                            </a:solidFill>
                            <a:effectLst/>
                            <a:latin typeface="Cambria Math" panose="02040503050406030204" pitchFamily="18" charset="0"/>
                            <a:ea typeface="+mn-ea"/>
                            <a:cs typeface="+mn-cs"/>
                          </a:rPr>
                          <m:t>1</m:t>
                        </m:r>
                      </m:num>
                      <m:den>
                        <m:r>
                          <m:rPr>
                            <m:nor/>
                          </m:rPr>
                          <a:rPr lang="en-SG" sz="1200" kern="1200" dirty="0" smtClean="0">
                            <a:solidFill>
                              <a:schemeClr val="tx1"/>
                            </a:solidFill>
                            <a:effectLst/>
                            <a:latin typeface="+mn-lt"/>
                            <a:ea typeface="+mn-ea"/>
                            <a:cs typeface="+mn-cs"/>
                          </a:rPr>
                          <m:t>TTC</m:t>
                        </m:r>
                      </m:den>
                    </m:f>
                  </m:oMath>
                </a14:m>
                <a:r>
                  <a:rPr lang="en-SG" sz="1200" kern="1200" dirty="0">
                    <a:solidFill>
                      <a:schemeClr val="tx1"/>
                    </a:solidFill>
                    <a:effectLst/>
                    <a:latin typeface="+mn-lt"/>
                    <a:ea typeface="+mn-ea"/>
                    <a:cs typeface="+mn-cs"/>
                  </a:rPr>
                  <a:t> + w3×storm_flag + w4×emergency_flag + w5 ×</a:t>
                </a:r>
                <a:r>
                  <a:rPr lang="en-SG" sz="1200" kern="1200" dirty="0" err="1">
                    <a:solidFill>
                      <a:schemeClr val="tx1"/>
                    </a:solidFill>
                    <a:effectLst/>
                    <a:latin typeface="+mn-lt"/>
                    <a:ea typeface="+mn-ea"/>
                    <a:cs typeface="+mn-cs"/>
                  </a:rPr>
                  <a:t>comms_flag</a:t>
                </a:r>
                <a:r>
                  <a:rPr lang="en-SG" sz="1200" kern="1200" dirty="0">
                    <a:solidFill>
                      <a:schemeClr val="tx1"/>
                    </a:solidFill>
                    <a:effectLst/>
                    <a:latin typeface="+mn-lt"/>
                    <a:ea typeface="+mn-ea"/>
                    <a:cs typeface="+mn-cs"/>
                  </a:rPr>
                  <a:t> + w6 ×</a:t>
                </a:r>
                <a:r>
                  <a:rPr lang="en-SG" sz="1200" kern="1200" dirty="0" err="1">
                    <a:solidFill>
                      <a:schemeClr val="tx1"/>
                    </a:solidFill>
                    <a:effectLst/>
                    <a:latin typeface="+mn-lt"/>
                    <a:ea typeface="+mn-ea"/>
                    <a:cs typeface="+mn-cs"/>
                  </a:rPr>
                  <a:t>no_go_flag</a:t>
                </a:r>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 fixed threshold (say “risk &gt; 5”) might be too blunt:</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Early in training, most situations are risky → you’d call the LLM constantly.</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Later, the student gets better → almost no situation exceeds that same “5” → you’d never use the LLM again.</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An adaptive threshold evolves as the agent learns:</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Collect recent risk scores (</a:t>
                </a:r>
                <a:r>
                  <a:rPr lang="el-GR" sz="1200" kern="1200" dirty="0">
                    <a:solidFill>
                      <a:schemeClr val="tx1"/>
                    </a:solidFill>
                    <a:effectLst/>
                    <a:latin typeface="+mn-lt"/>
                    <a:ea typeface="+mn-ea"/>
                    <a:cs typeface="+mn-cs"/>
                  </a:rPr>
                  <a:t>Ω </a:t>
                </a:r>
                <a:r>
                  <a:rPr lang="en-SG" sz="1200" kern="1200" dirty="0">
                    <a:solidFill>
                      <a:schemeClr val="tx1"/>
                    </a:solidFill>
                    <a:effectLst/>
                    <a:latin typeface="+mn-lt"/>
                    <a:ea typeface="+mn-ea"/>
                    <a:cs typeface="+mn-cs"/>
                  </a:rPr>
                  <a:t>values) in a sliding window.</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Recompute </a:t>
                </a:r>
                <a:r>
                  <a:rPr lang="el-GR" sz="1200" kern="1200" dirty="0">
                    <a:solidFill>
                      <a:schemeClr val="tx1"/>
                    </a:solidFill>
                    <a:effectLst/>
                    <a:latin typeface="+mn-lt"/>
                    <a:ea typeface="+mn-ea"/>
                    <a:cs typeface="+mn-cs"/>
                  </a:rPr>
                  <a:t>β </a:t>
                </a:r>
                <a:r>
                  <a:rPr lang="en-SG" sz="1200" kern="1200" dirty="0">
                    <a:solidFill>
                      <a:schemeClr val="tx1"/>
                    </a:solidFill>
                    <a:effectLst/>
                    <a:latin typeface="+mn-lt"/>
                    <a:ea typeface="+mn-ea"/>
                    <a:cs typeface="+mn-cs"/>
                  </a:rPr>
                  <a:t>as, for example, the 90th percentile of that window.</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That means “only the worst 10% of cases” trigger help.</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Optionally adjust for special flights (scale </a:t>
                </a:r>
                <a:r>
                  <a:rPr lang="el-GR" sz="1200" kern="1200" dirty="0">
                    <a:solidFill>
                      <a:schemeClr val="tx1"/>
                    </a:solidFill>
                    <a:effectLst/>
                    <a:latin typeface="+mn-lt"/>
                    <a:ea typeface="+mn-ea"/>
                    <a:cs typeface="+mn-cs"/>
                  </a:rPr>
                  <a:t>β </a:t>
                </a:r>
                <a:r>
                  <a:rPr lang="en-SG" sz="1200" kern="1200" dirty="0">
                    <a:solidFill>
                      <a:schemeClr val="tx1"/>
                    </a:solidFill>
                    <a:effectLst/>
                    <a:latin typeface="+mn-lt"/>
                    <a:ea typeface="+mn-ea"/>
                    <a:cs typeface="+mn-cs"/>
                  </a:rPr>
                  <a:t>down when it’s an emergency so you ask help sooner).</a:t>
                </a:r>
                <a:endParaRPr lang="en-SG" sz="1200" b="1" i="0" u="none" strike="noStrike"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kern="1200" dirty="0">
                    <a:solidFill>
                      <a:schemeClr val="tx1"/>
                    </a:solidFill>
                    <a:effectLst/>
                    <a:latin typeface="+mn-lt"/>
                    <a:ea typeface="+mn-ea"/>
                    <a:cs typeface="+mn-cs"/>
                  </a:rPr>
                  <a:t>2. Why do we seek high level action actions and not execute low level actions from the LLMs?</a:t>
                </a:r>
              </a:p>
              <a:p>
                <a:r>
                  <a:rPr lang="en-SG" sz="1200" b="1" i="0" u="none" strike="noStrike" kern="1200" dirty="0">
                    <a:solidFill>
                      <a:schemeClr val="tx1"/>
                    </a:solidFill>
                    <a:effectLst/>
                    <a:latin typeface="+mn-lt"/>
                    <a:ea typeface="+mn-ea"/>
                    <a:cs typeface="+mn-cs"/>
                  </a:rPr>
                  <a:t>Direct Low-Level LLM Actions</a:t>
                </a:r>
                <a:endParaRPr lang="en-SG" sz="1200" b="0"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No learning signal</a:t>
                </a:r>
                <a:r>
                  <a:rPr lang="en-SG" sz="1200" b="0" i="0" u="none" strike="noStrike" kern="1200" dirty="0">
                    <a:solidFill>
                      <a:schemeClr val="tx1"/>
                    </a:solidFill>
                    <a:effectLst/>
                    <a:latin typeface="+mn-lt"/>
                    <a:ea typeface="+mn-ea"/>
                    <a:cs typeface="+mn-cs"/>
                  </a:rPr>
                  <a:t>: Actions spit out by the LLM aren’t part of the policy’s parameterized distribution, so PPO can’t compute gradients to reproduce them—no way for the student to “learn” from those moves.</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Jitter &amp; Inconsistency</a:t>
                </a:r>
                <a:r>
                  <a:rPr lang="en-SG" sz="1200" b="0" i="0" u="none" strike="noStrike" kern="1200" dirty="0">
                    <a:solidFill>
                      <a:schemeClr val="tx1"/>
                    </a:solidFill>
                    <a:effectLst/>
                    <a:latin typeface="+mn-lt"/>
                    <a:ea typeface="+mn-ea"/>
                    <a:cs typeface="+mn-cs"/>
                  </a:rPr>
                  <a:t>: LLM outputs vary each call leading to unstable controls and making it hard for a high-frequency controller to track.</a:t>
                </a:r>
              </a:p>
              <a:p>
                <a:pPr marL="171450"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Embedding → Self-Attention → PPO Sampling. Letting PPO sample from its own distribution—KL-distillation anchors those samples to the plan, providing a direct gradient signal.</a:t>
                </a:r>
                <a:endParaRPr lang="en-SG" sz="1200" b="1" i="0" u="none" strike="noStrike"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br>
                  <a:rPr lang="en-SG" sz="1200" kern="1200" dirty="0">
                    <a:solidFill>
                      <a:schemeClr val="tx1"/>
                    </a:solidFill>
                    <a:effectLst/>
                    <a:latin typeface="+mn-lt"/>
                    <a:ea typeface="+mn-ea"/>
                    <a:cs typeface="+mn-cs"/>
                  </a:rPr>
                </a:br>
                <a:endParaRPr lang="en-SG" sz="1200" kern="1200" dirty="0">
                  <a:solidFill>
                    <a:schemeClr val="tx1"/>
                  </a:solidFill>
                  <a:effectLst/>
                  <a:latin typeface="+mn-lt"/>
                  <a:ea typeface="+mn-ea"/>
                  <a:cs typeface="+mn-cs"/>
                </a:endParaRPr>
              </a:p>
              <a:p>
                <a:r>
                  <a:rPr lang="en-SG" sz="1200" b="1" kern="1200" dirty="0">
                    <a:solidFill>
                      <a:schemeClr val="tx1"/>
                    </a:solidFill>
                    <a:effectLst/>
                    <a:latin typeface="+mn-lt"/>
                    <a:ea typeface="+mn-ea"/>
                    <a:cs typeface="+mn-cs"/>
                  </a:rPr>
                  <a:t>3. Why don't we have single step manoeuvres recommended by the LLM?</a:t>
                </a:r>
              </a:p>
              <a:p>
                <a:r>
                  <a:rPr lang="en-SG" sz="1200" kern="1200" dirty="0">
                    <a:solidFill>
                      <a:schemeClr val="tx1"/>
                    </a:solidFill>
                    <a:effectLst/>
                    <a:latin typeface="+mn-lt"/>
                    <a:ea typeface="+mn-ea"/>
                    <a:cs typeface="+mn-cs"/>
                  </a:rPr>
                  <a:t>When the LLM hands you a goal (“Hold +30° for next 10 steps”), we can see how well that goal worked over several steps and teach the agent accordingly. If it just gives single actions, it’s hard to know which ones actually solved the problem.</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4. </a:t>
                </a:r>
                <a:r>
                  <a:rPr lang="en-SG" sz="1200" b="1" kern="1200" dirty="0">
                    <a:solidFill>
                      <a:schemeClr val="tx1"/>
                    </a:solidFill>
                    <a:effectLst/>
                    <a:latin typeface="+mn-lt"/>
                    <a:ea typeface="+mn-ea"/>
                    <a:cs typeface="+mn-cs"/>
                  </a:rPr>
                  <a:t>Why just one attention block per step?</a:t>
                </a:r>
              </a:p>
              <a:p>
                <a:r>
                  <a:rPr lang="en-SG" sz="1200" kern="1200" dirty="0">
                    <a:solidFill>
                      <a:schemeClr val="tx1"/>
                    </a:solidFill>
                    <a:effectLst/>
                    <a:latin typeface="+mn-lt"/>
                    <a:ea typeface="+mn-ea"/>
                    <a:cs typeface="+mn-cs"/>
                  </a:rPr>
                  <a:t>A single attention module is enough to let the model focus on whichever parts of the LLM plan or the current state matter most when choosing an action. </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5. </a:t>
                </a:r>
                <a:r>
                  <a:rPr lang="en-SG" sz="1200" b="1" kern="1200" dirty="0">
                    <a:solidFill>
                      <a:schemeClr val="tx1"/>
                    </a:solidFill>
                    <a:effectLst/>
                    <a:latin typeface="+mn-lt"/>
                    <a:ea typeface="+mn-ea"/>
                    <a:cs typeface="+mn-cs"/>
                  </a:rPr>
                  <a:t>Why hold the same plan embedding for N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0" kern="1200" dirty="0">
                    <a:solidFill>
                      <a:schemeClr val="tx1"/>
                    </a:solidFill>
                    <a:effectLst/>
                    <a:latin typeface="+mn-lt"/>
                    <a:ea typeface="+mn-ea"/>
                    <a:cs typeface="+mn-cs"/>
                  </a:rPr>
                  <a:t>We want LLM plan to stay in effect for the full horizon, not vanish after one step. Keeping the plan vector constant makes sure each action is guided by the same instruction.</a:t>
                </a:r>
                <a:r>
                  <a:rPr lang="en-SG" sz="1200" kern="1200" dirty="0">
                    <a:solidFill>
                      <a:schemeClr val="tx1"/>
                    </a:solidFill>
                    <a:effectLst/>
                    <a:latin typeface="+mn-lt"/>
                    <a:ea typeface="+mn-ea"/>
                    <a:cs typeface="+mn-cs"/>
                  </a:rPr>
                  <a:t> If we refreshed or changed the embedding every step, we'd either need to re-call the LLM or risk drifting intent. </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6. </a:t>
                </a:r>
                <a:r>
                  <a:rPr lang="en-SG" sz="1200" b="1" kern="1200" dirty="0">
                    <a:solidFill>
                      <a:schemeClr val="tx1"/>
                    </a:solidFill>
                    <a:effectLst/>
                    <a:latin typeface="+mn-lt"/>
                    <a:ea typeface="+mn-ea"/>
                    <a:cs typeface="+mn-cs"/>
                  </a:rPr>
                  <a:t>How do we encode phase -1 and phase-2 separately such that the learning signal doesn't get intermixed?</a:t>
                </a:r>
              </a:p>
              <a:p>
                <a:r>
                  <a:rPr lang="en-SG" sz="1200" kern="1200" dirty="0">
                    <a:solidFill>
                      <a:schemeClr val="tx1"/>
                    </a:solidFill>
                    <a:effectLst/>
                    <a:latin typeface="+mn-lt"/>
                    <a:ea typeface="+mn-ea"/>
                    <a:cs typeface="+mn-cs"/>
                  </a:rPr>
                  <a:t>We get clean hand-off: when phase 1 ends, we simply swap to the new embedding for phase 2.</a:t>
                </a:r>
              </a:p>
              <a:p>
                <a:r>
                  <a:rPr lang="en-SG" sz="1200" kern="1200" dirty="0">
                    <a:solidFill>
                      <a:schemeClr val="tx1"/>
                    </a:solidFill>
                    <a:effectLst/>
                    <a:latin typeface="+mn-lt"/>
                    <a:ea typeface="+mn-ea"/>
                    <a:cs typeface="+mn-cs"/>
                  </a:rPr>
                  <a:t>Self-attention still only ever sees one plan-vector at a time, so it’s always a single attention fusion per step.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i="0" u="none" strike="noStrike" kern="1200" dirty="0">
                    <a:solidFill>
                      <a:schemeClr val="tx1"/>
                    </a:solidFill>
                    <a:effectLst/>
                    <a:latin typeface="+mn-lt"/>
                    <a:ea typeface="+mn-ea"/>
                    <a:cs typeface="+mn-cs"/>
                  </a:rPr>
                  <a:t>---------------------------------------------------------------------------------------------------------------------</a:t>
                </a:r>
                <a:endParaRPr lang="en-SG" sz="1200"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7. </a:t>
                </a:r>
                <a:r>
                  <a:rPr lang="en-SG" sz="1200" b="0" i="0" u="none" strike="noStrike" kern="1200" dirty="0">
                    <a:solidFill>
                      <a:schemeClr val="tx1"/>
                    </a:solidFill>
                    <a:effectLst/>
                    <a:latin typeface="+mn-lt"/>
                    <a:ea typeface="+mn-ea"/>
                    <a:cs typeface="+mn-cs"/>
                  </a:rPr>
                  <a:t> </a:t>
                </a:r>
                <a:r>
                  <a:rPr lang="en-SG" sz="1200" b="1" i="0" u="none" strike="noStrike" kern="1200" dirty="0">
                    <a:solidFill>
                      <a:schemeClr val="tx1"/>
                    </a:solidFill>
                    <a:effectLst/>
                    <a:latin typeface="+mn-lt"/>
                    <a:ea typeface="+mn-ea"/>
                    <a:cs typeface="+mn-cs"/>
                  </a:rPr>
                  <a:t>How to use embeddings over N steps</a:t>
                </a:r>
              </a:p>
              <a:p>
                <a:r>
                  <a:rPr lang="en-SG" sz="1200" b="1" i="0" u="none" strike="noStrike" kern="1200" dirty="0">
                    <a:solidFill>
                      <a:schemeClr val="tx1"/>
                    </a:solidFill>
                    <a:effectLst/>
                    <a:latin typeface="+mn-lt"/>
                    <a:ea typeface="+mn-ea"/>
                    <a:cs typeface="+mn-cs"/>
                  </a:rPr>
                  <a:t>Get both plans at once</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LLM returns something like:</a:t>
                </a:r>
              </a:p>
              <a:p>
                <a:r>
                  <a:rPr lang="en-SG" sz="1200" b="0" i="0" u="none" strike="noStrike" kern="1200" dirty="0">
                    <a:solidFill>
                      <a:schemeClr val="tx1"/>
                    </a:solidFill>
                    <a:effectLst/>
                    <a:latin typeface="+mn-lt"/>
                    <a:ea typeface="+mn-ea"/>
                    <a:cs typeface="+mn-cs"/>
                  </a:rPr>
                  <a:t>{ "phase1": { "action":"+30°", "horizon":8, "stop":"sep≥5NM" }, "phase2": { "action":"–20°", "horizon":6, "stop":"XTD≤1NM" } } </a:t>
                </a:r>
              </a:p>
              <a:p>
                <a:r>
                  <a:rPr lang="en-SG" sz="1200" b="1" i="0" u="none" strike="noStrike" kern="1200" dirty="0">
                    <a:solidFill>
                      <a:schemeClr val="tx1"/>
                    </a:solidFill>
                    <a:effectLst/>
                    <a:latin typeface="+mn-lt"/>
                    <a:ea typeface="+mn-ea"/>
                    <a:cs typeface="+mn-cs"/>
                  </a:rPr>
                  <a:t>Encode separately</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Run phase1 text through your plan-MLP → plan-vector₁.</a:t>
                </a:r>
              </a:p>
              <a:p>
                <a:pPr lvl="1"/>
                <a:r>
                  <a:rPr lang="en-SG" sz="1200" b="0" i="0" u="none" strike="noStrike" kern="1200" dirty="0">
                    <a:solidFill>
                      <a:schemeClr val="tx1"/>
                    </a:solidFill>
                    <a:effectLst/>
                    <a:latin typeface="+mn-lt"/>
                    <a:ea typeface="+mn-ea"/>
                    <a:cs typeface="+mn-cs"/>
                  </a:rPr>
                  <a:t>Run phase2 text through the same plan-MLP → plan-vector₂.</a:t>
                </a:r>
              </a:p>
              <a:p>
                <a:r>
                  <a:rPr lang="en-SG" sz="1200" b="1" i="0" u="none" strike="noStrike" kern="1200" dirty="0">
                    <a:solidFill>
                      <a:schemeClr val="tx1"/>
                    </a:solidFill>
                    <a:effectLst/>
                    <a:latin typeface="+mn-lt"/>
                    <a:ea typeface="+mn-ea"/>
                    <a:cs typeface="+mn-cs"/>
                  </a:rPr>
                  <a:t>At each real step</a:t>
                </a:r>
                <a:endParaRPr lang="en-SG" sz="1200" b="0" i="0" u="none" strike="noStrike" kern="1200" dirty="0">
                  <a:solidFill>
                    <a:schemeClr val="tx1"/>
                  </a:solidFill>
                  <a:effectLst/>
                  <a:latin typeface="+mn-lt"/>
                  <a:ea typeface="+mn-ea"/>
                  <a:cs typeface="+mn-cs"/>
                </a:endParaRPr>
              </a:p>
              <a:p>
                <a:pPr lvl="1"/>
                <a:r>
                  <a:rPr lang="en-SG" sz="1200" b="1" i="0" u="none" strike="noStrike" kern="1200" dirty="0">
                    <a:solidFill>
                      <a:schemeClr val="tx1"/>
                    </a:solidFill>
                    <a:effectLst/>
                    <a:latin typeface="+mn-lt"/>
                    <a:ea typeface="+mn-ea"/>
                    <a:cs typeface="+mn-cs"/>
                  </a:rPr>
                  <a:t>If still in phase 1</a:t>
                </a:r>
                <a:r>
                  <a:rPr lang="en-SG" sz="1200" b="0" i="0" u="none" strike="noStrike" kern="1200" dirty="0">
                    <a:solidFill>
                      <a:schemeClr val="tx1"/>
                    </a:solidFill>
                    <a:effectLst/>
                    <a:latin typeface="+mn-lt"/>
                    <a:ea typeface="+mn-ea"/>
                    <a:cs typeface="+mn-cs"/>
                  </a:rPr>
                  <a:t> (haven’t met its stop condition and haven’t hit 8 steps):</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 Fuse state-vector + plan-vector₁ via self-attention (with 2–3 loops) → decide action.</a:t>
                </a:r>
              </a:p>
              <a:p>
                <a:pPr lvl="1"/>
                <a:r>
                  <a:rPr lang="en-SG" sz="1200" b="1" i="0" u="none" strike="noStrike" kern="1200" dirty="0">
                    <a:solidFill>
                      <a:schemeClr val="tx1"/>
                    </a:solidFill>
                    <a:effectLst/>
                    <a:latin typeface="+mn-lt"/>
                    <a:ea typeface="+mn-ea"/>
                    <a:cs typeface="+mn-cs"/>
                  </a:rPr>
                  <a:t>Otherwise</a:t>
                </a:r>
                <a:r>
                  <a:rPr lang="en-SG" sz="1200" b="0" i="0" u="none" strike="noStrike" kern="1200" dirty="0">
                    <a:solidFill>
                      <a:schemeClr val="tx1"/>
                    </a:solidFill>
                    <a:effectLst/>
                    <a:latin typeface="+mn-lt"/>
                    <a:ea typeface="+mn-ea"/>
                    <a:cs typeface="+mn-cs"/>
                  </a:rPr>
                  <a:t>, switch to </a:t>
                </a:r>
                <a:r>
                  <a:rPr lang="en-SG" sz="1200" b="1" i="0" u="none" strike="noStrike" kern="1200" dirty="0">
                    <a:solidFill>
                      <a:schemeClr val="tx1"/>
                    </a:solidFill>
                    <a:effectLst/>
                    <a:latin typeface="+mn-lt"/>
                    <a:ea typeface="+mn-ea"/>
                    <a:cs typeface="+mn-cs"/>
                  </a:rPr>
                  <a:t>phase 2</a:t>
                </a:r>
                <a:r>
                  <a:rPr lang="en-SG" sz="1200" b="0" i="0" u="none" strike="noStrike" kern="1200" dirty="0">
                    <a:solidFill>
                      <a:schemeClr val="tx1"/>
                    </a:solidFill>
                    <a:effectLst/>
                    <a:latin typeface="+mn-lt"/>
                    <a:ea typeface="+mn-ea"/>
                    <a:cs typeface="+mn-cs"/>
                  </a:rPr>
                  <a:t>:</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 Fuse state-vector + plan-vector₂ → action, until phase 2’s stop or 6 steps lapse.</a:t>
                </a:r>
              </a:p>
              <a:p>
                <a:r>
                  <a:rPr lang="en-SG" sz="1200" b="1" i="0" u="none" strike="noStrike" kern="1200" dirty="0">
                    <a:solidFill>
                      <a:schemeClr val="tx1"/>
                    </a:solidFill>
                    <a:effectLst/>
                    <a:latin typeface="+mn-lt"/>
                    <a:ea typeface="+mn-ea"/>
                    <a:cs typeface="+mn-cs"/>
                  </a:rPr>
                  <a:t>Why this works</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You maintain </a:t>
                </a:r>
                <a:r>
                  <a:rPr lang="en-SG" sz="1200" b="1" i="0" u="none" strike="noStrike" kern="1200" dirty="0">
                    <a:solidFill>
                      <a:schemeClr val="tx1"/>
                    </a:solidFill>
                    <a:effectLst/>
                    <a:latin typeface="+mn-lt"/>
                    <a:ea typeface="+mn-ea"/>
                    <a:cs typeface="+mn-cs"/>
                  </a:rPr>
                  <a:t>consistency</a:t>
                </a:r>
                <a:r>
                  <a:rPr lang="en-SG" sz="1200" b="0" i="0" u="none" strike="noStrike" kern="1200" dirty="0">
                    <a:solidFill>
                      <a:schemeClr val="tx1"/>
                    </a:solidFill>
                    <a:effectLst/>
                    <a:latin typeface="+mn-lt"/>
                    <a:ea typeface="+mn-ea"/>
                    <a:cs typeface="+mn-cs"/>
                  </a:rPr>
                  <a:t>: for each phase you hold a single plan-vector constant across its entire horizon.</a:t>
                </a:r>
              </a:p>
              <a:p>
                <a:pPr lvl="1"/>
                <a:r>
                  <a:rPr lang="en-SG" sz="1200" b="0" i="0" u="none" strike="noStrike" kern="1200" dirty="0">
                    <a:solidFill>
                      <a:schemeClr val="tx1"/>
                    </a:solidFill>
                    <a:effectLst/>
                    <a:latin typeface="+mn-lt"/>
                    <a:ea typeface="+mn-ea"/>
                    <a:cs typeface="+mn-cs"/>
                  </a:rPr>
                  <a:t>You get </a:t>
                </a:r>
                <a:r>
                  <a:rPr lang="en-SG" sz="1200" b="1" i="0" u="none" strike="noStrike" kern="1200" dirty="0">
                    <a:solidFill>
                      <a:schemeClr val="tx1"/>
                    </a:solidFill>
                    <a:effectLst/>
                    <a:latin typeface="+mn-lt"/>
                    <a:ea typeface="+mn-ea"/>
                    <a:cs typeface="+mn-cs"/>
                  </a:rPr>
                  <a:t>clean hand-off</a:t>
                </a:r>
                <a:r>
                  <a:rPr lang="en-SG" sz="1200" b="0" i="0" u="none" strike="noStrike" kern="1200" dirty="0">
                    <a:solidFill>
                      <a:schemeClr val="tx1"/>
                    </a:solidFill>
                    <a:effectLst/>
                    <a:latin typeface="+mn-lt"/>
                    <a:ea typeface="+mn-ea"/>
                    <a:cs typeface="+mn-cs"/>
                  </a:rPr>
                  <a:t>: when phase 1 ends, you simply swap to the new embedding for phase 2.</a:t>
                </a:r>
              </a:p>
              <a:p>
                <a:pPr lvl="1"/>
                <a:r>
                  <a:rPr lang="en-SG" sz="1200" b="0" i="0" u="none" strike="noStrike" kern="1200" dirty="0">
                    <a:solidFill>
                      <a:schemeClr val="tx1"/>
                    </a:solidFill>
                    <a:effectLst/>
                    <a:latin typeface="+mn-lt"/>
                    <a:ea typeface="+mn-ea"/>
                    <a:cs typeface="+mn-cs"/>
                  </a:rPr>
                  <a:t>Self-attention still only ever sees </a:t>
                </a:r>
                <a:r>
                  <a:rPr lang="en-SG" sz="1200" b="1" i="0" u="none" strike="noStrike" kern="1200" dirty="0">
                    <a:solidFill>
                      <a:schemeClr val="tx1"/>
                    </a:solidFill>
                    <a:effectLst/>
                    <a:latin typeface="+mn-lt"/>
                    <a:ea typeface="+mn-ea"/>
                    <a:cs typeface="+mn-cs"/>
                  </a:rPr>
                  <a:t>one</a:t>
                </a:r>
                <a:r>
                  <a:rPr lang="en-SG" sz="1200" b="0" i="0" u="none" strike="noStrike" kern="1200" dirty="0">
                    <a:solidFill>
                      <a:schemeClr val="tx1"/>
                    </a:solidFill>
                    <a:effectLst/>
                    <a:latin typeface="+mn-lt"/>
                    <a:ea typeface="+mn-ea"/>
                    <a:cs typeface="+mn-cs"/>
                  </a:rPr>
                  <a:t> plan-vector at a time, so it’s always a single attention fusion per step.</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endParaRPr lang="en-SG" sz="1200" b="0" i="0" u="none" strike="noStrike"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8. </a:t>
                </a:r>
                <a:r>
                  <a:rPr lang="en-SG" sz="1200" b="1" kern="1200" dirty="0">
                    <a:solidFill>
                      <a:schemeClr val="tx1"/>
                    </a:solidFill>
                    <a:effectLst/>
                    <a:latin typeface="+mn-lt"/>
                    <a:ea typeface="+mn-ea"/>
                    <a:cs typeface="+mn-cs"/>
                  </a:rPr>
                  <a:t>Why do we use self- attention, not cross attention?</a:t>
                </a:r>
              </a:p>
              <a:p>
                <a:r>
                  <a:rPr lang="en-SG" sz="1200" kern="1200" dirty="0">
                    <a:solidFill>
                      <a:schemeClr val="tx1"/>
                    </a:solidFill>
                    <a:effectLst/>
                    <a:latin typeface="+mn-lt"/>
                    <a:ea typeface="+mn-ea"/>
                    <a:cs typeface="+mn-cs"/>
                  </a:rPr>
                  <a:t>self-attention over the concatenated [state; plan] lets you mix both inputs in one shot with a single module. Cross-attention would require separate “query” vs. “key/value” pathways, increasing code and parameter overhead. Self-attention reuses the same weights for all interactions; cross-attention doubles up (you need separate projections), so it’s costlier per step.</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9. Do we need a memory context for the LLM in the beginning or can we start with no-data?</a:t>
                </a:r>
              </a:p>
              <a:p>
                <a:r>
                  <a:rPr lang="en-SG" sz="1200" b="0" i="0" u="none" strike="noStrike" kern="1200" dirty="0">
                    <a:solidFill>
                      <a:schemeClr val="tx1"/>
                    </a:solidFill>
                    <a:effectLst/>
                    <a:latin typeface="+mn-lt"/>
                    <a:ea typeface="+mn-ea"/>
                    <a:cs typeface="+mn-cs"/>
                  </a:rPr>
                  <a:t>We can start with </a:t>
                </a:r>
                <a:r>
                  <a:rPr lang="en-SG" sz="1200" b="1" i="0" u="none" strike="noStrike" kern="1200" dirty="0">
                    <a:solidFill>
                      <a:schemeClr val="tx1"/>
                    </a:solidFill>
                    <a:effectLst/>
                    <a:latin typeface="+mn-lt"/>
                    <a:ea typeface="+mn-ea"/>
                    <a:cs typeface="+mn-cs"/>
                  </a:rPr>
                  <a:t>zero</a:t>
                </a:r>
                <a:r>
                  <a:rPr lang="en-SG" sz="1200" b="0" i="0" u="none" strike="noStrike" kern="1200" dirty="0">
                    <a:solidFill>
                      <a:schemeClr val="tx1"/>
                    </a:solidFill>
                    <a:effectLst/>
                    <a:latin typeface="+mn-lt"/>
                    <a:ea typeface="+mn-ea"/>
                    <a:cs typeface="+mn-cs"/>
                  </a:rPr>
                  <a:t> memory entries. Just give the LLM the </a:t>
                </a:r>
                <a:r>
                  <a:rPr lang="en-SG" sz="1200" b="1" i="0" u="none" strike="noStrike" kern="1200" dirty="0">
                    <a:solidFill>
                      <a:schemeClr val="tx1"/>
                    </a:solidFill>
                    <a:effectLst/>
                    <a:latin typeface="+mn-lt"/>
                    <a:ea typeface="+mn-ea"/>
                    <a:cs typeface="+mn-cs"/>
                  </a:rPr>
                  <a:t>bare essentials</a:t>
                </a:r>
                <a:r>
                  <a:rPr lang="en-SG" sz="1200" b="0" i="0" u="none" strike="noStrike" kern="1200" dirty="0">
                    <a:solidFill>
                      <a:schemeClr val="tx1"/>
                    </a:solidFill>
                    <a:effectLst/>
                    <a:latin typeface="+mn-lt"/>
                    <a:ea typeface="+mn-ea"/>
                    <a:cs typeface="+mn-cs"/>
                  </a:rPr>
                  <a:t> and let the first few successes build our case base.</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CURRENT SITUATION:</a:t>
                </a:r>
              </a:p>
              <a:p>
                <a:r>
                  <a:rPr lang="en-SG" sz="1200" b="0" i="0" u="none" strike="noStrike" kern="1200" dirty="0">
                    <a:solidFill>
                      <a:schemeClr val="tx1"/>
                    </a:solidFill>
                    <a:effectLst/>
                    <a:latin typeface="+mn-lt"/>
                    <a:ea typeface="+mn-ea"/>
                    <a:cs typeface="+mn-cs"/>
                  </a:rPr>
                  <a:t>  • Aircraft A vs B: bearing 45°, 4 NM apart, closing at 300 kt  </a:t>
                </a:r>
              </a:p>
              <a:p>
                <a:r>
                  <a:rPr lang="en-SG" sz="1200" b="0" i="0" u="none" strike="noStrike" kern="1200" dirty="0">
                    <a:solidFill>
                      <a:schemeClr val="tx1"/>
                    </a:solidFill>
                    <a:effectLst/>
                    <a:latin typeface="+mn-lt"/>
                    <a:ea typeface="+mn-ea"/>
                    <a:cs typeface="+mn-cs"/>
                  </a:rPr>
                  <a:t>  • Weather: storm cell 10 NM east  </a:t>
                </a:r>
              </a:p>
              <a:p>
                <a:r>
                  <a:rPr lang="en-SG" sz="1200" b="0" i="0" u="none" strike="noStrike" kern="1200" dirty="0">
                    <a:solidFill>
                      <a:schemeClr val="tx1"/>
                    </a:solidFill>
                    <a:effectLst/>
                    <a:latin typeface="+mn-lt"/>
                    <a:ea typeface="+mn-ea"/>
                    <a:cs typeface="+mn-cs"/>
                  </a:rPr>
                  <a:t>  • Emergency flag: false  </a:t>
                </a:r>
              </a:p>
              <a:p>
                <a:r>
                  <a:rPr lang="en-SG" sz="1200" b="0" i="0" u="none" strike="noStrike" kern="1200" dirty="0">
                    <a:solidFill>
                      <a:schemeClr val="tx1"/>
                    </a:solidFill>
                    <a:effectLst/>
                    <a:latin typeface="+mn-lt"/>
                    <a:ea typeface="+mn-ea"/>
                    <a:cs typeface="+mn-cs"/>
                  </a:rPr>
                  <a:t>  • Desired exit heading: 270°</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RULES:</a:t>
                </a:r>
              </a:p>
              <a:p>
                <a:r>
                  <a:rPr lang="en-SG" sz="1200" b="0" i="0" u="none" strike="noStrike" kern="1200" dirty="0">
                    <a:solidFill>
                      <a:schemeClr val="tx1"/>
                    </a:solidFill>
                    <a:effectLst/>
                    <a:latin typeface="+mn-lt"/>
                    <a:ea typeface="+mn-ea"/>
                    <a:cs typeface="+mn-cs"/>
                  </a:rPr>
                  <a:t>  – Keep at least 5 NM separation  </a:t>
                </a:r>
              </a:p>
              <a:p>
                <a:r>
                  <a:rPr lang="en-SG" sz="1200" b="0" i="0" u="none" strike="noStrike" kern="1200" dirty="0">
                    <a:solidFill>
                      <a:schemeClr val="tx1"/>
                    </a:solidFill>
                    <a:effectLst/>
                    <a:latin typeface="+mn-lt"/>
                    <a:ea typeface="+mn-ea"/>
                    <a:cs typeface="+mn-cs"/>
                  </a:rPr>
                  <a:t>  – No-go zone east of waypoint X  </a:t>
                </a:r>
              </a:p>
              <a:p>
                <a:r>
                  <a:rPr lang="en-SG" sz="1200" b="0" i="0" u="none" strike="noStrike" kern="1200" dirty="0">
                    <a:solidFill>
                      <a:schemeClr val="tx1"/>
                    </a:solidFill>
                    <a:effectLst/>
                    <a:latin typeface="+mn-lt"/>
                    <a:ea typeface="+mn-ea"/>
                    <a:cs typeface="+mn-cs"/>
                  </a:rPr>
                  <a:t>  – Return to 270° once conflict is cleared</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TASK:</a:t>
                </a:r>
              </a:p>
              <a:p>
                <a:r>
                  <a:rPr lang="en-SG" sz="1200" b="0" i="0" u="none" strike="noStrike" kern="1200" dirty="0">
                    <a:solidFill>
                      <a:schemeClr val="tx1"/>
                    </a:solidFill>
                    <a:effectLst/>
                    <a:latin typeface="+mn-lt"/>
                    <a:ea typeface="+mn-ea"/>
                    <a:cs typeface="+mn-cs"/>
                  </a:rPr>
                  <a:t>  1. Suggest a two-phase recovery plan in JSON:</a:t>
                </a:r>
              </a:p>
              <a:p>
                <a:r>
                  <a:rPr lang="en-SG" sz="1200" b="0" i="0" u="none" strike="noStrike" kern="1200" dirty="0">
                    <a:solidFill>
                      <a:schemeClr val="tx1"/>
                    </a:solidFill>
                    <a:effectLst/>
                    <a:latin typeface="+mn-lt"/>
                    <a:ea typeface="+mn-ea"/>
                    <a:cs typeface="+mn-cs"/>
                  </a:rPr>
                  <a:t>     • Phase 1: how to avoid the conflict (action, max steps, stop condition)  </a:t>
                </a:r>
              </a:p>
              <a:p>
                <a:r>
                  <a:rPr lang="en-SG" sz="1200" b="0" i="0" u="none" strike="noStrike" kern="1200" dirty="0">
                    <a:solidFill>
                      <a:schemeClr val="tx1"/>
                    </a:solidFill>
                    <a:effectLst/>
                    <a:latin typeface="+mn-lt"/>
                    <a:ea typeface="+mn-ea"/>
                    <a:cs typeface="+mn-cs"/>
                  </a:rPr>
                  <a:t>     • Phase 2: how to merge back (action, max steps, stop condition)  </a:t>
                </a:r>
              </a:p>
              <a:p>
                <a:r>
                  <a:rPr lang="en-SG" sz="1200" b="0" i="0" u="none" strike="noStrike" kern="1200" dirty="0">
                    <a:solidFill>
                      <a:schemeClr val="tx1"/>
                    </a:solidFill>
                    <a:effectLst/>
                    <a:latin typeface="+mn-lt"/>
                    <a:ea typeface="+mn-ea"/>
                    <a:cs typeface="+mn-cs"/>
                  </a:rPr>
                  <a:t>  2. Estimate steps for each phase.</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Return only valid JSON.</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endParaRPr lang="en-SG" sz="1200" b="0" i="0" u="none" strike="noStrike"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10. If there is already behaviour conformed data policy with us. How can we train a new policy and transfer its knowledge to the old one? </a:t>
                </a:r>
              </a:p>
              <a:p>
                <a:r>
                  <a:rPr lang="en-SG" sz="1200" b="1" i="0" u="none" strike="noStrike" kern="1200" dirty="0">
                    <a:solidFill>
                      <a:schemeClr val="tx1"/>
                    </a:solidFill>
                    <a:effectLst/>
                    <a:latin typeface="+mn-lt"/>
                    <a:ea typeface="+mn-ea"/>
                    <a:cs typeface="+mn-cs"/>
                  </a:rPr>
                  <a:t>1. Sequential transfer (pretrain → fine-tune)</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Pretrain</a:t>
                </a:r>
                <a:r>
                  <a:rPr lang="en-SG" sz="1200" b="0" i="0" u="none" strike="noStrike" kern="1200" dirty="0">
                    <a:solidFill>
                      <a:schemeClr val="tx1"/>
                    </a:solidFill>
                    <a:effectLst/>
                    <a:latin typeface="+mn-lt"/>
                    <a:ea typeface="+mn-ea"/>
                    <a:cs typeface="+mn-cs"/>
                  </a:rPr>
                  <a:t> on your behaviour-conformance data</a:t>
                </a: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Use standard behaviour cloning or RL on your logged “normal” flights until your policy reliably mimics ATCO style.</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Freeze or regularize</a:t>
                </a:r>
                <a:r>
                  <a:rPr lang="en-SG" sz="1200" b="0" i="0" u="none" strike="noStrike" kern="1200" dirty="0">
                    <a:solidFill>
                      <a:schemeClr val="tx1"/>
                    </a:solidFill>
                    <a:effectLst/>
                    <a:latin typeface="+mn-lt"/>
                    <a:ea typeface="+mn-ea"/>
                    <a:cs typeface="+mn-cs"/>
                  </a:rPr>
                  <a:t> core layers</a:t>
                </a: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Lock the early layers of the network (the ones that learn general flight skills), or add a weight-penalty (EWC) so they don’t drift too far.</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Fine-tune</a:t>
                </a:r>
                <a:r>
                  <a:rPr lang="en-SG" sz="1200" b="0" i="0" u="none" strike="noStrike" kern="1200" dirty="0">
                    <a:solidFill>
                      <a:schemeClr val="tx1"/>
                    </a:solidFill>
                    <a:effectLst/>
                    <a:latin typeface="+mn-lt"/>
                    <a:ea typeface="+mn-ea"/>
                    <a:cs typeface="+mn-cs"/>
                  </a:rPr>
                  <a:t> on long-tail events with LLM guidance</a:t>
                </a: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Plug in the LLM-assisted intervention pipeline for rare crises.</a:t>
                </a: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Use a </a:t>
                </a:r>
                <a:r>
                  <a:rPr lang="en-SG" sz="1200" b="1" i="0" u="none" strike="noStrike" kern="1200" dirty="0">
                    <a:solidFill>
                      <a:schemeClr val="tx1"/>
                    </a:solidFill>
                    <a:effectLst/>
                    <a:latin typeface="+mn-lt"/>
                    <a:ea typeface="+mn-ea"/>
                    <a:cs typeface="+mn-cs"/>
                  </a:rPr>
                  <a:t>KL-penalty</a:t>
                </a:r>
                <a:r>
                  <a:rPr lang="en-SG" sz="1200" b="0" i="0" u="none" strike="noStrike" kern="1200" dirty="0">
                    <a:solidFill>
                      <a:schemeClr val="tx1"/>
                    </a:solidFill>
                    <a:effectLst/>
                    <a:latin typeface="+mn-lt"/>
                    <a:ea typeface="+mn-ea"/>
                    <a:cs typeface="+mn-cs"/>
                  </a:rPr>
                  <a:t> against the pretrained policy’s outputs on normal episodes so you don’t lose your conformance behaviour.</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Merge back</a:t>
                </a:r>
                <a:endParaRPr lang="en-SG" sz="1200" b="0" i="0" u="none" strike="noStrike" kern="1200" dirty="0">
                  <a:solidFill>
                    <a:schemeClr val="tx1"/>
                  </a:solidFill>
                  <a:effectLst/>
                  <a:latin typeface="+mn-lt"/>
                  <a:ea typeface="+mn-ea"/>
                  <a:cs typeface="+mn-cs"/>
                </a:endParaRPr>
              </a:p>
              <a:p>
                <a:pPr marL="628650" lvl="1" indent="-171450">
                  <a:buFont typeface="Arial" panose="020B0604020202020204" pitchFamily="34" charset="0"/>
                  <a:buChar char="•"/>
                </a:pPr>
                <a:r>
                  <a:rPr lang="en-SG" sz="1200" b="0" i="0" u="none" strike="noStrike" kern="1200" dirty="0">
                    <a:solidFill>
                      <a:schemeClr val="tx1"/>
                    </a:solidFill>
                    <a:effectLst/>
                    <a:latin typeface="+mn-lt"/>
                    <a:ea typeface="+mn-ea"/>
                    <a:cs typeface="+mn-cs"/>
                  </a:rPr>
                  <a:t>Optionally distil the fine-tuned network back into a single “unified” policy by rolling out mixed normal + crisis scenarios and retraining a fresh student.</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Pros</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Keeps your trusted base intact.</a:t>
                </a:r>
              </a:p>
              <a:p>
                <a:r>
                  <a:rPr lang="en-SG" sz="1200" b="0" i="0" u="none" strike="noStrike" kern="1200" dirty="0">
                    <a:solidFill>
                      <a:schemeClr val="tx1"/>
                    </a:solidFill>
                    <a:effectLst/>
                    <a:latin typeface="+mn-lt"/>
                    <a:ea typeface="+mn-ea"/>
                    <a:cs typeface="+mn-cs"/>
                  </a:rPr>
                  <a:t>Faster to get long-tail skills without re-training everything.</a:t>
                </a:r>
              </a:p>
              <a:p>
                <a:pPr marL="171450" indent="-171450">
                  <a:buFont typeface="Arial" panose="020B0604020202020204" pitchFamily="34" charset="0"/>
                  <a:buChar char="•"/>
                </a:pPr>
                <a:r>
                  <a:rPr lang="en-SG" sz="1200" b="1" i="0" u="none" strike="noStrike" kern="1200" dirty="0">
                    <a:solidFill>
                      <a:schemeClr val="tx1"/>
                    </a:solidFill>
                    <a:effectLst/>
                    <a:latin typeface="+mn-lt"/>
                    <a:ea typeface="+mn-ea"/>
                    <a:cs typeface="+mn-cs"/>
                  </a:rPr>
                  <a:t>Cons</a:t>
                </a:r>
                <a:r>
                  <a:rPr lang="en-SG" sz="1200" b="0" i="0" u="none" strike="noStrike" kern="1200" dirty="0">
                    <a:solidFill>
                      <a:schemeClr val="tx1"/>
                    </a:solidFill>
                    <a:effectLst/>
                    <a:latin typeface="+mn-lt"/>
                    <a:ea typeface="+mn-ea"/>
                    <a:cs typeface="+mn-cs"/>
                  </a:rPr>
                  <a:t>:</a:t>
                </a:r>
              </a:p>
              <a:p>
                <a:r>
                  <a:rPr lang="en-SG" sz="1200" b="0" i="0" u="none" strike="noStrike" kern="1200" dirty="0">
                    <a:solidFill>
                      <a:schemeClr val="tx1"/>
                    </a:solidFill>
                    <a:effectLst/>
                    <a:latin typeface="+mn-lt"/>
                    <a:ea typeface="+mn-ea"/>
                    <a:cs typeface="+mn-cs"/>
                  </a:rPr>
                  <a:t>Risk of “rigid” lower layers that can’t adapt to new crisis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i="0" u="none" strike="noStrike"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endParaRPr lang="en-US" dirty="0"/>
              </a:p>
            </p:txBody>
          </p:sp>
        </mc:Choice>
        <mc:Fallback xmlns="">
          <p:sp>
            <p:nvSpPr>
              <p:cNvPr id="3" name="Notes Placeholder 2">
                <a:extLst>
                  <a:ext uri="{FF2B5EF4-FFF2-40B4-BE49-F238E27FC236}">
                    <a16:creationId xmlns:a16="http://schemas.microsoft.com/office/drawing/2014/main" id="{13409035-F3E0-44A8-5C81-5820BB1D2659}"/>
                  </a:ext>
                </a:extLst>
              </p:cNvPr>
              <p:cNvSpPr>
                <a:spLocks noGrp="1"/>
              </p:cNvSpPr>
              <p:nvPr>
                <p:ph type="body" idx="1"/>
              </p:nvPr>
            </p:nvSpPr>
            <p:spPr/>
            <p:txBody>
              <a:bodyPr/>
              <a:lstStyle/>
              <a:p>
                <a:r>
                  <a:rPr lang="en-SG" sz="1200" b="1" kern="1200" dirty="0">
                    <a:solidFill>
                      <a:schemeClr val="tx1"/>
                    </a:solidFill>
                    <a:effectLst/>
                    <a:latin typeface="+mn-lt"/>
                    <a:ea typeface="+mn-ea"/>
                    <a:cs typeface="+mn-cs"/>
                  </a:rPr>
                  <a:t>1. How are we calculating risk scores and the presence of long tail events?</a:t>
                </a:r>
                <a:endParaRPr lang="en-SG"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Ω=</a:t>
                </a:r>
                <a:r>
                  <a:rPr lang="en-SG" sz="1200" kern="1200" dirty="0">
                    <a:solidFill>
                      <a:schemeClr val="tx1"/>
                    </a:solidFill>
                    <a:effectLst/>
                    <a:latin typeface="+mn-lt"/>
                    <a:ea typeface="+mn-ea"/>
                    <a:cs typeface="+mn-cs"/>
                  </a:rPr>
                  <a:t>w1 × </a:t>
                </a:r>
                <a:r>
                  <a:rPr lang="en-SG" sz="1200" i="0" kern="1200" dirty="0">
                    <a:solidFill>
                      <a:schemeClr val="tx1"/>
                    </a:solidFill>
                    <a:effectLst/>
                    <a:latin typeface="+mn-lt"/>
                    <a:ea typeface="+mn-ea"/>
                    <a:cs typeface="+mn-cs"/>
                  </a:rPr>
                  <a:t>"1</a:t>
                </a:r>
                <a:r>
                  <a:rPr lang="en-SG" sz="1200" i="0" kern="1200">
                    <a:solidFill>
                      <a:schemeClr val="tx1"/>
                    </a:solidFill>
                    <a:effectLst/>
                    <a:latin typeface="Cambria Math" panose="02040503050406030204" pitchFamily="18" charset="0"/>
                    <a:ea typeface="+mn-ea"/>
                    <a:cs typeface="+mn-cs"/>
                  </a:rPr>
                  <a:t>" /</a:t>
                </a:r>
                <a:r>
                  <a:rPr lang="en-SG" sz="1200" i="0" kern="1200" dirty="0">
                    <a:solidFill>
                      <a:schemeClr val="tx1"/>
                    </a:solidFill>
                    <a:effectLst/>
                    <a:latin typeface="+mn-lt"/>
                    <a:ea typeface="+mn-ea"/>
                    <a:cs typeface="+mn-cs"/>
                  </a:rPr>
                  <a:t>"separation</a:t>
                </a:r>
                <a:r>
                  <a:rPr lang="en-SG" sz="1200" i="0" kern="1200">
                    <a:solidFill>
                      <a:schemeClr val="tx1"/>
                    </a:solidFill>
                    <a:effectLst/>
                    <a:latin typeface="Cambria Math" panose="02040503050406030204" pitchFamily="18" charset="0"/>
                    <a:ea typeface="+mn-ea"/>
                    <a:cs typeface="+mn-cs"/>
                  </a:rPr>
                  <a:t>" </a:t>
                </a:r>
                <a:r>
                  <a:rPr lang="en-SG" sz="1200" kern="1200" dirty="0">
                    <a:solidFill>
                      <a:schemeClr val="tx1"/>
                    </a:solidFill>
                    <a:effectLst/>
                    <a:latin typeface="+mn-lt"/>
                    <a:ea typeface="+mn-ea"/>
                    <a:cs typeface="+mn-cs"/>
                  </a:rPr>
                  <a:t> + w2 × </a:t>
                </a:r>
                <a:r>
                  <a:rPr lang="en-SG" sz="1200" i="0" kern="1200">
                    <a:solidFill>
                      <a:schemeClr val="tx1"/>
                    </a:solidFill>
                    <a:effectLst/>
                    <a:latin typeface="Cambria Math" panose="02040503050406030204" pitchFamily="18" charset="0"/>
                    <a:ea typeface="+mn-ea"/>
                    <a:cs typeface="+mn-cs"/>
                  </a:rPr>
                  <a:t>1/</a:t>
                </a:r>
                <a:r>
                  <a:rPr lang="en-SG" sz="1200" i="0" kern="1200" dirty="0">
                    <a:solidFill>
                      <a:schemeClr val="tx1"/>
                    </a:solidFill>
                    <a:effectLst/>
                    <a:latin typeface="+mn-lt"/>
                    <a:ea typeface="+mn-ea"/>
                    <a:cs typeface="+mn-cs"/>
                  </a:rPr>
                  <a:t>"TTC</a:t>
                </a:r>
                <a:r>
                  <a:rPr lang="en-SG" sz="1200" i="0" kern="1200">
                    <a:solidFill>
                      <a:schemeClr val="tx1"/>
                    </a:solidFill>
                    <a:effectLst/>
                    <a:latin typeface="Cambria Math" panose="02040503050406030204" pitchFamily="18" charset="0"/>
                    <a:ea typeface="+mn-ea"/>
                    <a:cs typeface="+mn-cs"/>
                  </a:rPr>
                  <a:t>" </a:t>
                </a:r>
                <a:r>
                  <a:rPr lang="en-SG" sz="1200" kern="1200" dirty="0">
                    <a:solidFill>
                      <a:schemeClr val="tx1"/>
                    </a:solidFill>
                    <a:effectLst/>
                    <a:latin typeface="+mn-lt"/>
                    <a:ea typeface="+mn-ea"/>
                    <a:cs typeface="+mn-cs"/>
                  </a:rPr>
                  <a:t> + w3×storm_flag + w4×emergency_flag + w5 ×</a:t>
                </a:r>
                <a:r>
                  <a:rPr lang="en-SG" sz="1200" kern="1200" dirty="0" err="1">
                    <a:solidFill>
                      <a:schemeClr val="tx1"/>
                    </a:solidFill>
                    <a:effectLst/>
                    <a:latin typeface="+mn-lt"/>
                    <a:ea typeface="+mn-ea"/>
                    <a:cs typeface="+mn-cs"/>
                  </a:rPr>
                  <a:t>comms_flag</a:t>
                </a:r>
                <a:r>
                  <a:rPr lang="en-SG" sz="1200" kern="1200" dirty="0">
                    <a:solidFill>
                      <a:schemeClr val="tx1"/>
                    </a:solidFill>
                    <a:effectLst/>
                    <a:latin typeface="+mn-lt"/>
                    <a:ea typeface="+mn-ea"/>
                    <a:cs typeface="+mn-cs"/>
                  </a:rPr>
                  <a:t> + w6 ×</a:t>
                </a:r>
                <a:r>
                  <a:rPr lang="en-SG" sz="1200" kern="1200" dirty="0" err="1">
                    <a:solidFill>
                      <a:schemeClr val="tx1"/>
                    </a:solidFill>
                    <a:effectLst/>
                    <a:latin typeface="+mn-lt"/>
                    <a:ea typeface="+mn-ea"/>
                    <a:cs typeface="+mn-cs"/>
                  </a:rPr>
                  <a:t>no_go_flag</a:t>
                </a:r>
                <a:endParaRPr lang="en-SG" sz="1200" kern="1200" dirty="0">
                  <a:solidFill>
                    <a:schemeClr val="tx1"/>
                  </a:solidFill>
                  <a:effectLst/>
                  <a:latin typeface="+mn-lt"/>
                  <a:ea typeface="+mn-ea"/>
                  <a:cs typeface="+mn-cs"/>
                </a:endParaRPr>
              </a:p>
              <a:p>
                <a:endParaRPr lang="en-SG"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 fixed threshold (say “risk &gt; 5”) might be too blunt:</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Early in training, most situations are risky → you’d call the LLM constantly.</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Later, the student gets better → almost no situation exceeds that same “5” → you’d never use the LLM again.</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An adaptive threshold evolves as the agent learns:</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Collect recent risk scores (</a:t>
                </a:r>
                <a:r>
                  <a:rPr lang="el-GR" sz="1200" kern="1200" dirty="0">
                    <a:solidFill>
                      <a:schemeClr val="tx1"/>
                    </a:solidFill>
                    <a:effectLst/>
                    <a:latin typeface="+mn-lt"/>
                    <a:ea typeface="+mn-ea"/>
                    <a:cs typeface="+mn-cs"/>
                  </a:rPr>
                  <a:t>Ω </a:t>
                </a:r>
                <a:r>
                  <a:rPr lang="en-SG" sz="1200" kern="1200" dirty="0">
                    <a:solidFill>
                      <a:schemeClr val="tx1"/>
                    </a:solidFill>
                    <a:effectLst/>
                    <a:latin typeface="+mn-lt"/>
                    <a:ea typeface="+mn-ea"/>
                    <a:cs typeface="+mn-cs"/>
                  </a:rPr>
                  <a:t>values) in a sliding window.</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Recompute </a:t>
                </a:r>
                <a:r>
                  <a:rPr lang="el-GR" sz="1200" kern="1200" dirty="0">
                    <a:solidFill>
                      <a:schemeClr val="tx1"/>
                    </a:solidFill>
                    <a:effectLst/>
                    <a:latin typeface="+mn-lt"/>
                    <a:ea typeface="+mn-ea"/>
                    <a:cs typeface="+mn-cs"/>
                  </a:rPr>
                  <a:t>β </a:t>
                </a:r>
                <a:r>
                  <a:rPr lang="en-SG" sz="1200" kern="1200" dirty="0">
                    <a:solidFill>
                      <a:schemeClr val="tx1"/>
                    </a:solidFill>
                    <a:effectLst/>
                    <a:latin typeface="+mn-lt"/>
                    <a:ea typeface="+mn-ea"/>
                    <a:cs typeface="+mn-cs"/>
                  </a:rPr>
                  <a:t>as, for example, the 90th percentile of that window.</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That means “only the worst 10% of cases” trigger help.</a:t>
                </a:r>
              </a:p>
              <a:p>
                <a:pPr marL="171450" indent="-171450">
                  <a:buFont typeface="Arial" panose="020B0604020202020204" pitchFamily="34" charset="0"/>
                  <a:buChar char="•"/>
                </a:pPr>
                <a:r>
                  <a:rPr lang="en-SG" sz="1200" kern="1200" dirty="0">
                    <a:solidFill>
                      <a:schemeClr val="tx1"/>
                    </a:solidFill>
                    <a:effectLst/>
                    <a:latin typeface="+mn-lt"/>
                    <a:ea typeface="+mn-ea"/>
                    <a:cs typeface="+mn-cs"/>
                  </a:rPr>
                  <a:t>Optionally adjust for special flights (scale </a:t>
                </a:r>
                <a:r>
                  <a:rPr lang="el-GR" sz="1200" kern="1200" dirty="0">
                    <a:solidFill>
                      <a:schemeClr val="tx1"/>
                    </a:solidFill>
                    <a:effectLst/>
                    <a:latin typeface="+mn-lt"/>
                    <a:ea typeface="+mn-ea"/>
                    <a:cs typeface="+mn-cs"/>
                  </a:rPr>
                  <a:t>β </a:t>
                </a:r>
                <a:r>
                  <a:rPr lang="en-SG" sz="1200" kern="1200" dirty="0">
                    <a:solidFill>
                      <a:schemeClr val="tx1"/>
                    </a:solidFill>
                    <a:effectLst/>
                    <a:latin typeface="+mn-lt"/>
                    <a:ea typeface="+mn-ea"/>
                    <a:cs typeface="+mn-cs"/>
                  </a:rPr>
                  <a:t>down when it’s an emergency so you ask help sooner).</a:t>
                </a:r>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kern="1200" dirty="0">
                    <a:solidFill>
                      <a:schemeClr val="tx1"/>
                    </a:solidFill>
                    <a:effectLst/>
                    <a:latin typeface="+mn-lt"/>
                    <a:ea typeface="+mn-ea"/>
                    <a:cs typeface="+mn-cs"/>
                  </a:rPr>
                  <a:t>2. Why do we seek high level action actions and not execute low level actions from the LLMs?</a:t>
                </a:r>
              </a:p>
              <a:p>
                <a:r>
                  <a:rPr lang="en-SG" sz="1200" kern="1200" dirty="0">
                    <a:solidFill>
                      <a:schemeClr val="tx1"/>
                    </a:solidFill>
                    <a:effectLst/>
                    <a:latin typeface="+mn-lt"/>
                    <a:ea typeface="+mn-ea"/>
                    <a:cs typeface="+mn-cs"/>
                  </a:rPr>
                  <a:t>LLMs are great at describing “what goal to achieve” (“turn 30° left until you’re clear”), but they aren’t trained to model every little physics nuance</a:t>
                </a:r>
              </a:p>
              <a:p>
                <a:r>
                  <a:rPr lang="en-SG" sz="1200" b="1" i="0" u="none" strike="noStrike" kern="1200" dirty="0">
                    <a:solidFill>
                      <a:schemeClr val="tx1"/>
                    </a:solidFill>
                    <a:effectLst/>
                    <a:latin typeface="+mn-lt"/>
                    <a:ea typeface="+mn-ea"/>
                    <a:cs typeface="+mn-cs"/>
                  </a:rPr>
                  <a:t>---------------------------------------------------------------------------------------------------------------------</a:t>
                </a:r>
                <a:br>
                  <a:rPr lang="en-SG" sz="1200" kern="1200" dirty="0">
                    <a:solidFill>
                      <a:schemeClr val="tx1"/>
                    </a:solidFill>
                    <a:effectLst/>
                    <a:latin typeface="+mn-lt"/>
                    <a:ea typeface="+mn-ea"/>
                    <a:cs typeface="+mn-cs"/>
                  </a:rPr>
                </a:br>
                <a:endParaRPr lang="en-SG" sz="1200" kern="1200" dirty="0">
                  <a:solidFill>
                    <a:schemeClr val="tx1"/>
                  </a:solidFill>
                  <a:effectLst/>
                  <a:latin typeface="+mn-lt"/>
                  <a:ea typeface="+mn-ea"/>
                  <a:cs typeface="+mn-cs"/>
                </a:endParaRPr>
              </a:p>
              <a:p>
                <a:r>
                  <a:rPr lang="en-SG" sz="1200" b="1" kern="1200" dirty="0">
                    <a:solidFill>
                      <a:schemeClr val="tx1"/>
                    </a:solidFill>
                    <a:effectLst/>
                    <a:latin typeface="+mn-lt"/>
                    <a:ea typeface="+mn-ea"/>
                    <a:cs typeface="+mn-cs"/>
                  </a:rPr>
                  <a:t>3. Why don't we have single step manoeuvres recommended by the LLM?</a:t>
                </a:r>
              </a:p>
              <a:p>
                <a:r>
                  <a:rPr lang="en-SG" sz="1200" kern="1200" dirty="0">
                    <a:solidFill>
                      <a:schemeClr val="tx1"/>
                    </a:solidFill>
                    <a:effectLst/>
                    <a:latin typeface="+mn-lt"/>
                    <a:ea typeface="+mn-ea"/>
                    <a:cs typeface="+mn-cs"/>
                  </a:rPr>
                  <a:t>When the LLM hands you a goal (“Hold +30° for next 10 steps”), </a:t>
                </a:r>
                <a:r>
                  <a:rPr lang="en-SG" sz="1200" kern="1200" dirty="0" err="1">
                    <a:solidFill>
                      <a:schemeClr val="tx1"/>
                    </a:solidFill>
                    <a:effectLst/>
                    <a:latin typeface="+mn-lt"/>
                    <a:ea typeface="+mn-ea"/>
                    <a:cs typeface="+mn-cs"/>
                  </a:rPr>
                  <a:t>wecan</a:t>
                </a:r>
                <a:r>
                  <a:rPr lang="en-SG" sz="1200" kern="1200" dirty="0">
                    <a:solidFill>
                      <a:schemeClr val="tx1"/>
                    </a:solidFill>
                    <a:effectLst/>
                    <a:latin typeface="+mn-lt"/>
                    <a:ea typeface="+mn-ea"/>
                    <a:cs typeface="+mn-cs"/>
                  </a:rPr>
                  <a:t> see how well that goal worked over several steps and teach the agent accordingly. If it just gives single actions, it’s hard to know which ones actually solved the problem.</a:t>
                </a: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4. </a:t>
                </a:r>
                <a:r>
                  <a:rPr lang="en-SG" sz="1200" b="1" kern="1200" dirty="0">
                    <a:solidFill>
                      <a:schemeClr val="tx1"/>
                    </a:solidFill>
                    <a:effectLst/>
                    <a:latin typeface="+mn-lt"/>
                    <a:ea typeface="+mn-ea"/>
                    <a:cs typeface="+mn-cs"/>
                  </a:rPr>
                  <a:t>Why just one attention block per step?</a:t>
                </a:r>
              </a:p>
              <a:p>
                <a:r>
                  <a:rPr lang="en-SG" sz="1200" kern="1200" dirty="0">
                    <a:solidFill>
                      <a:schemeClr val="tx1"/>
                    </a:solidFill>
                    <a:effectLst/>
                    <a:latin typeface="+mn-lt"/>
                    <a:ea typeface="+mn-ea"/>
                    <a:cs typeface="+mn-cs"/>
                  </a:rPr>
                  <a:t>A single attention module is enough to let the model focus on whichever parts of the LLM plan or the current state matter most when choosing an action. </a:t>
                </a: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5. </a:t>
                </a:r>
                <a:r>
                  <a:rPr lang="en-SG" sz="1200" b="1" kern="1200" dirty="0">
                    <a:solidFill>
                      <a:schemeClr val="tx1"/>
                    </a:solidFill>
                    <a:effectLst/>
                    <a:latin typeface="+mn-lt"/>
                    <a:ea typeface="+mn-ea"/>
                    <a:cs typeface="+mn-cs"/>
                  </a:rPr>
                  <a:t>Why hold the same plan embedding for N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kern="1200" dirty="0">
                    <a:solidFill>
                      <a:schemeClr val="tx1"/>
                    </a:solidFill>
                    <a:effectLst/>
                    <a:latin typeface="+mn-lt"/>
                    <a:ea typeface="+mn-ea"/>
                    <a:cs typeface="+mn-cs"/>
                  </a:rPr>
                  <a:t>We want LLM plan to stay in effect for the full horizon, not vanish after one step. Keeping the plan vector constant makes sure each action is guided by the same instruction. If we refreshed or changed the embedding every step, we'd either need to re-call the LLM or risk drifting intent. </a:t>
                </a: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6. </a:t>
                </a:r>
                <a:r>
                  <a:rPr lang="en-SG" sz="1200" b="1" kern="1200" dirty="0">
                    <a:solidFill>
                      <a:schemeClr val="tx1"/>
                    </a:solidFill>
                    <a:effectLst/>
                    <a:latin typeface="+mn-lt"/>
                    <a:ea typeface="+mn-ea"/>
                    <a:cs typeface="+mn-cs"/>
                  </a:rPr>
                  <a:t>How do we encode phase -1 and phase-2 separately such that the learning signal doesn't get intermixed?</a:t>
                </a:r>
              </a:p>
              <a:p>
                <a:r>
                  <a:rPr lang="en-SG" sz="1200" kern="1200" dirty="0">
                    <a:solidFill>
                      <a:schemeClr val="tx1"/>
                    </a:solidFill>
                    <a:effectLst/>
                    <a:latin typeface="+mn-lt"/>
                    <a:ea typeface="+mn-ea"/>
                    <a:cs typeface="+mn-cs"/>
                  </a:rPr>
                  <a:t>We get clean hand-off: when phase 1 ends, we simply swap to the new embedding for phase 2.</a:t>
                </a:r>
              </a:p>
              <a:p>
                <a:r>
                  <a:rPr lang="en-SG" sz="1200" kern="1200" dirty="0">
                    <a:solidFill>
                      <a:schemeClr val="tx1"/>
                    </a:solidFill>
                    <a:effectLst/>
                    <a:latin typeface="+mn-lt"/>
                    <a:ea typeface="+mn-ea"/>
                    <a:cs typeface="+mn-cs"/>
                  </a:rPr>
                  <a:t>Self-attention still only ever sees one plan-vector at a time, so it’s always a single attention fusion per step.</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b="1" i="0" u="none" strike="noStrike" kern="1200" dirty="0">
                    <a:solidFill>
                      <a:schemeClr val="tx1"/>
                    </a:solidFill>
                    <a:effectLst/>
                    <a:latin typeface="+mn-lt"/>
                    <a:ea typeface="+mn-ea"/>
                    <a:cs typeface="+mn-cs"/>
                  </a:rPr>
                  <a:t>---------------------------------------------------------------------------------------------------------------------</a:t>
                </a:r>
                <a:endParaRPr lang="en-SG" sz="1200"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7. </a:t>
                </a:r>
                <a:r>
                  <a:rPr lang="en-SG" sz="1200" b="0" i="0" u="none" strike="noStrike" kern="1200" dirty="0">
                    <a:solidFill>
                      <a:schemeClr val="tx1"/>
                    </a:solidFill>
                    <a:effectLst/>
                    <a:latin typeface="+mn-lt"/>
                    <a:ea typeface="+mn-ea"/>
                    <a:cs typeface="+mn-cs"/>
                  </a:rPr>
                  <a:t> </a:t>
                </a:r>
                <a:r>
                  <a:rPr lang="en-SG" sz="1200" b="1" i="0" u="none" strike="noStrike" kern="1200" dirty="0">
                    <a:solidFill>
                      <a:schemeClr val="tx1"/>
                    </a:solidFill>
                    <a:effectLst/>
                    <a:latin typeface="+mn-lt"/>
                    <a:ea typeface="+mn-ea"/>
                    <a:cs typeface="+mn-cs"/>
                  </a:rPr>
                  <a:t>How to use embeddings over N steps</a:t>
                </a:r>
              </a:p>
              <a:p>
                <a:r>
                  <a:rPr lang="en-SG" sz="1200" b="1" i="0" u="none" strike="noStrike" kern="1200" dirty="0">
                    <a:solidFill>
                      <a:schemeClr val="tx1"/>
                    </a:solidFill>
                    <a:effectLst/>
                    <a:latin typeface="+mn-lt"/>
                    <a:ea typeface="+mn-ea"/>
                    <a:cs typeface="+mn-cs"/>
                  </a:rPr>
                  <a:t>Get both plans at once</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LLM returns something like:</a:t>
                </a:r>
              </a:p>
              <a:p>
                <a:r>
                  <a:rPr lang="en-SG" sz="1200" b="0" i="0" u="none" strike="noStrike" kern="1200" dirty="0">
                    <a:solidFill>
                      <a:schemeClr val="tx1"/>
                    </a:solidFill>
                    <a:effectLst/>
                    <a:latin typeface="+mn-lt"/>
                    <a:ea typeface="+mn-ea"/>
                    <a:cs typeface="+mn-cs"/>
                  </a:rPr>
                  <a:t>{ "phase1": { "action":"+30°", "horizon":8, "stop":"sep≥5NM" }, "phase2": { "action":"–20°", "horizon":6, "stop":"XTD≤1NM" } } </a:t>
                </a:r>
              </a:p>
              <a:p>
                <a:r>
                  <a:rPr lang="en-SG" sz="1200" b="1" i="0" u="none" strike="noStrike" kern="1200" dirty="0">
                    <a:solidFill>
                      <a:schemeClr val="tx1"/>
                    </a:solidFill>
                    <a:effectLst/>
                    <a:latin typeface="+mn-lt"/>
                    <a:ea typeface="+mn-ea"/>
                    <a:cs typeface="+mn-cs"/>
                  </a:rPr>
                  <a:t>Encode separately</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Run phase1 text through your plan-MLP → plan-vector₁.</a:t>
                </a:r>
              </a:p>
              <a:p>
                <a:pPr lvl="1"/>
                <a:r>
                  <a:rPr lang="en-SG" sz="1200" b="0" i="0" u="none" strike="noStrike" kern="1200" dirty="0">
                    <a:solidFill>
                      <a:schemeClr val="tx1"/>
                    </a:solidFill>
                    <a:effectLst/>
                    <a:latin typeface="+mn-lt"/>
                    <a:ea typeface="+mn-ea"/>
                    <a:cs typeface="+mn-cs"/>
                  </a:rPr>
                  <a:t>Run phase2 text through the same plan-MLP → plan-vector₂.</a:t>
                </a:r>
              </a:p>
              <a:p>
                <a:r>
                  <a:rPr lang="en-SG" sz="1200" b="1" i="0" u="none" strike="noStrike" kern="1200" dirty="0">
                    <a:solidFill>
                      <a:schemeClr val="tx1"/>
                    </a:solidFill>
                    <a:effectLst/>
                    <a:latin typeface="+mn-lt"/>
                    <a:ea typeface="+mn-ea"/>
                    <a:cs typeface="+mn-cs"/>
                  </a:rPr>
                  <a:t>At each real step</a:t>
                </a:r>
                <a:endParaRPr lang="en-SG" sz="1200" b="0" i="0" u="none" strike="noStrike" kern="1200" dirty="0">
                  <a:solidFill>
                    <a:schemeClr val="tx1"/>
                  </a:solidFill>
                  <a:effectLst/>
                  <a:latin typeface="+mn-lt"/>
                  <a:ea typeface="+mn-ea"/>
                  <a:cs typeface="+mn-cs"/>
                </a:endParaRPr>
              </a:p>
              <a:p>
                <a:pPr lvl="1"/>
                <a:r>
                  <a:rPr lang="en-SG" sz="1200" b="1" i="0" u="none" strike="noStrike" kern="1200" dirty="0">
                    <a:solidFill>
                      <a:schemeClr val="tx1"/>
                    </a:solidFill>
                    <a:effectLst/>
                    <a:latin typeface="+mn-lt"/>
                    <a:ea typeface="+mn-ea"/>
                    <a:cs typeface="+mn-cs"/>
                  </a:rPr>
                  <a:t>If still in phase 1</a:t>
                </a:r>
                <a:r>
                  <a:rPr lang="en-SG" sz="1200" b="0" i="0" u="none" strike="noStrike" kern="1200" dirty="0">
                    <a:solidFill>
                      <a:schemeClr val="tx1"/>
                    </a:solidFill>
                    <a:effectLst/>
                    <a:latin typeface="+mn-lt"/>
                    <a:ea typeface="+mn-ea"/>
                    <a:cs typeface="+mn-cs"/>
                  </a:rPr>
                  <a:t> (haven’t met its stop condition and haven’t hit 8 steps):</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 Fuse state-vector + plan-vector₁ via self-attention (with 2–3 loops) → decide action.</a:t>
                </a:r>
              </a:p>
              <a:p>
                <a:pPr lvl="1"/>
                <a:r>
                  <a:rPr lang="en-SG" sz="1200" b="1" i="0" u="none" strike="noStrike" kern="1200" dirty="0">
                    <a:solidFill>
                      <a:schemeClr val="tx1"/>
                    </a:solidFill>
                    <a:effectLst/>
                    <a:latin typeface="+mn-lt"/>
                    <a:ea typeface="+mn-ea"/>
                    <a:cs typeface="+mn-cs"/>
                  </a:rPr>
                  <a:t>Otherwise</a:t>
                </a:r>
                <a:r>
                  <a:rPr lang="en-SG" sz="1200" b="0" i="0" u="none" strike="noStrike" kern="1200" dirty="0">
                    <a:solidFill>
                      <a:schemeClr val="tx1"/>
                    </a:solidFill>
                    <a:effectLst/>
                    <a:latin typeface="+mn-lt"/>
                    <a:ea typeface="+mn-ea"/>
                    <a:cs typeface="+mn-cs"/>
                  </a:rPr>
                  <a:t>, switch to </a:t>
                </a:r>
                <a:r>
                  <a:rPr lang="en-SG" sz="1200" b="1" i="0" u="none" strike="noStrike" kern="1200" dirty="0">
                    <a:solidFill>
                      <a:schemeClr val="tx1"/>
                    </a:solidFill>
                    <a:effectLst/>
                    <a:latin typeface="+mn-lt"/>
                    <a:ea typeface="+mn-ea"/>
                    <a:cs typeface="+mn-cs"/>
                  </a:rPr>
                  <a:t>phase 2</a:t>
                </a:r>
                <a:r>
                  <a:rPr lang="en-SG" sz="1200" b="0" i="0" u="none" strike="noStrike" kern="1200" dirty="0">
                    <a:solidFill>
                      <a:schemeClr val="tx1"/>
                    </a:solidFill>
                    <a:effectLst/>
                    <a:latin typeface="+mn-lt"/>
                    <a:ea typeface="+mn-ea"/>
                    <a:cs typeface="+mn-cs"/>
                  </a:rPr>
                  <a:t>:</a:t>
                </a:r>
                <a:br>
                  <a:rPr lang="en-SG" sz="1200" b="0" i="0" u="none" strike="noStrike" kern="1200" dirty="0">
                    <a:solidFill>
                      <a:schemeClr val="tx1"/>
                    </a:solidFill>
                    <a:effectLst/>
                    <a:latin typeface="+mn-lt"/>
                    <a:ea typeface="+mn-ea"/>
                    <a:cs typeface="+mn-cs"/>
                  </a:rPr>
                </a:br>
                <a:r>
                  <a:rPr lang="en-SG" sz="1200" b="0" i="0" u="none" strike="noStrike" kern="1200" dirty="0">
                    <a:solidFill>
                      <a:schemeClr val="tx1"/>
                    </a:solidFill>
                    <a:effectLst/>
                    <a:latin typeface="+mn-lt"/>
                    <a:ea typeface="+mn-ea"/>
                    <a:cs typeface="+mn-cs"/>
                  </a:rPr>
                  <a:t>• Fuse state-vector + plan-vector₂ → action, until phase 2’s stop or 6 steps lapse.</a:t>
                </a:r>
              </a:p>
              <a:p>
                <a:r>
                  <a:rPr lang="en-SG" sz="1200" b="1" i="0" u="none" strike="noStrike" kern="1200" dirty="0">
                    <a:solidFill>
                      <a:schemeClr val="tx1"/>
                    </a:solidFill>
                    <a:effectLst/>
                    <a:latin typeface="+mn-lt"/>
                    <a:ea typeface="+mn-ea"/>
                    <a:cs typeface="+mn-cs"/>
                  </a:rPr>
                  <a:t>Why this works</a:t>
                </a:r>
                <a:endParaRPr lang="en-SG" sz="1200" b="0" i="0" u="none" strike="noStrike" kern="1200" dirty="0">
                  <a:solidFill>
                    <a:schemeClr val="tx1"/>
                  </a:solidFill>
                  <a:effectLst/>
                  <a:latin typeface="+mn-lt"/>
                  <a:ea typeface="+mn-ea"/>
                  <a:cs typeface="+mn-cs"/>
                </a:endParaRPr>
              </a:p>
              <a:p>
                <a:pPr lvl="1"/>
                <a:r>
                  <a:rPr lang="en-SG" sz="1200" b="0" i="0" u="none" strike="noStrike" kern="1200" dirty="0">
                    <a:solidFill>
                      <a:schemeClr val="tx1"/>
                    </a:solidFill>
                    <a:effectLst/>
                    <a:latin typeface="+mn-lt"/>
                    <a:ea typeface="+mn-ea"/>
                    <a:cs typeface="+mn-cs"/>
                  </a:rPr>
                  <a:t>You maintain </a:t>
                </a:r>
                <a:r>
                  <a:rPr lang="en-SG" sz="1200" b="1" i="0" u="none" strike="noStrike" kern="1200" dirty="0">
                    <a:solidFill>
                      <a:schemeClr val="tx1"/>
                    </a:solidFill>
                    <a:effectLst/>
                    <a:latin typeface="+mn-lt"/>
                    <a:ea typeface="+mn-ea"/>
                    <a:cs typeface="+mn-cs"/>
                  </a:rPr>
                  <a:t>consistency</a:t>
                </a:r>
                <a:r>
                  <a:rPr lang="en-SG" sz="1200" b="0" i="0" u="none" strike="noStrike" kern="1200" dirty="0">
                    <a:solidFill>
                      <a:schemeClr val="tx1"/>
                    </a:solidFill>
                    <a:effectLst/>
                    <a:latin typeface="+mn-lt"/>
                    <a:ea typeface="+mn-ea"/>
                    <a:cs typeface="+mn-cs"/>
                  </a:rPr>
                  <a:t>: for each phase you hold a single plan-vector constant across its entire horizon.</a:t>
                </a:r>
              </a:p>
              <a:p>
                <a:pPr lvl="1"/>
                <a:r>
                  <a:rPr lang="en-SG" sz="1200" b="0" i="0" u="none" strike="noStrike" kern="1200" dirty="0">
                    <a:solidFill>
                      <a:schemeClr val="tx1"/>
                    </a:solidFill>
                    <a:effectLst/>
                    <a:latin typeface="+mn-lt"/>
                    <a:ea typeface="+mn-ea"/>
                    <a:cs typeface="+mn-cs"/>
                  </a:rPr>
                  <a:t>You get </a:t>
                </a:r>
                <a:r>
                  <a:rPr lang="en-SG" sz="1200" b="1" i="0" u="none" strike="noStrike" kern="1200" dirty="0">
                    <a:solidFill>
                      <a:schemeClr val="tx1"/>
                    </a:solidFill>
                    <a:effectLst/>
                    <a:latin typeface="+mn-lt"/>
                    <a:ea typeface="+mn-ea"/>
                    <a:cs typeface="+mn-cs"/>
                  </a:rPr>
                  <a:t>clean hand-off</a:t>
                </a:r>
                <a:r>
                  <a:rPr lang="en-SG" sz="1200" b="0" i="0" u="none" strike="noStrike" kern="1200" dirty="0">
                    <a:solidFill>
                      <a:schemeClr val="tx1"/>
                    </a:solidFill>
                    <a:effectLst/>
                    <a:latin typeface="+mn-lt"/>
                    <a:ea typeface="+mn-ea"/>
                    <a:cs typeface="+mn-cs"/>
                  </a:rPr>
                  <a:t>: when phase 1 ends, you simply swap to the new embedding for phase 2.</a:t>
                </a:r>
              </a:p>
              <a:p>
                <a:pPr lvl="1"/>
                <a:r>
                  <a:rPr lang="en-SG" sz="1200" b="0" i="0" u="none" strike="noStrike" kern="1200" dirty="0">
                    <a:solidFill>
                      <a:schemeClr val="tx1"/>
                    </a:solidFill>
                    <a:effectLst/>
                    <a:latin typeface="+mn-lt"/>
                    <a:ea typeface="+mn-ea"/>
                    <a:cs typeface="+mn-cs"/>
                  </a:rPr>
                  <a:t>Self-attention still only ever sees </a:t>
                </a:r>
                <a:r>
                  <a:rPr lang="en-SG" sz="1200" b="1" i="0" u="none" strike="noStrike" kern="1200" dirty="0">
                    <a:solidFill>
                      <a:schemeClr val="tx1"/>
                    </a:solidFill>
                    <a:effectLst/>
                    <a:latin typeface="+mn-lt"/>
                    <a:ea typeface="+mn-ea"/>
                    <a:cs typeface="+mn-cs"/>
                  </a:rPr>
                  <a:t>one</a:t>
                </a:r>
                <a:r>
                  <a:rPr lang="en-SG" sz="1200" b="0" i="0" u="none" strike="noStrike" kern="1200" dirty="0">
                    <a:solidFill>
                      <a:schemeClr val="tx1"/>
                    </a:solidFill>
                    <a:effectLst/>
                    <a:latin typeface="+mn-lt"/>
                    <a:ea typeface="+mn-ea"/>
                    <a:cs typeface="+mn-cs"/>
                  </a:rPr>
                  <a:t> plan-vector at a time, so it’s always a single attention fusion per step.</a:t>
                </a:r>
              </a:p>
              <a:p>
                <a:r>
                  <a:rPr lang="en-SG" sz="1200" b="1" i="0" u="none" strike="noStrike" kern="1200" dirty="0">
                    <a:solidFill>
                      <a:schemeClr val="tx1"/>
                    </a:solidFill>
                    <a:effectLst/>
                    <a:latin typeface="+mn-lt"/>
                    <a:ea typeface="+mn-ea"/>
                    <a:cs typeface="+mn-cs"/>
                  </a:rPr>
                  <a:t>---------------------------------------------------------------------------------------------------------------------</a:t>
                </a:r>
                <a:endParaRPr lang="en-SG" sz="1200" b="0" i="0" u="none" strike="noStrike" kern="1200" dirty="0">
                  <a:solidFill>
                    <a:schemeClr val="tx1"/>
                  </a:solidFill>
                  <a:effectLst/>
                  <a:latin typeface="+mn-lt"/>
                  <a:ea typeface="+mn-ea"/>
                  <a:cs typeface="+mn-cs"/>
                </a:endParaRP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8. </a:t>
                </a:r>
                <a:r>
                  <a:rPr lang="en-SG" sz="1200" b="1" kern="1200" dirty="0">
                    <a:solidFill>
                      <a:schemeClr val="tx1"/>
                    </a:solidFill>
                    <a:effectLst/>
                    <a:latin typeface="+mn-lt"/>
                    <a:ea typeface="+mn-ea"/>
                    <a:cs typeface="+mn-cs"/>
                  </a:rPr>
                  <a:t>Why do we self- attention, not cross attention?</a:t>
                </a:r>
              </a:p>
              <a:p>
                <a:r>
                  <a:rPr lang="en-SG" sz="1200" kern="1200" dirty="0">
                    <a:solidFill>
                      <a:schemeClr val="tx1"/>
                    </a:solidFill>
                    <a:effectLst/>
                    <a:latin typeface="+mn-lt"/>
                    <a:ea typeface="+mn-ea"/>
                    <a:cs typeface="+mn-cs"/>
                  </a:rPr>
                  <a:t>self-attention over the concatenated [state; plan] lets you mix both inputs in one shot with a single module. Cross-attention would require separate “query” vs. “key/value” pathways, increasing code and parameter overhead.</a:t>
                </a:r>
              </a:p>
              <a:p>
                <a:r>
                  <a:rPr lang="en-SG" sz="1200" kern="1200" dirty="0">
                    <a:solidFill>
                      <a:schemeClr val="tx1"/>
                    </a:solidFill>
                    <a:effectLst/>
                    <a:latin typeface="+mn-lt"/>
                    <a:ea typeface="+mn-ea"/>
                    <a:cs typeface="+mn-cs"/>
                  </a:rPr>
                  <a:t>Self-attention reuses the same weights for all interactions; cross-attention doubles up (you need separate projections), so it’s costlier per step.</a:t>
                </a:r>
              </a:p>
              <a:p>
                <a:r>
                  <a:rPr lang="en-SG" sz="1200" b="1" i="0" u="none" strike="noStrike" kern="1200" dirty="0">
                    <a:solidFill>
                      <a:schemeClr val="tx1"/>
                    </a:solidFill>
                    <a:effectLst/>
                    <a:latin typeface="+mn-lt"/>
                    <a:ea typeface="+mn-ea"/>
                    <a:cs typeface="+mn-cs"/>
                  </a:rPr>
                  <a:t>---------------------------------------------------------------------------------------------------------------------</a:t>
                </a:r>
              </a:p>
              <a:p>
                <a:endParaRPr lang="en-SG" sz="1200" b="1" i="0" u="none" strike="noStrike" kern="1200" dirty="0">
                  <a:solidFill>
                    <a:schemeClr val="tx1"/>
                  </a:solidFill>
                  <a:effectLst/>
                  <a:latin typeface="+mn-lt"/>
                  <a:ea typeface="+mn-ea"/>
                  <a:cs typeface="+mn-cs"/>
                </a:endParaRPr>
              </a:p>
              <a:p>
                <a:r>
                  <a:rPr lang="en-SG" sz="1200" b="1" i="0" u="none" strike="noStrike" kern="1200" dirty="0">
                    <a:solidFill>
                      <a:schemeClr val="tx1"/>
                    </a:solidFill>
                    <a:effectLst/>
                    <a:latin typeface="+mn-lt"/>
                    <a:ea typeface="+mn-ea"/>
                    <a:cs typeface="+mn-cs"/>
                  </a:rPr>
                  <a:t>9. Do we need a memory context for the LLM in the beginning or can we start with no-data?</a:t>
                </a:r>
              </a:p>
              <a:p>
                <a:r>
                  <a:rPr lang="en-SG" sz="1200" b="0" i="0" u="none" strike="noStrike" kern="1200" dirty="0">
                    <a:solidFill>
                      <a:schemeClr val="tx1"/>
                    </a:solidFill>
                    <a:effectLst/>
                    <a:latin typeface="+mn-lt"/>
                    <a:ea typeface="+mn-ea"/>
                    <a:cs typeface="+mn-cs"/>
                  </a:rPr>
                  <a:t>We can start with </a:t>
                </a:r>
                <a:r>
                  <a:rPr lang="en-SG" sz="1200" b="1" i="0" u="none" strike="noStrike" kern="1200" dirty="0">
                    <a:solidFill>
                      <a:schemeClr val="tx1"/>
                    </a:solidFill>
                    <a:effectLst/>
                    <a:latin typeface="+mn-lt"/>
                    <a:ea typeface="+mn-ea"/>
                    <a:cs typeface="+mn-cs"/>
                  </a:rPr>
                  <a:t>zero</a:t>
                </a:r>
                <a:r>
                  <a:rPr lang="en-SG" sz="1200" b="0" i="0" u="none" strike="noStrike" kern="1200" dirty="0">
                    <a:solidFill>
                      <a:schemeClr val="tx1"/>
                    </a:solidFill>
                    <a:effectLst/>
                    <a:latin typeface="+mn-lt"/>
                    <a:ea typeface="+mn-ea"/>
                    <a:cs typeface="+mn-cs"/>
                  </a:rPr>
                  <a:t> memory entries. Just give the LLM the </a:t>
                </a:r>
                <a:r>
                  <a:rPr lang="en-SG" sz="1200" b="1" i="0" u="none" strike="noStrike" kern="1200" dirty="0">
                    <a:solidFill>
                      <a:schemeClr val="tx1"/>
                    </a:solidFill>
                    <a:effectLst/>
                    <a:latin typeface="+mn-lt"/>
                    <a:ea typeface="+mn-ea"/>
                    <a:cs typeface="+mn-cs"/>
                  </a:rPr>
                  <a:t>bare essentials</a:t>
                </a:r>
                <a:r>
                  <a:rPr lang="en-SG" sz="1200" b="0" i="0" u="none" strike="noStrike" kern="1200" dirty="0">
                    <a:solidFill>
                      <a:schemeClr val="tx1"/>
                    </a:solidFill>
                    <a:effectLst/>
                    <a:latin typeface="+mn-lt"/>
                    <a:ea typeface="+mn-ea"/>
                    <a:cs typeface="+mn-cs"/>
                  </a:rPr>
                  <a:t> and let the first few successes build our case base.</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CURRENT SITUATION:</a:t>
                </a:r>
              </a:p>
              <a:p>
                <a:r>
                  <a:rPr lang="en-SG" sz="1200" b="0" i="0" u="none" strike="noStrike" kern="1200" dirty="0">
                    <a:solidFill>
                      <a:schemeClr val="tx1"/>
                    </a:solidFill>
                    <a:effectLst/>
                    <a:latin typeface="+mn-lt"/>
                    <a:ea typeface="+mn-ea"/>
                    <a:cs typeface="+mn-cs"/>
                  </a:rPr>
                  <a:t>  • Aircraft A vs B: bearing 45°, 4 NM apart, closing at 300 kt  </a:t>
                </a:r>
              </a:p>
              <a:p>
                <a:r>
                  <a:rPr lang="en-SG" sz="1200" b="0" i="0" u="none" strike="noStrike" kern="1200" dirty="0">
                    <a:solidFill>
                      <a:schemeClr val="tx1"/>
                    </a:solidFill>
                    <a:effectLst/>
                    <a:latin typeface="+mn-lt"/>
                    <a:ea typeface="+mn-ea"/>
                    <a:cs typeface="+mn-cs"/>
                  </a:rPr>
                  <a:t>  • Weather: storm cell 10 NM east  </a:t>
                </a:r>
              </a:p>
              <a:p>
                <a:r>
                  <a:rPr lang="en-SG" sz="1200" b="0" i="0" u="none" strike="noStrike" kern="1200" dirty="0">
                    <a:solidFill>
                      <a:schemeClr val="tx1"/>
                    </a:solidFill>
                    <a:effectLst/>
                    <a:latin typeface="+mn-lt"/>
                    <a:ea typeface="+mn-ea"/>
                    <a:cs typeface="+mn-cs"/>
                  </a:rPr>
                  <a:t>  • Emergency flag: false  </a:t>
                </a:r>
              </a:p>
              <a:p>
                <a:r>
                  <a:rPr lang="en-SG" sz="1200" b="0" i="0" u="none" strike="noStrike" kern="1200" dirty="0">
                    <a:solidFill>
                      <a:schemeClr val="tx1"/>
                    </a:solidFill>
                    <a:effectLst/>
                    <a:latin typeface="+mn-lt"/>
                    <a:ea typeface="+mn-ea"/>
                    <a:cs typeface="+mn-cs"/>
                  </a:rPr>
                  <a:t>  • Desired exit heading: 270°</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RULES:</a:t>
                </a:r>
              </a:p>
              <a:p>
                <a:r>
                  <a:rPr lang="en-SG" sz="1200" b="0" i="0" u="none" strike="noStrike" kern="1200" dirty="0">
                    <a:solidFill>
                      <a:schemeClr val="tx1"/>
                    </a:solidFill>
                    <a:effectLst/>
                    <a:latin typeface="+mn-lt"/>
                    <a:ea typeface="+mn-ea"/>
                    <a:cs typeface="+mn-cs"/>
                  </a:rPr>
                  <a:t>  – Keep at least 5 NM separation  </a:t>
                </a:r>
              </a:p>
              <a:p>
                <a:r>
                  <a:rPr lang="en-SG" sz="1200" b="0" i="0" u="none" strike="noStrike" kern="1200" dirty="0">
                    <a:solidFill>
                      <a:schemeClr val="tx1"/>
                    </a:solidFill>
                    <a:effectLst/>
                    <a:latin typeface="+mn-lt"/>
                    <a:ea typeface="+mn-ea"/>
                    <a:cs typeface="+mn-cs"/>
                  </a:rPr>
                  <a:t>  – No-go zone east of waypoint X  </a:t>
                </a:r>
              </a:p>
              <a:p>
                <a:r>
                  <a:rPr lang="en-SG" sz="1200" b="0" i="0" u="none" strike="noStrike" kern="1200" dirty="0">
                    <a:solidFill>
                      <a:schemeClr val="tx1"/>
                    </a:solidFill>
                    <a:effectLst/>
                    <a:latin typeface="+mn-lt"/>
                    <a:ea typeface="+mn-ea"/>
                    <a:cs typeface="+mn-cs"/>
                  </a:rPr>
                  <a:t>  – Return to 270° once conflict is cleared</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TASK:</a:t>
                </a:r>
              </a:p>
              <a:p>
                <a:r>
                  <a:rPr lang="en-SG" sz="1200" b="0" i="0" u="none" strike="noStrike" kern="1200" dirty="0">
                    <a:solidFill>
                      <a:schemeClr val="tx1"/>
                    </a:solidFill>
                    <a:effectLst/>
                    <a:latin typeface="+mn-lt"/>
                    <a:ea typeface="+mn-ea"/>
                    <a:cs typeface="+mn-cs"/>
                  </a:rPr>
                  <a:t>  1. Suggest a two-phase recovery plan in JSON:</a:t>
                </a:r>
              </a:p>
              <a:p>
                <a:r>
                  <a:rPr lang="en-SG" sz="1200" b="0" i="0" u="none" strike="noStrike" kern="1200" dirty="0">
                    <a:solidFill>
                      <a:schemeClr val="tx1"/>
                    </a:solidFill>
                    <a:effectLst/>
                    <a:latin typeface="+mn-lt"/>
                    <a:ea typeface="+mn-ea"/>
                    <a:cs typeface="+mn-cs"/>
                  </a:rPr>
                  <a:t>     • Phase 1: how to avoid the conflict (action, max steps, stop condition)  </a:t>
                </a:r>
              </a:p>
              <a:p>
                <a:r>
                  <a:rPr lang="en-SG" sz="1200" b="0" i="0" u="none" strike="noStrike" kern="1200" dirty="0">
                    <a:solidFill>
                      <a:schemeClr val="tx1"/>
                    </a:solidFill>
                    <a:effectLst/>
                    <a:latin typeface="+mn-lt"/>
                    <a:ea typeface="+mn-ea"/>
                    <a:cs typeface="+mn-cs"/>
                  </a:rPr>
                  <a:t>     • Phase 2: how to merge back (action, max steps, stop condition)  </a:t>
                </a:r>
              </a:p>
              <a:p>
                <a:r>
                  <a:rPr lang="en-SG" sz="1200" b="0" i="0" u="none" strike="noStrike" kern="1200" dirty="0">
                    <a:solidFill>
                      <a:schemeClr val="tx1"/>
                    </a:solidFill>
                    <a:effectLst/>
                    <a:latin typeface="+mn-lt"/>
                    <a:ea typeface="+mn-ea"/>
                    <a:cs typeface="+mn-cs"/>
                  </a:rPr>
                  <a:t>  2. Estimate steps for each phase.</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Return only valid JSON.</a:t>
                </a:r>
              </a:p>
              <a:p>
                <a:r>
                  <a:rPr lang="en-SG" sz="1200" b="1" i="0" u="none" strike="noStrike" kern="1200" dirty="0">
                    <a:solidFill>
                      <a:schemeClr val="tx1"/>
                    </a:solidFill>
                    <a:effectLst/>
                    <a:latin typeface="+mn-lt"/>
                    <a:ea typeface="+mn-ea"/>
                    <a:cs typeface="+mn-cs"/>
                  </a:rPr>
                  <a:t>---------------------------------------------------------------------------------------------------------------------</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endParaRPr lang="en-US" dirty="0"/>
              </a:p>
            </p:txBody>
          </p:sp>
        </mc:Fallback>
      </mc:AlternateContent>
      <p:sp>
        <p:nvSpPr>
          <p:cNvPr id="4" name="Slide Number Placeholder 3">
            <a:extLst>
              <a:ext uri="{FF2B5EF4-FFF2-40B4-BE49-F238E27FC236}">
                <a16:creationId xmlns:a16="http://schemas.microsoft.com/office/drawing/2014/main" id="{153499FB-828A-0922-282E-34A8CCC40285}"/>
              </a:ext>
            </a:extLst>
          </p:cNvPr>
          <p:cNvSpPr>
            <a:spLocks noGrp="1"/>
          </p:cNvSpPr>
          <p:nvPr>
            <p:ph type="sldNum" sz="quarter" idx="5"/>
          </p:nvPr>
        </p:nvSpPr>
        <p:spPr/>
        <p:txBody>
          <a:bodyPr/>
          <a:lstStyle/>
          <a:p>
            <a:fld id="{7F51A7D7-8F41-8049-90E5-C84D065AEA28}" type="slidenum">
              <a:rPr lang="en-US" smtClean="0"/>
              <a:t>12</a:t>
            </a:fld>
            <a:endParaRPr lang="en-US"/>
          </a:p>
        </p:txBody>
      </p:sp>
    </p:spTree>
    <p:extLst>
      <p:ext uri="{BB962C8B-B14F-4D97-AF65-F5344CB8AC3E}">
        <p14:creationId xmlns:p14="http://schemas.microsoft.com/office/powerpoint/2010/main" val="2940686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51A7D7-8F41-8049-90E5-C84D065AEA28}" type="slidenum">
              <a:rPr lang="en-US" smtClean="0"/>
              <a:t>14</a:t>
            </a:fld>
            <a:endParaRPr lang="en-US"/>
          </a:p>
        </p:txBody>
      </p:sp>
    </p:spTree>
    <p:extLst>
      <p:ext uri="{BB962C8B-B14F-4D97-AF65-F5344CB8AC3E}">
        <p14:creationId xmlns:p14="http://schemas.microsoft.com/office/powerpoint/2010/main" val="3935513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20864-B922-BF0D-94C3-0A2261229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EE733-0F74-CFC2-EA3B-185D77588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A132D-9483-0648-1944-63E77604BFC8}"/>
              </a:ext>
            </a:extLst>
          </p:cNvPr>
          <p:cNvSpPr>
            <a:spLocks noGrp="1"/>
          </p:cNvSpPr>
          <p:nvPr>
            <p:ph type="body" idx="1"/>
          </p:nvPr>
        </p:nvSpPr>
        <p:spPr/>
        <p:txBody>
          <a:bodyPr/>
          <a:lstStyle/>
          <a:p>
            <a:r>
              <a:rPr lang="en-SG" sz="1000" b="1" dirty="0"/>
              <a:t>Observation state</a:t>
            </a:r>
            <a:r>
              <a:rPr lang="en-SG" sz="1000" dirty="0"/>
              <a:t>: At each time step t, the agent observes</a:t>
            </a:r>
          </a:p>
          <a:p>
            <a:r>
              <a:rPr lang="en-SG" sz="1000" dirty="0"/>
              <a:t>A </a:t>
            </a:r>
            <a:r>
              <a:rPr lang="en-SG" sz="1000" b="1" dirty="0"/>
              <a:t>neighbour matrix</a:t>
            </a:r>
            <a:r>
              <a:rPr lang="en-SG" sz="1000" dirty="0"/>
              <a:t> </a:t>
            </a:r>
            <a:r>
              <a:rPr lang="en-SG" sz="1000" dirty="0" err="1"/>
              <a:t>X</a:t>
            </a:r>
            <a:r>
              <a:rPr lang="en-SG" sz="1000" baseline="-25000" dirty="0" err="1"/>
              <a:t>t</a:t>
            </a:r>
            <a:r>
              <a:rPr lang="en-SG" sz="1000" dirty="0" err="1"/>
              <a:t>∈R</a:t>
            </a:r>
            <a:r>
              <a:rPr lang="en-SG" sz="1000" baseline="30000" dirty="0" err="1"/>
              <a:t>d×N</a:t>
            </a:r>
            <a:r>
              <a:rPr lang="en-SG" sz="1000" dirty="0"/>
              <a:t>, where each column </a:t>
            </a:r>
            <a:r>
              <a:rPr lang="en-SG" sz="1000" dirty="0" err="1"/>
              <a:t>x</a:t>
            </a:r>
            <a:r>
              <a:rPr lang="en-SG" sz="1000" baseline="-25000" dirty="0" err="1"/>
              <a:t>t</a:t>
            </a:r>
            <a:r>
              <a:rPr lang="en-SG" sz="1000" baseline="-25000" dirty="0"/>
              <a:t>(</a:t>
            </a:r>
            <a:r>
              <a:rPr lang="en-SG" sz="1000" baseline="-25000" dirty="0" err="1"/>
              <a:t>i</a:t>
            </a:r>
            <a:r>
              <a:rPr lang="en-SG" sz="1000" baseline="-25000" dirty="0"/>
              <a:t>). </a:t>
            </a:r>
            <a:r>
              <a:rPr lang="en-SG" sz="1000" dirty="0"/>
              <a:t>is a feature vector [</a:t>
            </a:r>
            <a:r>
              <a:rPr lang="en-SG" sz="1000" dirty="0" err="1"/>
              <a:t>px,py,vx,vy</a:t>
            </a:r>
            <a:r>
              <a:rPr lang="en-SG" sz="1000" dirty="0"/>
              <a:t>,</a:t>
            </a:r>
            <a:r>
              <a:rPr lang="el-GR" sz="1000" dirty="0"/>
              <a:t>θ] </a:t>
            </a:r>
            <a:r>
              <a:rPr lang="en-SG" sz="1000" dirty="0"/>
              <a:t>encoding </a:t>
            </a:r>
            <a:r>
              <a:rPr lang="en-SG" sz="1000" b="1" dirty="0"/>
              <a:t>the position, velocity, and orientation of up to N nearby vehicles</a:t>
            </a:r>
            <a:r>
              <a:rPr lang="en-SG" sz="1000" dirty="0"/>
              <a:t>.</a:t>
            </a:r>
          </a:p>
          <a:p>
            <a:r>
              <a:rPr lang="en-SG" sz="1000" dirty="0"/>
              <a:t>An </a:t>
            </a:r>
            <a:r>
              <a:rPr lang="en-SG" sz="1000" b="1" dirty="0"/>
              <a:t>ego-state vector</a:t>
            </a:r>
            <a:r>
              <a:rPr lang="en-SG" sz="1000" dirty="0"/>
              <a:t> e</a:t>
            </a:r>
            <a:r>
              <a:rPr lang="en-SG" sz="1000" baseline="-25000" dirty="0"/>
              <a:t>t</a:t>
            </a:r>
            <a:r>
              <a:rPr lang="en-SG" sz="1000" dirty="0"/>
              <a:t>​ describing the agent’s own position, velocity, and heading.</a:t>
            </a:r>
            <a:br>
              <a:rPr lang="en-SG" sz="1000" dirty="0"/>
            </a:br>
            <a:r>
              <a:rPr lang="en-SG" sz="1000" dirty="0"/>
              <a:t>These two parts are concatenated to form the compact observation </a:t>
            </a:r>
            <a:r>
              <a:rPr lang="en-SG" sz="1000" dirty="0" err="1"/>
              <a:t>o</a:t>
            </a:r>
            <a:r>
              <a:rPr lang="en-SG" sz="1000" baseline="-25000" dirty="0" err="1"/>
              <a:t>t</a:t>
            </a:r>
            <a:r>
              <a:rPr lang="en-SG" sz="1000" dirty="0"/>
              <a:t>​. </a:t>
            </a:r>
            <a:r>
              <a:rPr lang="en-SG" sz="1000" dirty="0">
                <a:hlinkClick r:id="rId3"/>
              </a:rPr>
              <a:t>arXiv</a:t>
            </a:r>
            <a:endParaRPr lang="en-SG" sz="1000" dirty="0"/>
          </a:p>
          <a:p>
            <a:r>
              <a:rPr lang="en-SG" sz="1000" b="1" dirty="0"/>
              <a:t>Action space</a:t>
            </a:r>
            <a:r>
              <a:rPr lang="en-SG" sz="1000" dirty="0"/>
              <a:t>: A discrete set of five high-level </a:t>
            </a:r>
            <a:r>
              <a:rPr lang="en-SG" sz="1000" dirty="0" err="1"/>
              <a:t>maneuvers</a:t>
            </a:r>
            <a:endParaRPr lang="en-SG" sz="1000" dirty="0"/>
          </a:p>
          <a:p>
            <a:r>
              <a:rPr lang="en-SG" sz="1000" dirty="0"/>
              <a:t>A={Accelerate, Decelerate, </a:t>
            </a:r>
            <a:r>
              <a:rPr lang="en-SG" sz="1000" dirty="0" err="1"/>
              <a:t>TurnLeft</a:t>
            </a:r>
            <a:r>
              <a:rPr lang="en-SG" sz="1000" dirty="0"/>
              <a:t>, </a:t>
            </a:r>
            <a:r>
              <a:rPr lang="en-SG" sz="1000" dirty="0" err="1"/>
              <a:t>TurnRight</a:t>
            </a:r>
            <a:r>
              <a:rPr lang="en-SG" sz="1000" dirty="0"/>
              <a:t>, </a:t>
            </a:r>
            <a:r>
              <a:rPr lang="en-SG" sz="1000" dirty="0" err="1"/>
              <a:t>MaintainSpeed</a:t>
            </a:r>
            <a:r>
              <a:rPr lang="en-SG" sz="1000" dirty="0"/>
              <a:t>}. A={Accelerate, Decelerate, </a:t>
            </a:r>
            <a:r>
              <a:rPr lang="en-SG" sz="1000" dirty="0" err="1"/>
              <a:t>TurnLeft</a:t>
            </a:r>
            <a:r>
              <a:rPr lang="en-SG" sz="1000" dirty="0"/>
              <a:t>, </a:t>
            </a:r>
            <a:r>
              <a:rPr lang="en-SG" sz="1000" dirty="0" err="1"/>
              <a:t>TurnRight</a:t>
            </a:r>
            <a:r>
              <a:rPr lang="en-SG" sz="1000" dirty="0"/>
              <a:t>, </a:t>
            </a:r>
            <a:r>
              <a:rPr lang="en-SG" sz="1000" dirty="0" err="1"/>
              <a:t>MaintainSpeed</a:t>
            </a:r>
            <a:r>
              <a:rPr lang="en-SG" sz="1000" dirty="0"/>
              <a:t>}. Once a </a:t>
            </a:r>
            <a:r>
              <a:rPr lang="en-SG" sz="1000" dirty="0" err="1"/>
              <a:t>maneuver</a:t>
            </a:r>
            <a:r>
              <a:rPr lang="en-SG" sz="1000" dirty="0"/>
              <a:t> is chosen, a lower-level PID controller generates the actual steering and throttle commands. </a:t>
            </a:r>
          </a:p>
          <a:p>
            <a:endParaRPr lang="en-SG"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0" i="0" u="none" strike="noStrike" kern="1200" dirty="0">
                <a:solidFill>
                  <a:schemeClr val="tx1"/>
                </a:solidFill>
                <a:effectLst/>
                <a:latin typeface="+mn-lt"/>
                <a:ea typeface="+mn-ea"/>
                <a:cs typeface="+mn-cs"/>
              </a:rPr>
              <a:t>----------------------------------------------------------------------------------------------------------------------------------------------------------</a:t>
            </a:r>
            <a:endParaRPr lang="en-SG" sz="1000" b="1"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1" dirty="0"/>
              <a:t>What is the rationale behind the authors using self attention and single step </a:t>
            </a:r>
            <a:r>
              <a:rPr lang="en-SG" sz="1000" b="1" dirty="0" err="1"/>
              <a:t>manuevers</a:t>
            </a:r>
            <a:r>
              <a:rPr lang="en-SG" sz="1000" b="1" dirty="0"/>
              <a:t> from the LLM action?</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The student network sees two inputs—its own state embedding and the teacher’s suggestion embedding. </a:t>
            </a:r>
          </a:p>
          <a:p>
            <a:r>
              <a:rPr lang="en-SG" sz="1000" b="0" i="0" u="none" strike="noStrike" kern="1200" dirty="0">
                <a:solidFill>
                  <a:schemeClr val="tx1"/>
                </a:solidFill>
                <a:effectLst/>
                <a:latin typeface="+mn-lt"/>
                <a:ea typeface="+mn-ea"/>
                <a:cs typeface="+mn-cs"/>
              </a:rPr>
              <a:t>A fixed linear merge (like simple concatenation + MLP) would force a one-size-fits-all blending. Self-attention lets the network </a:t>
            </a:r>
            <a:r>
              <a:rPr lang="en-SG" sz="1000" b="1" i="0" u="none" strike="noStrike" kern="1200" dirty="0">
                <a:solidFill>
                  <a:schemeClr val="tx1"/>
                </a:solidFill>
                <a:effectLst/>
                <a:latin typeface="+mn-lt"/>
                <a:ea typeface="+mn-ea"/>
                <a:cs typeface="+mn-cs"/>
              </a:rPr>
              <a:t>learn</a:t>
            </a:r>
          </a:p>
          <a:p>
            <a:r>
              <a:rPr lang="en-SG" sz="1000" b="0" i="0" u="none" strike="noStrike" kern="1200" dirty="0">
                <a:solidFill>
                  <a:schemeClr val="tx1"/>
                </a:solidFill>
                <a:effectLst/>
                <a:latin typeface="+mn-lt"/>
                <a:ea typeface="+mn-ea"/>
                <a:cs typeface="+mn-cs"/>
              </a:rPr>
              <a:t>when to lean heavily on the teacher and when to rely more on raw observations, on a case-by-case basis.</a:t>
            </a:r>
          </a:p>
          <a:p>
            <a:r>
              <a:rPr lang="en-SG" sz="1000" b="1" i="0" u="none" strike="noStrike" kern="1200" dirty="0">
                <a:solidFill>
                  <a:schemeClr val="tx1"/>
                </a:solidFill>
                <a:effectLst/>
                <a:latin typeface="+mn-lt"/>
                <a:ea typeface="+mn-ea"/>
                <a:cs typeface="+mn-cs"/>
              </a:rPr>
              <a:t>Multi-Head Insights:</a:t>
            </a:r>
            <a:r>
              <a:rPr lang="en-SG" sz="1000" b="0" i="0" u="none" strike="noStrike" kern="1200" dirty="0">
                <a:solidFill>
                  <a:schemeClr val="tx1"/>
                </a:solidFill>
                <a:effectLst/>
                <a:latin typeface="+mn-lt"/>
                <a:ea typeface="+mn-ea"/>
                <a:cs typeface="+mn-cs"/>
              </a:rPr>
              <a:t> With multiple attention heads, the model can attend to different “angles” of the teacher vs. state signals </a:t>
            </a:r>
          </a:p>
          <a:p>
            <a:endParaRPr lang="en-SG" sz="10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SG" sz="1000" b="0" i="0" u="none" strike="noStrike" kern="1200" dirty="0">
                <a:solidFill>
                  <a:schemeClr val="tx1"/>
                </a:solidFill>
                <a:effectLst/>
                <a:latin typeface="+mn-lt"/>
                <a:ea typeface="+mn-ea"/>
                <a:cs typeface="+mn-cs"/>
              </a:rPr>
              <a:t>----------------------------------------------------------------------------------------------------------------------------------------------------------</a:t>
            </a:r>
            <a:endParaRPr lang="en-US" sz="1000" dirty="0"/>
          </a:p>
          <a:p>
            <a:r>
              <a:rPr lang="en-SG" sz="1000" b="1" i="0" u="none" strike="noStrike" kern="1200" dirty="0">
                <a:solidFill>
                  <a:schemeClr val="tx1"/>
                </a:solidFill>
                <a:effectLst/>
                <a:latin typeface="+mn-lt"/>
                <a:ea typeface="+mn-ea"/>
                <a:cs typeface="+mn-cs"/>
              </a:rPr>
              <a:t>What training scenario have researchers considered</a:t>
            </a:r>
          </a:p>
          <a:p>
            <a:r>
              <a:rPr lang="en-SG" sz="1000" b="1" i="0" u="none" strike="noStrike" kern="1200" dirty="0">
                <a:solidFill>
                  <a:schemeClr val="tx1"/>
                </a:solidFill>
                <a:effectLst/>
                <a:latin typeface="+mn-lt"/>
                <a:ea typeface="+mn-ea"/>
                <a:cs typeface="+mn-cs"/>
              </a:rPr>
              <a:t>Training (Simulation) Scenarios:</a:t>
            </a:r>
            <a:br>
              <a:rPr lang="en-SG" sz="1000" b="0" i="0" u="none" strike="noStrike" kern="1200" dirty="0">
                <a:solidFill>
                  <a:schemeClr val="tx1"/>
                </a:solidFill>
                <a:effectLst/>
                <a:latin typeface="+mn-lt"/>
                <a:ea typeface="+mn-ea"/>
                <a:cs typeface="+mn-cs"/>
              </a:rPr>
            </a:br>
            <a:r>
              <a:rPr lang="en-SG" sz="1000" b="0" i="0" u="none" strike="noStrike" kern="1200" dirty="0">
                <a:solidFill>
                  <a:schemeClr val="tx1"/>
                </a:solidFill>
                <a:effectLst/>
                <a:latin typeface="+mn-lt"/>
                <a:ea typeface="+mn-ea"/>
                <a:cs typeface="+mn-cs"/>
              </a:rPr>
              <a:t>Built on Highway-Env and OpenAI Gym, the authors designed three progressively challenging tasks:</a:t>
            </a:r>
          </a:p>
          <a:p>
            <a:r>
              <a:rPr lang="en-SG" sz="1000" b="1" i="0" u="none" strike="noStrike" kern="1200" dirty="0">
                <a:solidFill>
                  <a:schemeClr val="tx1"/>
                </a:solidFill>
                <a:effectLst/>
                <a:latin typeface="+mn-lt"/>
                <a:ea typeface="+mn-ea"/>
                <a:cs typeface="+mn-cs"/>
              </a:rPr>
              <a:t>Unsignalized Intersection:</a:t>
            </a:r>
            <a:r>
              <a:rPr lang="en-SG" sz="1000" b="0" i="0" u="none" strike="noStrike" kern="1200" dirty="0">
                <a:solidFill>
                  <a:schemeClr val="tx1"/>
                </a:solidFill>
                <a:effectLst/>
                <a:latin typeface="+mn-lt"/>
                <a:ea typeface="+mn-ea"/>
                <a:cs typeface="+mn-cs"/>
              </a:rPr>
              <a:t> Unprotected left-turn conflict resolution.</a:t>
            </a:r>
          </a:p>
          <a:p>
            <a:r>
              <a:rPr lang="en-SG" sz="1000" b="1" i="0" u="none" strike="noStrike" kern="1200" dirty="0">
                <a:solidFill>
                  <a:schemeClr val="tx1"/>
                </a:solidFill>
                <a:effectLst/>
                <a:latin typeface="+mn-lt"/>
                <a:ea typeface="+mn-ea"/>
                <a:cs typeface="+mn-cs"/>
              </a:rPr>
              <a:t>High-Speed Ramp Merging:</a:t>
            </a:r>
            <a:r>
              <a:rPr lang="en-SG" sz="1000" b="0" i="0" u="none" strike="noStrike" kern="1200" dirty="0">
                <a:solidFill>
                  <a:schemeClr val="tx1"/>
                </a:solidFill>
                <a:effectLst/>
                <a:latin typeface="+mn-lt"/>
                <a:ea typeface="+mn-ea"/>
                <a:cs typeface="+mn-cs"/>
              </a:rPr>
              <a:t> Speed matching and gap selection on an acceleration lane.</a:t>
            </a:r>
          </a:p>
          <a:p>
            <a:r>
              <a:rPr lang="en-SG" sz="1000" b="1" i="0" u="none" strike="noStrike" kern="1200" dirty="0">
                <a:solidFill>
                  <a:schemeClr val="tx1"/>
                </a:solidFill>
                <a:effectLst/>
                <a:latin typeface="+mn-lt"/>
                <a:ea typeface="+mn-ea"/>
                <a:cs typeface="+mn-cs"/>
              </a:rPr>
              <a:t>Four-Lane Adaptive Cruise:</a:t>
            </a:r>
            <a:r>
              <a:rPr lang="en-SG" sz="1000" b="0" i="0" u="none" strike="noStrike" kern="1200" dirty="0">
                <a:solidFill>
                  <a:schemeClr val="tx1"/>
                </a:solidFill>
                <a:effectLst/>
                <a:latin typeface="+mn-lt"/>
                <a:ea typeface="+mn-ea"/>
                <a:cs typeface="+mn-cs"/>
              </a:rPr>
              <a:t> Precise longitudinal control across four lanes, with varying driver profiles and 15 % speed disturbances.</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a:t>
            </a:r>
          </a:p>
          <a:p>
            <a:r>
              <a:rPr lang="en-SG" sz="1000" b="1" i="0" u="none" strike="noStrike" kern="1200" dirty="0">
                <a:solidFill>
                  <a:schemeClr val="tx1"/>
                </a:solidFill>
                <a:effectLst/>
                <a:latin typeface="+mn-lt"/>
                <a:ea typeface="+mn-ea"/>
                <a:cs typeface="+mn-cs"/>
              </a:rPr>
              <a:t>Key novelty:</a:t>
            </a:r>
          </a:p>
          <a:p>
            <a:r>
              <a:rPr lang="en-SG" sz="1000" b="0" i="0" u="none" strike="noStrike" kern="1200" dirty="0">
                <a:solidFill>
                  <a:schemeClr val="tx1"/>
                </a:solidFill>
                <a:effectLst/>
                <a:latin typeface="+mn-lt"/>
                <a:ea typeface="+mn-ea"/>
                <a:cs typeface="+mn-cs"/>
              </a:rPr>
              <a:t>What makes </a:t>
            </a:r>
            <a:r>
              <a:rPr lang="en-SG" sz="1000" b="0" i="0" u="none" strike="noStrike" kern="1200" dirty="0" err="1">
                <a:solidFill>
                  <a:schemeClr val="tx1"/>
                </a:solidFill>
                <a:effectLst/>
                <a:latin typeface="+mn-lt"/>
                <a:ea typeface="+mn-ea"/>
                <a:cs typeface="+mn-cs"/>
              </a:rPr>
              <a:t>TeLL</a:t>
            </a:r>
            <a:r>
              <a:rPr lang="en-SG" sz="1000" b="0" i="0" u="none" strike="noStrike" kern="1200" dirty="0">
                <a:solidFill>
                  <a:schemeClr val="tx1"/>
                </a:solidFill>
                <a:effectLst/>
                <a:latin typeface="+mn-lt"/>
                <a:ea typeface="+mn-ea"/>
                <a:cs typeface="+mn-cs"/>
              </a:rPr>
              <a:t>-Drive stand out is that it doesn’t just fine-tune an LLM or bolt on its advice afterward. Instead, it keeps a small “memory” of real driving experiences, pulls up the closest match to build a simple prompt, and asks the LLM for a one-step suggestion. That suggestion is woven into the student’s network via attention and the student is gently nudged to imitate it early on, then gradually left to learn on its own. On top of that, whenever the student makes a risky move, the system asks the LLM to </a:t>
            </a:r>
            <a:r>
              <a:rPr lang="en-SG" sz="1000" b="0" i="0" u="none" strike="noStrike" kern="1200" dirty="0" err="1">
                <a:solidFill>
                  <a:schemeClr val="tx1"/>
                </a:solidFill>
                <a:effectLst/>
                <a:latin typeface="+mn-lt"/>
                <a:ea typeface="+mn-ea"/>
                <a:cs typeface="+mn-cs"/>
              </a:rPr>
              <a:t>analyze</a:t>
            </a:r>
            <a:r>
              <a:rPr lang="en-SG" sz="1000" b="0" i="0" u="none" strike="noStrike" kern="1200" dirty="0">
                <a:solidFill>
                  <a:schemeClr val="tx1"/>
                </a:solidFill>
                <a:effectLst/>
                <a:latin typeface="+mn-lt"/>
                <a:ea typeface="+mn-ea"/>
                <a:cs typeface="+mn-cs"/>
              </a:rPr>
              <a:t> what went wrong and adds that correction back into memory—so the agent learns faster, stays safer, and ultimately runs in real time without needing the LLM at every step.</a:t>
            </a:r>
          </a:p>
          <a:p>
            <a:endParaRPr lang="en-SG" sz="1000" b="0" i="0" u="none" strike="noStrike" kern="1200" dirty="0">
              <a:solidFill>
                <a:schemeClr val="tx1"/>
              </a:solidFill>
              <a:effectLst/>
              <a:latin typeface="+mn-lt"/>
              <a:ea typeface="+mn-ea"/>
              <a:cs typeface="+mn-cs"/>
            </a:endParaRPr>
          </a:p>
          <a:p>
            <a:r>
              <a:rPr lang="en-SG" sz="1000" b="0" i="0" u="none" strike="noStrike" kern="1200" dirty="0">
                <a:solidFill>
                  <a:schemeClr val="tx1"/>
                </a:solidFill>
                <a:effectLst/>
                <a:latin typeface="+mn-lt"/>
                <a:ea typeface="+mn-ea"/>
                <a:cs typeface="+mn-cs"/>
              </a:rPr>
              <a:t>----------------------------------------------------------------------------------------------------------------------------------------------------------</a:t>
            </a:r>
          </a:p>
          <a:p>
            <a:r>
              <a:rPr lang="en-SG" sz="1000" b="1" i="0" u="none" strike="noStrike" kern="1200" dirty="0">
                <a:solidFill>
                  <a:schemeClr val="tx1"/>
                </a:solidFill>
                <a:effectLst/>
                <a:latin typeface="+mn-lt"/>
                <a:ea typeface="+mn-ea"/>
                <a:cs typeface="+mn-cs"/>
              </a:rPr>
              <a:t>Why not have the LLM spit out raw low-level commands?</a:t>
            </a:r>
            <a:endParaRPr lang="en-SG" sz="1000" b="0"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Unreliable timing</a:t>
            </a:r>
            <a:r>
              <a:rPr lang="en-SG" sz="1000" b="0" i="0" u="none" strike="noStrike" kern="1200" dirty="0">
                <a:solidFill>
                  <a:schemeClr val="tx1"/>
                </a:solidFill>
                <a:effectLst/>
                <a:latin typeface="+mn-lt"/>
                <a:ea typeface="+mn-ea"/>
                <a:cs typeface="+mn-cs"/>
              </a:rPr>
              <a:t>: LLMs run at hundreds of milliseconds per call. </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Jittery </a:t>
            </a:r>
            <a:r>
              <a:rPr lang="en-SG" sz="1000" b="1" i="0" u="none" strike="noStrike" kern="1200" dirty="0" err="1">
                <a:solidFill>
                  <a:schemeClr val="tx1"/>
                </a:solidFill>
                <a:effectLst/>
                <a:latin typeface="+mn-lt"/>
                <a:ea typeface="+mn-ea"/>
                <a:cs typeface="+mn-cs"/>
              </a:rPr>
              <a:t>behavior</a:t>
            </a:r>
            <a:r>
              <a:rPr lang="en-SG" sz="1000" b="0" i="0" u="none" strike="noStrike" kern="1200" dirty="0">
                <a:solidFill>
                  <a:schemeClr val="tx1"/>
                </a:solidFill>
                <a:effectLst/>
                <a:latin typeface="+mn-lt"/>
                <a:ea typeface="+mn-ea"/>
                <a:cs typeface="+mn-cs"/>
              </a:rPr>
              <a:t>: Text-trained models haven’t learned smooth physics-consistent control and your aircraft will wobble.</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Lack of fine-tuning</a:t>
            </a:r>
            <a:r>
              <a:rPr lang="en-SG" sz="1000" b="0" i="0" u="none" strike="noStrike" kern="1200" dirty="0">
                <a:solidFill>
                  <a:schemeClr val="tx1"/>
                </a:solidFill>
                <a:effectLst/>
                <a:latin typeface="+mn-lt"/>
                <a:ea typeface="+mn-ea"/>
                <a:cs typeface="+mn-cs"/>
              </a:rPr>
              <a:t>: Low-level flight control lives in a very narrow, safety-critical manifold. It’s hard to get the LLM to generate exactly the right </a:t>
            </a:r>
            <a:r>
              <a:rPr lang="en-SG" sz="1000" b="0" i="0" u="none" strike="noStrike" kern="1200" dirty="0" err="1">
                <a:solidFill>
                  <a:schemeClr val="tx1"/>
                </a:solidFill>
                <a:effectLst/>
                <a:latin typeface="+mn-lt"/>
                <a:ea typeface="+mn-ea"/>
                <a:cs typeface="+mn-cs"/>
              </a:rPr>
              <a:t>manoeuvers</a:t>
            </a:r>
            <a:r>
              <a:rPr lang="en-SG" sz="1000" b="0" i="0" u="none" strike="noStrike" kern="1200" dirty="0">
                <a:solidFill>
                  <a:schemeClr val="tx1"/>
                </a:solidFill>
                <a:effectLst/>
                <a:latin typeface="+mn-lt"/>
                <a:ea typeface="+mn-ea"/>
                <a:cs typeface="+mn-cs"/>
              </a:rPr>
              <a:t> </a:t>
            </a:r>
          </a:p>
          <a:p>
            <a:pPr marL="171450" indent="-171450">
              <a:buFont typeface="Arial" panose="020B0604020202020204" pitchFamily="34" charset="0"/>
              <a:buChar char="•"/>
            </a:pPr>
            <a:r>
              <a:rPr lang="en-SG" sz="1000" b="1" i="0" u="none" strike="noStrike" kern="1200" dirty="0">
                <a:solidFill>
                  <a:schemeClr val="tx1"/>
                </a:solidFill>
                <a:effectLst/>
                <a:latin typeface="+mn-lt"/>
                <a:ea typeface="+mn-ea"/>
                <a:cs typeface="+mn-cs"/>
              </a:rPr>
              <a:t>Separation of concerns</a:t>
            </a:r>
            <a:r>
              <a:rPr lang="en-SG" sz="1000" b="0" i="0" u="none" strike="noStrike" kern="1200" dirty="0">
                <a:solidFill>
                  <a:schemeClr val="tx1"/>
                </a:solidFill>
                <a:effectLst/>
                <a:latin typeface="+mn-lt"/>
                <a:ea typeface="+mn-ea"/>
                <a:cs typeface="+mn-cs"/>
              </a:rPr>
              <a:t>: By having the LLM propose a high-level intent vector (via an MLP) and then fusing that with the current state in a small neural block (self-attention or similar), you let your PPO actor learn how </a:t>
            </a:r>
            <a:r>
              <a:rPr lang="en-SG" sz="1000" b="0" i="1" u="none" strike="noStrike" kern="1200" dirty="0">
                <a:solidFill>
                  <a:schemeClr val="tx1"/>
                </a:solidFill>
                <a:effectLst/>
                <a:latin typeface="+mn-lt"/>
                <a:ea typeface="+mn-ea"/>
                <a:cs typeface="+mn-cs"/>
              </a:rPr>
              <a:t>to</a:t>
            </a:r>
            <a:r>
              <a:rPr lang="en-SG" sz="1000" b="0" i="0" u="none" strike="noStrike" kern="1200" dirty="0">
                <a:solidFill>
                  <a:schemeClr val="tx1"/>
                </a:solidFill>
                <a:effectLst/>
                <a:latin typeface="+mn-lt"/>
                <a:ea typeface="+mn-ea"/>
                <a:cs typeface="+mn-cs"/>
              </a:rPr>
              <a:t> execute that intent robustly—decoupling</a:t>
            </a:r>
            <a:endParaRPr lang="en-SG" sz="1000" b="1"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72D8D8A-2666-13AE-BCF9-1E4BE3723AC7}"/>
              </a:ext>
            </a:extLst>
          </p:cNvPr>
          <p:cNvSpPr>
            <a:spLocks noGrp="1"/>
          </p:cNvSpPr>
          <p:nvPr>
            <p:ph type="sldNum" sz="quarter" idx="5"/>
          </p:nvPr>
        </p:nvSpPr>
        <p:spPr/>
        <p:txBody>
          <a:bodyPr/>
          <a:lstStyle/>
          <a:p>
            <a:fld id="{5FCE97AB-59EC-F947-9B92-7907293B735A}" type="slidenum">
              <a:rPr lang="en-US" smtClean="0"/>
              <a:t>15</a:t>
            </a:fld>
            <a:endParaRPr lang="en-US"/>
          </a:p>
        </p:txBody>
      </p:sp>
    </p:spTree>
    <p:extLst>
      <p:ext uri="{BB962C8B-B14F-4D97-AF65-F5344CB8AC3E}">
        <p14:creationId xmlns:p14="http://schemas.microsoft.com/office/powerpoint/2010/main" val="3293343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000" b="1" dirty="0"/>
              <a:t>Trend vs. snapshot</a:t>
            </a:r>
            <a:r>
              <a:rPr lang="en-SG" sz="1000" dirty="0"/>
              <a:t>: A single frame can’t tell if two aircraft are </a:t>
            </a:r>
            <a:r>
              <a:rPr lang="en-SG" sz="1000" i="1" dirty="0"/>
              <a:t>closing</a:t>
            </a:r>
            <a:r>
              <a:rPr lang="en-SG" sz="1000" dirty="0"/>
              <a:t> or </a:t>
            </a:r>
            <a:r>
              <a:rPr lang="en-SG" sz="1000" i="1" dirty="0"/>
              <a:t>opening</a:t>
            </a:r>
            <a:r>
              <a:rPr lang="en-SG" sz="1000" dirty="0"/>
              <a:t>. You don’t have velocity in your observation space; the easiest proxy is a short history to compute separation trend (and heading/bearing trends). Without it, the LLM has to guess TTC from one noisy snapshot.</a:t>
            </a:r>
          </a:p>
          <a:p>
            <a:endParaRPr lang="en-SG" sz="1000" dirty="0"/>
          </a:p>
          <a:p>
            <a:r>
              <a:rPr lang="en-SG" sz="1000" b="1" dirty="0"/>
              <a:t>Intent awareness</a:t>
            </a:r>
            <a:r>
              <a:rPr lang="en-SG" sz="1000" dirty="0"/>
              <a:t>: History shows if the </a:t>
            </a:r>
            <a:r>
              <a:rPr lang="en-SG" sz="1000" dirty="0" err="1"/>
              <a:t>ownship</a:t>
            </a:r>
            <a:r>
              <a:rPr lang="en-SG" sz="1000" dirty="0"/>
              <a:t> has </a:t>
            </a:r>
            <a:r>
              <a:rPr lang="en-SG" sz="1000" i="1" dirty="0"/>
              <a:t>already started</a:t>
            </a:r>
            <a:r>
              <a:rPr lang="en-SG" sz="1000" dirty="0"/>
              <a:t> turning or separation is improving—so the LLM won’t suggest a counter-</a:t>
            </a:r>
            <a:r>
              <a:rPr lang="en-SG" sz="1000" dirty="0" err="1"/>
              <a:t>maneuver</a:t>
            </a:r>
            <a:r>
              <a:rPr lang="en-SG" sz="1000" dirty="0"/>
              <a:t> that fights the ongoing correction.</a:t>
            </a:r>
          </a:p>
          <a:p>
            <a:endParaRPr lang="en-US" sz="1000" dirty="0"/>
          </a:p>
        </p:txBody>
      </p:sp>
      <p:sp>
        <p:nvSpPr>
          <p:cNvPr id="4" name="Slide Number Placeholder 3"/>
          <p:cNvSpPr>
            <a:spLocks noGrp="1"/>
          </p:cNvSpPr>
          <p:nvPr>
            <p:ph type="sldNum" sz="quarter" idx="5"/>
          </p:nvPr>
        </p:nvSpPr>
        <p:spPr/>
        <p:txBody>
          <a:bodyPr/>
          <a:lstStyle/>
          <a:p>
            <a:fld id="{7F51A7D7-8F41-8049-90E5-C84D065AEA28}" type="slidenum">
              <a:rPr lang="en-US" smtClean="0"/>
              <a:t>16</a:t>
            </a:fld>
            <a:endParaRPr lang="en-US"/>
          </a:p>
        </p:txBody>
      </p:sp>
    </p:spTree>
    <p:extLst>
      <p:ext uri="{BB962C8B-B14F-4D97-AF65-F5344CB8AC3E}">
        <p14:creationId xmlns:p14="http://schemas.microsoft.com/office/powerpoint/2010/main" val="421316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6B91E-7BB7-EB03-402D-7D12B89A3F4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7D895EA-B0F6-5B6C-137F-785E56E181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742121-94C0-AE63-CC04-98926B3A1B25}"/>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698DF07F-607E-80BC-AEC7-C8457C310A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BC3ED-1CD9-A327-8634-FEB052B91EAC}"/>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1544521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F358-A2FF-7A2E-7B88-E0BD44F5A9F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B7EBF0-F347-7FBB-B21E-A2326A71AF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1C06321-1B61-3E6E-AE0C-40925FAEFA7F}"/>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DB54F215-BDF1-380F-6AE7-3000B633C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EF683-D55B-CF47-DBE2-487EE89FA37F}"/>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2729187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2EDC0-EC1A-141A-A359-CCC735038C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53C63D8-3056-9897-2F4C-F54A3EE63F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EADCB9-6363-288A-2C4D-0D78E211F524}"/>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2B25B1CA-BF95-FEE5-1EEF-DBCE42BBC1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C0261-63BF-36C0-8564-191BD867D70B}"/>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3188217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833A-25CC-CD69-758D-FBC79A54046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9305CE0-B064-051F-2636-A26A7EC6C5B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9FFB9BD-FD79-9F6A-16FE-B76DE2BCC4E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BF7D104-A2F8-D384-2A80-B3D9C7C63701}"/>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6" name="Footer Placeholder 5">
            <a:extLst>
              <a:ext uri="{FF2B5EF4-FFF2-40B4-BE49-F238E27FC236}">
                <a16:creationId xmlns:a16="http://schemas.microsoft.com/office/drawing/2014/main" id="{1AD96C59-A2D1-5867-1E1B-2A15AB5373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57B96-7289-2080-665A-BFF885B4C471}"/>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3608919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79A3D-7A83-B2A5-4FD5-778256A5032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7F2497-F525-F2DB-2395-2C1481CBE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71E073-704F-39B1-86A0-04E2C63D00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441E543-CDBA-E68A-DF98-E7A1DCC5C5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97039F-B638-261D-4E7D-31BB396FD7B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50AE083-CBF6-ED97-BDCF-63838E80043A}"/>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8" name="Footer Placeholder 7">
            <a:extLst>
              <a:ext uri="{FF2B5EF4-FFF2-40B4-BE49-F238E27FC236}">
                <a16:creationId xmlns:a16="http://schemas.microsoft.com/office/drawing/2014/main" id="{9C0D0FAA-CB10-6866-A241-7D56069581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E1255E-4AB8-488D-CD4E-EF44A75959DB}"/>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469401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0E8B-4553-F505-35EB-C43696CDAAF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30C7035-6397-AC19-76E0-BE5D27F30CC7}"/>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4" name="Footer Placeholder 3">
            <a:extLst>
              <a:ext uri="{FF2B5EF4-FFF2-40B4-BE49-F238E27FC236}">
                <a16:creationId xmlns:a16="http://schemas.microsoft.com/office/drawing/2014/main" id="{86171C3A-21E2-EAE4-44F5-821FF2AB20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E547E7-71F2-2AEB-74FB-33141521B466}"/>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3645336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5FBE1E-415A-2E1A-C7B6-E49572068D26}"/>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3" name="Footer Placeholder 2">
            <a:extLst>
              <a:ext uri="{FF2B5EF4-FFF2-40B4-BE49-F238E27FC236}">
                <a16:creationId xmlns:a16="http://schemas.microsoft.com/office/drawing/2014/main" id="{C8C55F8B-2FF7-4F23-C2A7-14F8FB414D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58C532-2220-8050-23EA-720A7F9F951E}"/>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2834932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73C9-9C2E-E310-FE05-78CFCC9349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50CB1AF-C325-9FC8-5453-372C2F033F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FE9BE-2BDB-D8ED-5FC9-9425854C3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93FF60-28F6-1BD8-39EA-392404DCE259}"/>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6" name="Footer Placeholder 5">
            <a:extLst>
              <a:ext uri="{FF2B5EF4-FFF2-40B4-BE49-F238E27FC236}">
                <a16:creationId xmlns:a16="http://schemas.microsoft.com/office/drawing/2014/main" id="{4C837A12-6933-B788-5B35-91F2B3F35D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084287-C2B0-AC40-FF3B-6691F96A82A4}"/>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66862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36967-A6A1-98B5-3E0E-D261ADB9187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AC3777B-181F-5BD6-38CF-58ED7073BF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239E05-2A77-1D74-928B-524D448DD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253486-D081-AF5F-B6ED-2EC104CC760E}"/>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6" name="Footer Placeholder 5">
            <a:extLst>
              <a:ext uri="{FF2B5EF4-FFF2-40B4-BE49-F238E27FC236}">
                <a16:creationId xmlns:a16="http://schemas.microsoft.com/office/drawing/2014/main" id="{5AF9D83C-8922-2BA6-9CA4-A9852FB11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00E0D-F793-96FE-BA83-DD9F58253BA4}"/>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382548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165E-4A9F-380A-5BE7-E3036B5DCF0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B9471F5-F5E4-3C01-7B9C-36DC9AF92BD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5DD071-B482-FC25-CAAA-91C09A1CC88E}"/>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6D62D3D8-9AAF-9AD4-E3A0-41F5BA66ED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10550C-DB4C-63F6-90F0-08FEF4CCCCE4}"/>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224460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D1F45F-6532-9231-DBA5-DF5BB113595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C7BD60D-5FBC-7DA2-8979-FE6E83DCA9F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3C6207-382D-B4B2-FBC6-1870B0E934C5}"/>
              </a:ext>
            </a:extLst>
          </p:cNvPr>
          <p:cNvSpPr>
            <a:spLocks noGrp="1"/>
          </p:cNvSpPr>
          <p:nvPr>
            <p:ph type="dt" sz="half" idx="10"/>
          </p:nvPr>
        </p:nvSpPr>
        <p:spPr/>
        <p:txBody>
          <a:body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C2EF15D5-9212-3754-78D8-9E75ECF50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845395-78EC-2F2F-3768-753733408FA8}"/>
              </a:ext>
            </a:extLst>
          </p:cNvPr>
          <p:cNvSpPr>
            <a:spLocks noGrp="1"/>
          </p:cNvSpPr>
          <p:nvPr>
            <p:ph type="sldNum" sz="quarter" idx="12"/>
          </p:nvPr>
        </p:nvSpPr>
        <p:spPr/>
        <p:txBody>
          <a:bodyPr/>
          <a:lstStyle/>
          <a:p>
            <a:fld id="{4CBF4167-9EEF-5D4E-A596-EE1A533DC043}" type="slidenum">
              <a:rPr lang="en-US" smtClean="0"/>
              <a:t>‹#›</a:t>
            </a:fld>
            <a:endParaRPr lang="en-US"/>
          </a:p>
        </p:txBody>
      </p:sp>
    </p:spTree>
    <p:extLst>
      <p:ext uri="{BB962C8B-B14F-4D97-AF65-F5344CB8AC3E}">
        <p14:creationId xmlns:p14="http://schemas.microsoft.com/office/powerpoint/2010/main" val="1093732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BDCCC0-986A-D0D8-CFB3-C67E51B8AF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2DAE610-3F18-FC3C-BD1C-E3F61E176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8B25D9-5B91-B5A5-4182-8AD69F6B0C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FDB5C8-DE02-7E41-A748-F2630FEE2802}" type="datetimeFigureOut">
              <a:rPr lang="en-US" smtClean="0"/>
              <a:t>8/8/25</a:t>
            </a:fld>
            <a:endParaRPr lang="en-US"/>
          </a:p>
        </p:txBody>
      </p:sp>
      <p:sp>
        <p:nvSpPr>
          <p:cNvPr id="5" name="Footer Placeholder 4">
            <a:extLst>
              <a:ext uri="{FF2B5EF4-FFF2-40B4-BE49-F238E27FC236}">
                <a16:creationId xmlns:a16="http://schemas.microsoft.com/office/drawing/2014/main" id="{83628811-ACD0-1FC7-DF06-C517340DA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03924A-B4CD-A86C-553B-C8C9727571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BF4167-9EEF-5D4E-A596-EE1A533DC043}" type="slidenum">
              <a:rPr lang="en-US" smtClean="0"/>
              <a:t>‹#›</a:t>
            </a:fld>
            <a:endParaRPr lang="en-US"/>
          </a:p>
        </p:txBody>
      </p:sp>
    </p:spTree>
    <p:extLst>
      <p:ext uri="{BB962C8B-B14F-4D97-AF65-F5344CB8AC3E}">
        <p14:creationId xmlns:p14="http://schemas.microsoft.com/office/powerpoint/2010/main" val="2806658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3.svg"/><Relationship Id="rId18" Type="http://schemas.openxmlformats.org/officeDocument/2006/relationships/image" Target="../media/image211.png"/><Relationship Id="rId3" Type="http://schemas.openxmlformats.org/officeDocument/2006/relationships/image" Target="../media/image130.png"/><Relationship Id="rId21" Type="http://schemas.openxmlformats.org/officeDocument/2006/relationships/image" Target="../media/image230.png"/><Relationship Id="rId7" Type="http://schemas.openxmlformats.org/officeDocument/2006/relationships/image" Target="../media/image7.svg"/><Relationship Id="rId12" Type="http://schemas.openxmlformats.org/officeDocument/2006/relationships/image" Target="../media/image2.png"/><Relationship Id="rId17" Type="http://schemas.openxmlformats.org/officeDocument/2006/relationships/image" Target="../media/image17.png"/><Relationship Id="rId2" Type="http://schemas.openxmlformats.org/officeDocument/2006/relationships/notesSlide" Target="../notesSlides/notesSlide8.xml"/><Relationship Id="rId16" Type="http://schemas.openxmlformats.org/officeDocument/2006/relationships/image" Target="../media/image16.png"/><Relationship Id="rId20"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5.svg"/><Relationship Id="rId5" Type="http://schemas.openxmlformats.org/officeDocument/2006/relationships/image" Target="../media/image9.png"/><Relationship Id="rId15" Type="http://schemas.openxmlformats.org/officeDocument/2006/relationships/image" Target="../media/image27.png"/><Relationship Id="rId10" Type="http://schemas.openxmlformats.org/officeDocument/2006/relationships/image" Target="../media/image5.png"/><Relationship Id="rId19" Type="http://schemas.openxmlformats.org/officeDocument/2006/relationships/image" Target="../media/image210.png"/><Relationship Id="rId4" Type="http://schemas.openxmlformats.org/officeDocument/2006/relationships/image" Target="../media/image1.png"/><Relationship Id="rId9" Type="http://schemas.openxmlformats.org/officeDocument/2006/relationships/image" Target="../media/image14.svg"/><Relationship Id="rId1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6.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10.png"/><Relationship Id="rId12"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9.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F1CE9B-A55F-3DA5-7319-2803A348B488}"/>
              </a:ext>
            </a:extLst>
          </p:cNvPr>
          <p:cNvSpPr>
            <a:spLocks noGrp="1"/>
          </p:cNvSpPr>
          <p:nvPr>
            <p:ph type="title"/>
          </p:nvPr>
        </p:nvSpPr>
        <p:spPr>
          <a:xfrm>
            <a:off x="927463" y="2775204"/>
            <a:ext cx="10691265" cy="1307592"/>
          </a:xfrm>
        </p:spPr>
        <p:txBody>
          <a:bodyPr>
            <a:noAutofit/>
          </a:bodyPr>
          <a:lstStyle/>
          <a:p>
            <a:pPr algn="ctr"/>
            <a:r>
              <a:rPr lang="en-US" sz="2800" dirty="0"/>
              <a:t>Research Papers which have explored How LLMs can improve RL Applications or Convergence</a:t>
            </a:r>
          </a:p>
        </p:txBody>
      </p:sp>
    </p:spTree>
    <p:extLst>
      <p:ext uri="{BB962C8B-B14F-4D97-AF65-F5344CB8AC3E}">
        <p14:creationId xmlns:p14="http://schemas.microsoft.com/office/powerpoint/2010/main" val="367489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E2138-6114-DD89-5BA9-FCE40552F685}"/>
              </a:ext>
            </a:extLst>
          </p:cNvPr>
          <p:cNvSpPr>
            <a:spLocks noGrp="1"/>
          </p:cNvSpPr>
          <p:nvPr>
            <p:ph type="title"/>
          </p:nvPr>
        </p:nvSpPr>
        <p:spPr>
          <a:xfrm>
            <a:off x="700635" y="914400"/>
            <a:ext cx="10691265" cy="671332"/>
          </a:xfrm>
        </p:spPr>
        <p:txBody>
          <a:bodyPr>
            <a:noAutofit/>
          </a:bodyPr>
          <a:lstStyle/>
          <a:p>
            <a:r>
              <a:rPr lang="en-US" sz="2000" dirty="0"/>
              <a:t>1</a:t>
            </a:r>
            <a:r>
              <a:rPr lang="en-US" sz="2000" b="1" dirty="0"/>
              <a:t>. </a:t>
            </a:r>
            <a:r>
              <a:rPr lang="en-US" sz="2000" b="1" dirty="0" err="1"/>
              <a:t>iLLM</a:t>
            </a:r>
            <a:r>
              <a:rPr lang="en-US" sz="2000" b="1" dirty="0"/>
              <a:t>-TSC: </a:t>
            </a:r>
            <a:r>
              <a:rPr lang="en-US" sz="2000" dirty="0"/>
              <a:t>INTEGRATION REINFORCEMENT LEARNING AND LARGE LANGUAGE MODEL FOR TRAFFIC SIGNAL CONTROL POLICY IMPROVEMENT </a:t>
            </a:r>
          </a:p>
        </p:txBody>
      </p:sp>
      <p:sp>
        <p:nvSpPr>
          <p:cNvPr id="3" name="Content Placeholder 2">
            <a:extLst>
              <a:ext uri="{FF2B5EF4-FFF2-40B4-BE49-F238E27FC236}">
                <a16:creationId xmlns:a16="http://schemas.microsoft.com/office/drawing/2014/main" id="{35744E57-BE9A-3AA3-22DC-FAF28277BD65}"/>
              </a:ext>
            </a:extLst>
          </p:cNvPr>
          <p:cNvSpPr>
            <a:spLocks noGrp="1"/>
          </p:cNvSpPr>
          <p:nvPr>
            <p:ph idx="1"/>
          </p:nvPr>
        </p:nvSpPr>
        <p:spPr>
          <a:xfrm>
            <a:off x="700635" y="1736202"/>
            <a:ext cx="10691265" cy="4225685"/>
          </a:xfrm>
        </p:spPr>
        <p:txBody>
          <a:bodyPr>
            <a:normAutofit/>
          </a:bodyPr>
          <a:lstStyle/>
          <a:p>
            <a:pPr marL="0" indent="0">
              <a:buNone/>
            </a:pPr>
            <a:r>
              <a:rPr lang="en-SG" sz="1600" b="1" dirty="0"/>
              <a:t>Problem:</a:t>
            </a:r>
            <a:endParaRPr lang="en-SG" sz="1600" dirty="0"/>
          </a:p>
          <a:p>
            <a:pPr lvl="1"/>
            <a:r>
              <a:rPr lang="en-SG" sz="1400" dirty="0"/>
              <a:t>Traditional RL‑based traffic signal control depends heavily on available data, often missing communication failures and rare “long‑tail” events (e.g., emergency vehicles), leading to poor decisions in novel scenarios.</a:t>
            </a:r>
          </a:p>
          <a:p>
            <a:pPr marL="0" indent="0">
              <a:buNone/>
            </a:pPr>
            <a:r>
              <a:rPr lang="en-SG" sz="1600" b="1" dirty="0"/>
              <a:t>Proposed Approach: A Dual‑step decision loop:</a:t>
            </a:r>
            <a:endParaRPr lang="en-SG" sz="1600" dirty="0"/>
          </a:p>
          <a:p>
            <a:pPr lvl="1"/>
            <a:r>
              <a:rPr lang="en-SG" sz="1400" b="1" dirty="0"/>
              <a:t>RL agent</a:t>
            </a:r>
            <a:r>
              <a:rPr lang="en-SG" sz="1400" dirty="0"/>
              <a:t> selects an action based on direct observations.</a:t>
            </a:r>
          </a:p>
          <a:p>
            <a:pPr lvl="1"/>
            <a:r>
              <a:rPr lang="en-SG" sz="1400" b="1" dirty="0"/>
              <a:t>LLM</a:t>
            </a:r>
            <a:r>
              <a:rPr lang="en-SG" sz="1400" dirty="0"/>
              <a:t> reviews and, if needed, adjusts the action by incorporating broader context (long‑tail events, degraded communications). (During inference)</a:t>
            </a:r>
          </a:p>
          <a:p>
            <a:pPr marL="0" indent="0">
              <a:buNone/>
            </a:pPr>
            <a:r>
              <a:rPr lang="en-SG" sz="1600" b="1" dirty="0"/>
              <a:t>Synergy:</a:t>
            </a:r>
            <a:r>
              <a:rPr lang="en-SG" sz="1600" dirty="0"/>
              <a:t> </a:t>
            </a:r>
          </a:p>
          <a:p>
            <a:pPr lvl="1"/>
            <a:r>
              <a:rPr lang="en-SG" sz="1400" dirty="0"/>
              <a:t>RL learns environment‑specific patterns; LLM handles unexpected or rare situations.</a:t>
            </a:r>
          </a:p>
          <a:p>
            <a:pPr marL="0" indent="0">
              <a:buNone/>
            </a:pPr>
            <a:r>
              <a:rPr lang="en-SG" sz="1600" b="1" dirty="0"/>
              <a:t>Key Result:</a:t>
            </a:r>
            <a:endParaRPr lang="en-SG" sz="1600" dirty="0"/>
          </a:p>
          <a:p>
            <a:pPr lvl="1"/>
            <a:r>
              <a:rPr lang="en-SG" sz="1400" dirty="0"/>
              <a:t>This hybrid method cuts average vehicle waiting times by </a:t>
            </a:r>
            <a:r>
              <a:rPr lang="en-SG" sz="1400" b="1" dirty="0"/>
              <a:t>17.5 %</a:t>
            </a:r>
            <a:r>
              <a:rPr lang="en-SG" sz="1400" dirty="0"/>
              <a:t> versus a pure RL controller.</a:t>
            </a:r>
          </a:p>
        </p:txBody>
      </p:sp>
      <p:sp>
        <p:nvSpPr>
          <p:cNvPr id="4" name="TextBox 3">
            <a:extLst>
              <a:ext uri="{FF2B5EF4-FFF2-40B4-BE49-F238E27FC236}">
                <a16:creationId xmlns:a16="http://schemas.microsoft.com/office/drawing/2014/main" id="{BF6EF8F5-63DE-6E41-F4D4-2B0BFA5F8332}"/>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Mar 2024</a:t>
            </a:r>
            <a:endParaRPr lang="en-SG" sz="1600" dirty="0"/>
          </a:p>
        </p:txBody>
      </p:sp>
    </p:spTree>
    <p:extLst>
      <p:ext uri="{BB962C8B-B14F-4D97-AF65-F5344CB8AC3E}">
        <p14:creationId xmlns:p14="http://schemas.microsoft.com/office/powerpoint/2010/main" val="101664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8D6B5E-AE00-7B30-4F45-F6B1F35D40FC}"/>
              </a:ext>
            </a:extLst>
          </p:cNvPr>
          <p:cNvSpPr>
            <a:spLocks noGrp="1"/>
          </p:cNvSpPr>
          <p:nvPr>
            <p:ph idx="1"/>
          </p:nvPr>
        </p:nvSpPr>
        <p:spPr>
          <a:xfrm>
            <a:off x="700635" y="780980"/>
            <a:ext cx="10691265" cy="5180908"/>
          </a:xfrm>
        </p:spPr>
        <p:txBody>
          <a:bodyPr>
            <a:normAutofit/>
          </a:bodyPr>
          <a:lstStyle/>
          <a:p>
            <a:pPr marL="0" indent="0">
              <a:buNone/>
            </a:pPr>
            <a:r>
              <a:rPr lang="en-US" sz="1600" dirty="0"/>
              <a:t>The paper focuses on MDP under two practical scenarios: </a:t>
            </a:r>
          </a:p>
          <a:p>
            <a:pPr lvl="1"/>
            <a:r>
              <a:rPr lang="en-US" sz="1400" dirty="0"/>
              <a:t>Imperfect state due to communication degradation</a:t>
            </a:r>
          </a:p>
          <a:p>
            <a:pPr lvl="1"/>
            <a:r>
              <a:rPr lang="en-US" sz="1400" dirty="0"/>
              <a:t>Situations unaccounted for by Reward function R, such as emergencies (long-tail events)</a:t>
            </a:r>
          </a:p>
        </p:txBody>
      </p:sp>
      <p:pic>
        <p:nvPicPr>
          <p:cNvPr id="7" name="Picture 6" descr="A black background with a black square&#10;&#10;AI-generated content may be incorrect.">
            <a:extLst>
              <a:ext uri="{FF2B5EF4-FFF2-40B4-BE49-F238E27FC236}">
                <a16:creationId xmlns:a16="http://schemas.microsoft.com/office/drawing/2014/main" id="{DD8E2793-59EE-6FCC-5065-29238C029B80}"/>
              </a:ext>
            </a:extLst>
          </p:cNvPr>
          <p:cNvPicPr>
            <a:picLocks noChangeAspect="1"/>
          </p:cNvPicPr>
          <p:nvPr/>
        </p:nvPicPr>
        <p:blipFill>
          <a:blip r:embed="rId3"/>
          <a:stretch>
            <a:fillRect/>
          </a:stretch>
        </p:blipFill>
        <p:spPr>
          <a:xfrm>
            <a:off x="1775553" y="2197416"/>
            <a:ext cx="629587" cy="629587"/>
          </a:xfrm>
          <a:prstGeom prst="rect">
            <a:avLst/>
          </a:prstGeom>
        </p:spPr>
      </p:pic>
      <p:sp>
        <p:nvSpPr>
          <p:cNvPr id="8" name="TextBox 7">
            <a:extLst>
              <a:ext uri="{FF2B5EF4-FFF2-40B4-BE49-F238E27FC236}">
                <a16:creationId xmlns:a16="http://schemas.microsoft.com/office/drawing/2014/main" id="{1DA11708-0A7E-040B-F937-9A3B3990F5FE}"/>
              </a:ext>
            </a:extLst>
          </p:cNvPr>
          <p:cNvSpPr txBox="1"/>
          <p:nvPr/>
        </p:nvSpPr>
        <p:spPr>
          <a:xfrm>
            <a:off x="1528215" y="2827003"/>
            <a:ext cx="1124262" cy="246221"/>
          </a:xfrm>
          <a:prstGeom prst="rect">
            <a:avLst/>
          </a:prstGeom>
          <a:noFill/>
        </p:spPr>
        <p:txBody>
          <a:bodyPr wrap="square" rtlCol="0">
            <a:spAutoFit/>
          </a:bodyPr>
          <a:lstStyle/>
          <a:p>
            <a:pPr algn="ctr"/>
            <a:r>
              <a:rPr lang="en-US" sz="1000" dirty="0"/>
              <a:t>State information</a:t>
            </a:r>
          </a:p>
        </p:txBody>
      </p:sp>
      <p:pic>
        <p:nvPicPr>
          <p:cNvPr id="10" name="Graphic 9" descr="Badge Follow with solid fill">
            <a:extLst>
              <a:ext uri="{FF2B5EF4-FFF2-40B4-BE49-F238E27FC236}">
                <a16:creationId xmlns:a16="http://schemas.microsoft.com/office/drawing/2014/main" id="{46F4D447-29DD-1310-5AF2-6BECC7A4A6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483918" y="2340893"/>
            <a:ext cx="344606" cy="344606"/>
          </a:xfrm>
          <a:prstGeom prst="rect">
            <a:avLst/>
          </a:prstGeom>
        </p:spPr>
      </p:pic>
      <p:pic>
        <p:nvPicPr>
          <p:cNvPr id="12" name="Picture 11" descr="A graph of function with arrows&#10;&#10;AI-generated content may be incorrect.">
            <a:extLst>
              <a:ext uri="{FF2B5EF4-FFF2-40B4-BE49-F238E27FC236}">
                <a16:creationId xmlns:a16="http://schemas.microsoft.com/office/drawing/2014/main" id="{736F75ED-D097-A18A-7380-0B164785B67A}"/>
              </a:ext>
            </a:extLst>
          </p:cNvPr>
          <p:cNvPicPr>
            <a:picLocks noChangeAspect="1"/>
          </p:cNvPicPr>
          <p:nvPr/>
        </p:nvPicPr>
        <p:blipFill>
          <a:blip r:embed="rId6"/>
          <a:stretch>
            <a:fillRect/>
          </a:stretch>
        </p:blipFill>
        <p:spPr>
          <a:xfrm>
            <a:off x="2731255" y="2126091"/>
            <a:ext cx="772236" cy="772236"/>
          </a:xfrm>
          <a:prstGeom prst="rect">
            <a:avLst/>
          </a:prstGeom>
        </p:spPr>
      </p:pic>
      <p:sp>
        <p:nvSpPr>
          <p:cNvPr id="13" name="TextBox 12">
            <a:extLst>
              <a:ext uri="{FF2B5EF4-FFF2-40B4-BE49-F238E27FC236}">
                <a16:creationId xmlns:a16="http://schemas.microsoft.com/office/drawing/2014/main" id="{AD9765DF-1CCB-7B76-9C02-EB3A114D0137}"/>
              </a:ext>
            </a:extLst>
          </p:cNvPr>
          <p:cNvSpPr txBox="1"/>
          <p:nvPr/>
        </p:nvSpPr>
        <p:spPr>
          <a:xfrm>
            <a:off x="2555242" y="2827003"/>
            <a:ext cx="1124262" cy="400110"/>
          </a:xfrm>
          <a:prstGeom prst="rect">
            <a:avLst/>
          </a:prstGeom>
          <a:noFill/>
        </p:spPr>
        <p:txBody>
          <a:bodyPr wrap="square" rtlCol="0">
            <a:spAutoFit/>
          </a:bodyPr>
          <a:lstStyle/>
          <a:p>
            <a:pPr algn="ctr"/>
            <a:r>
              <a:rPr lang="en-US" sz="1000" dirty="0"/>
              <a:t>Communication degradation</a:t>
            </a:r>
          </a:p>
        </p:txBody>
      </p:sp>
      <p:pic>
        <p:nvPicPr>
          <p:cNvPr id="15" name="Picture 14" descr="A blue head with lines and symbols&#10;&#10;AI-generated content may be incorrect.">
            <a:extLst>
              <a:ext uri="{FF2B5EF4-FFF2-40B4-BE49-F238E27FC236}">
                <a16:creationId xmlns:a16="http://schemas.microsoft.com/office/drawing/2014/main" id="{C6FFCF01-EFC8-B66B-F307-0F50BC0FADD3}"/>
              </a:ext>
            </a:extLst>
          </p:cNvPr>
          <p:cNvPicPr>
            <a:picLocks noChangeAspect="1"/>
          </p:cNvPicPr>
          <p:nvPr/>
        </p:nvPicPr>
        <p:blipFill>
          <a:blip r:embed="rId7"/>
          <a:stretch>
            <a:fillRect/>
          </a:stretch>
        </p:blipFill>
        <p:spPr>
          <a:xfrm>
            <a:off x="4395298" y="2114740"/>
            <a:ext cx="772236" cy="772236"/>
          </a:xfrm>
          <a:prstGeom prst="rect">
            <a:avLst/>
          </a:prstGeom>
        </p:spPr>
      </p:pic>
      <p:sp>
        <p:nvSpPr>
          <p:cNvPr id="16" name="TextBox 15">
            <a:extLst>
              <a:ext uri="{FF2B5EF4-FFF2-40B4-BE49-F238E27FC236}">
                <a16:creationId xmlns:a16="http://schemas.microsoft.com/office/drawing/2014/main" id="{8DAFAA0E-9BFC-B44E-7A92-FC699899B7CA}"/>
              </a:ext>
            </a:extLst>
          </p:cNvPr>
          <p:cNvSpPr txBox="1"/>
          <p:nvPr/>
        </p:nvSpPr>
        <p:spPr>
          <a:xfrm>
            <a:off x="3803893" y="2841188"/>
            <a:ext cx="2078235" cy="553998"/>
          </a:xfrm>
          <a:prstGeom prst="rect">
            <a:avLst/>
          </a:prstGeom>
          <a:noFill/>
        </p:spPr>
        <p:txBody>
          <a:bodyPr wrap="square" rtlCol="0">
            <a:spAutoFit/>
          </a:bodyPr>
          <a:lstStyle/>
          <a:p>
            <a:pPr algn="ctr"/>
            <a:r>
              <a:rPr lang="en-US" sz="1000" dirty="0"/>
              <a:t>Reinforcement learning – PPO works both for continuous and discrete space</a:t>
            </a:r>
          </a:p>
        </p:txBody>
      </p:sp>
      <p:pic>
        <p:nvPicPr>
          <p:cNvPr id="18" name="Graphic 17" descr="Arrow Right with solid fill">
            <a:extLst>
              <a:ext uri="{FF2B5EF4-FFF2-40B4-BE49-F238E27FC236}">
                <a16:creationId xmlns:a16="http://schemas.microsoft.com/office/drawing/2014/main" id="{76C158A2-31A0-93BD-4369-26633EC296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14331" y="4104066"/>
            <a:ext cx="721221" cy="721221"/>
          </a:xfrm>
          <a:prstGeom prst="rect">
            <a:avLst/>
          </a:prstGeom>
        </p:spPr>
      </p:pic>
      <p:sp>
        <p:nvSpPr>
          <p:cNvPr id="19" name="Right Brace 18">
            <a:extLst>
              <a:ext uri="{FF2B5EF4-FFF2-40B4-BE49-F238E27FC236}">
                <a16:creationId xmlns:a16="http://schemas.microsoft.com/office/drawing/2014/main" id="{FDB99A88-105D-9D78-00EC-09B2F556FCBE}"/>
              </a:ext>
            </a:extLst>
          </p:cNvPr>
          <p:cNvSpPr/>
          <p:nvPr/>
        </p:nvSpPr>
        <p:spPr>
          <a:xfrm rot="5400000">
            <a:off x="2473235" y="2440579"/>
            <a:ext cx="400111" cy="196745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9F817BDA-225B-E399-A289-271E654D82BE}"/>
              </a:ext>
            </a:extLst>
          </p:cNvPr>
          <p:cNvSpPr txBox="1"/>
          <p:nvPr/>
        </p:nvSpPr>
        <p:spPr>
          <a:xfrm>
            <a:off x="2011180" y="3569319"/>
            <a:ext cx="1440149" cy="246221"/>
          </a:xfrm>
          <a:prstGeom prst="rect">
            <a:avLst/>
          </a:prstGeom>
          <a:noFill/>
        </p:spPr>
        <p:txBody>
          <a:bodyPr wrap="square" rtlCol="0">
            <a:spAutoFit/>
          </a:bodyPr>
          <a:lstStyle/>
          <a:p>
            <a:pPr algn="ctr"/>
            <a:r>
              <a:rPr lang="en-US" sz="1000" dirty="0"/>
              <a:t>New state information </a:t>
            </a:r>
          </a:p>
        </p:txBody>
      </p:sp>
      <p:pic>
        <p:nvPicPr>
          <p:cNvPr id="23" name="Graphic 22" descr="Arrow Right with solid fill">
            <a:extLst>
              <a:ext uri="{FF2B5EF4-FFF2-40B4-BE49-F238E27FC236}">
                <a16:creationId xmlns:a16="http://schemas.microsoft.com/office/drawing/2014/main" id="{B68FBAE0-9E99-D349-35E0-80EBE08DD1B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275828">
            <a:off x="5215761" y="2010896"/>
            <a:ext cx="721221" cy="721221"/>
          </a:xfrm>
          <a:prstGeom prst="rect">
            <a:avLst/>
          </a:prstGeom>
        </p:spPr>
      </p:pic>
      <p:pic>
        <p:nvPicPr>
          <p:cNvPr id="24" name="Graphic 23" descr="Arrow Right with solid fill">
            <a:extLst>
              <a:ext uri="{FF2B5EF4-FFF2-40B4-BE49-F238E27FC236}">
                <a16:creationId xmlns:a16="http://schemas.microsoft.com/office/drawing/2014/main" id="{F99FE184-C0E9-4413-4F20-D59CE7B6B3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733696">
            <a:off x="5195475" y="2329598"/>
            <a:ext cx="721221" cy="721221"/>
          </a:xfrm>
          <a:prstGeom prst="rect">
            <a:avLst/>
          </a:prstGeom>
        </p:spPr>
      </p:pic>
      <p:sp>
        <p:nvSpPr>
          <p:cNvPr id="25" name="TextBox 24">
            <a:extLst>
              <a:ext uri="{FF2B5EF4-FFF2-40B4-BE49-F238E27FC236}">
                <a16:creationId xmlns:a16="http://schemas.microsoft.com/office/drawing/2014/main" id="{66B0F314-CC50-E8C4-22D0-ACF9C037F8C7}"/>
              </a:ext>
            </a:extLst>
          </p:cNvPr>
          <p:cNvSpPr txBox="1"/>
          <p:nvPr/>
        </p:nvSpPr>
        <p:spPr>
          <a:xfrm>
            <a:off x="5878926" y="2072179"/>
            <a:ext cx="1124262" cy="553998"/>
          </a:xfrm>
          <a:prstGeom prst="rect">
            <a:avLst/>
          </a:prstGeom>
          <a:noFill/>
        </p:spPr>
        <p:txBody>
          <a:bodyPr wrap="square" rtlCol="0">
            <a:spAutoFit/>
          </a:bodyPr>
          <a:lstStyle/>
          <a:p>
            <a:pPr algn="ctr"/>
            <a:r>
              <a:rPr lang="en-US" sz="1000" dirty="0"/>
              <a:t>Policy Network – Probability over actions </a:t>
            </a:r>
          </a:p>
        </p:txBody>
      </p:sp>
      <p:sp>
        <p:nvSpPr>
          <p:cNvPr id="26" name="TextBox 25">
            <a:extLst>
              <a:ext uri="{FF2B5EF4-FFF2-40B4-BE49-F238E27FC236}">
                <a16:creationId xmlns:a16="http://schemas.microsoft.com/office/drawing/2014/main" id="{B407A9AD-284B-5E7B-146D-DD97B3933EB2}"/>
              </a:ext>
            </a:extLst>
          </p:cNvPr>
          <p:cNvSpPr txBox="1"/>
          <p:nvPr/>
        </p:nvSpPr>
        <p:spPr>
          <a:xfrm>
            <a:off x="5833230" y="2755686"/>
            <a:ext cx="1124262" cy="553998"/>
          </a:xfrm>
          <a:prstGeom prst="rect">
            <a:avLst/>
          </a:prstGeom>
          <a:noFill/>
        </p:spPr>
        <p:txBody>
          <a:bodyPr wrap="square" rtlCol="0">
            <a:spAutoFit/>
          </a:bodyPr>
          <a:lstStyle/>
          <a:p>
            <a:pPr algn="ctr"/>
            <a:r>
              <a:rPr lang="en-US" sz="1000" dirty="0"/>
              <a:t>Value Network – expected return over the action</a:t>
            </a:r>
          </a:p>
        </p:txBody>
      </p:sp>
      <p:pic>
        <p:nvPicPr>
          <p:cNvPr id="28" name="Picture 27" descr="A black background with a black square&#10;&#10;AI-generated content may be incorrect.">
            <a:extLst>
              <a:ext uri="{FF2B5EF4-FFF2-40B4-BE49-F238E27FC236}">
                <a16:creationId xmlns:a16="http://schemas.microsoft.com/office/drawing/2014/main" id="{D6570D8E-25B4-8C28-C500-F575E35CCAD0}"/>
              </a:ext>
            </a:extLst>
          </p:cNvPr>
          <p:cNvPicPr>
            <a:picLocks noChangeAspect="1"/>
          </p:cNvPicPr>
          <p:nvPr/>
        </p:nvPicPr>
        <p:blipFill>
          <a:blip r:embed="rId10"/>
          <a:stretch>
            <a:fillRect/>
          </a:stretch>
        </p:blipFill>
        <p:spPr>
          <a:xfrm>
            <a:off x="3452270" y="3902546"/>
            <a:ext cx="1124262" cy="1124262"/>
          </a:xfrm>
          <a:prstGeom prst="rect">
            <a:avLst/>
          </a:prstGeom>
        </p:spPr>
      </p:pic>
      <p:sp>
        <p:nvSpPr>
          <p:cNvPr id="31" name="Rounded Rectangle 30">
            <a:extLst>
              <a:ext uri="{FF2B5EF4-FFF2-40B4-BE49-F238E27FC236}">
                <a16:creationId xmlns:a16="http://schemas.microsoft.com/office/drawing/2014/main" id="{42C6250E-DA16-A767-5E4E-03BA6546E46D}"/>
              </a:ext>
            </a:extLst>
          </p:cNvPr>
          <p:cNvSpPr/>
          <p:nvPr/>
        </p:nvSpPr>
        <p:spPr>
          <a:xfrm>
            <a:off x="3340547" y="3735619"/>
            <a:ext cx="3662641" cy="1485248"/>
          </a:xfrm>
          <a:prstGeom prst="roundRect">
            <a:avLst/>
          </a:prstGeom>
          <a:solidFill>
            <a:schemeClr val="accent1">
              <a:alpha val="17215"/>
            </a:scheme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3" name="TextBox 32">
            <a:extLst>
              <a:ext uri="{FF2B5EF4-FFF2-40B4-BE49-F238E27FC236}">
                <a16:creationId xmlns:a16="http://schemas.microsoft.com/office/drawing/2014/main" id="{E1B2B449-C3C7-3799-2326-72C5AB6A5E17}"/>
              </a:ext>
            </a:extLst>
          </p:cNvPr>
          <p:cNvSpPr txBox="1"/>
          <p:nvPr/>
        </p:nvSpPr>
        <p:spPr>
          <a:xfrm>
            <a:off x="4593838" y="3764375"/>
            <a:ext cx="2316918" cy="1769715"/>
          </a:xfrm>
          <a:prstGeom prst="rect">
            <a:avLst/>
          </a:prstGeom>
          <a:noFill/>
        </p:spPr>
        <p:txBody>
          <a:bodyPr wrap="square" rtlCol="0">
            <a:spAutoFit/>
          </a:bodyPr>
          <a:lstStyle/>
          <a:p>
            <a:r>
              <a:rPr lang="en-SG" sz="900" dirty="0"/>
              <a:t>Prompt Construction:</a:t>
            </a:r>
          </a:p>
          <a:p>
            <a:pPr marL="228600" indent="-228600">
              <a:buFont typeface="+mj-lt"/>
              <a:buAutoNum type="arabicPeriod"/>
            </a:pPr>
            <a:r>
              <a:rPr lang="en-SG" sz="900" b="1" dirty="0"/>
              <a:t>Role, hints for decision</a:t>
            </a:r>
            <a:r>
              <a:rPr lang="en-SG" sz="900" dirty="0"/>
              <a:t> (e.g. “You are a traffic-signal expert”)</a:t>
            </a:r>
          </a:p>
          <a:p>
            <a:pPr marL="228600" indent="-228600">
              <a:buFont typeface="+mj-lt"/>
              <a:buAutoNum type="arabicPeriod"/>
            </a:pPr>
            <a:r>
              <a:rPr lang="en-SG" sz="900" b="1" dirty="0"/>
              <a:t>Traffic scenario description</a:t>
            </a:r>
            <a:r>
              <a:rPr lang="en-SG" sz="900" dirty="0"/>
              <a:t> (emergency flags, degraded readings)</a:t>
            </a:r>
          </a:p>
          <a:p>
            <a:pPr marL="228600" indent="-228600">
              <a:buFont typeface="+mj-lt"/>
              <a:buAutoNum type="arabicPeriod"/>
            </a:pPr>
            <a:r>
              <a:rPr lang="en-SG" sz="900" b="1" dirty="0"/>
              <a:t>Logical chain of answers</a:t>
            </a:r>
            <a:r>
              <a:rPr lang="en-SG" sz="900" dirty="0"/>
              <a:t> (“Explain why you choose this phase…”)</a:t>
            </a:r>
          </a:p>
          <a:p>
            <a:pPr marL="228600" indent="-228600">
              <a:buFont typeface="+mj-lt"/>
              <a:buAutoNum type="arabicPeriod"/>
            </a:pPr>
            <a:r>
              <a:rPr lang="en-SG" sz="900" b="1" dirty="0"/>
              <a:t>Decision Format</a:t>
            </a:r>
            <a:r>
              <a:rPr lang="en-SG" sz="900" dirty="0"/>
              <a:t> (strict JSON schema)</a:t>
            </a:r>
          </a:p>
          <a:p>
            <a:endParaRPr lang="en-US" sz="1400" dirty="0"/>
          </a:p>
          <a:p>
            <a:endParaRPr lang="en-US" sz="1400" dirty="0"/>
          </a:p>
        </p:txBody>
      </p:sp>
      <p:pic>
        <p:nvPicPr>
          <p:cNvPr id="34" name="Graphic 33" descr="Arrow Right with solid fill">
            <a:extLst>
              <a:ext uri="{FF2B5EF4-FFF2-40B4-BE49-F238E27FC236}">
                <a16:creationId xmlns:a16="http://schemas.microsoft.com/office/drawing/2014/main" id="{E8A00A19-78D9-8FE4-FA00-C50AF617F5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2319706" y="3734332"/>
            <a:ext cx="707167" cy="721221"/>
          </a:xfrm>
          <a:prstGeom prst="rect">
            <a:avLst/>
          </a:prstGeom>
        </p:spPr>
      </p:pic>
      <p:pic>
        <p:nvPicPr>
          <p:cNvPr id="35" name="Graphic 34" descr="Arrow Right with solid fill">
            <a:extLst>
              <a:ext uri="{FF2B5EF4-FFF2-40B4-BE49-F238E27FC236}">
                <a16:creationId xmlns:a16="http://schemas.microsoft.com/office/drawing/2014/main" id="{C7FBDF00-F14E-21A4-342E-2528B5CC61E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06191" y="2318155"/>
            <a:ext cx="721221" cy="721221"/>
          </a:xfrm>
          <a:prstGeom prst="rect">
            <a:avLst/>
          </a:prstGeom>
        </p:spPr>
      </p:pic>
      <p:sp>
        <p:nvSpPr>
          <p:cNvPr id="37" name="TextBox 36">
            <a:extLst>
              <a:ext uri="{FF2B5EF4-FFF2-40B4-BE49-F238E27FC236}">
                <a16:creationId xmlns:a16="http://schemas.microsoft.com/office/drawing/2014/main" id="{1396A802-D2A4-3D55-3157-4BD9188179B7}"/>
              </a:ext>
            </a:extLst>
          </p:cNvPr>
          <p:cNvSpPr txBox="1"/>
          <p:nvPr/>
        </p:nvSpPr>
        <p:spPr>
          <a:xfrm>
            <a:off x="3694916" y="5211425"/>
            <a:ext cx="3096746" cy="246221"/>
          </a:xfrm>
          <a:prstGeom prst="rect">
            <a:avLst/>
          </a:prstGeom>
          <a:noFill/>
        </p:spPr>
        <p:txBody>
          <a:bodyPr wrap="square" rtlCol="0">
            <a:spAutoFit/>
          </a:bodyPr>
          <a:lstStyle/>
          <a:p>
            <a:pPr algn="ctr"/>
            <a:r>
              <a:rPr lang="en-US" sz="1000" dirty="0"/>
              <a:t>A rich prompt information is provided explicitly</a:t>
            </a:r>
          </a:p>
        </p:txBody>
      </p:sp>
      <p:sp>
        <p:nvSpPr>
          <p:cNvPr id="38" name="Right Brace 37">
            <a:extLst>
              <a:ext uri="{FF2B5EF4-FFF2-40B4-BE49-F238E27FC236}">
                <a16:creationId xmlns:a16="http://schemas.microsoft.com/office/drawing/2014/main" id="{7C29E8AF-B286-EBA8-52DB-92B7956DBA64}"/>
              </a:ext>
            </a:extLst>
          </p:cNvPr>
          <p:cNvSpPr/>
          <p:nvPr/>
        </p:nvSpPr>
        <p:spPr>
          <a:xfrm>
            <a:off x="7096695" y="2195868"/>
            <a:ext cx="344397" cy="877356"/>
          </a:xfrm>
          <a:prstGeom prst="rightBrace">
            <a:avLst>
              <a:gd name="adj1" fmla="val 8333"/>
              <a:gd name="adj2" fmla="val 48765"/>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7B0C90AA-D937-5661-66A3-E0B916E9DEB6}"/>
              </a:ext>
            </a:extLst>
          </p:cNvPr>
          <p:cNvSpPr txBox="1"/>
          <p:nvPr/>
        </p:nvSpPr>
        <p:spPr>
          <a:xfrm>
            <a:off x="7266628" y="2359839"/>
            <a:ext cx="1427044" cy="553998"/>
          </a:xfrm>
          <a:prstGeom prst="rect">
            <a:avLst/>
          </a:prstGeom>
          <a:noFill/>
        </p:spPr>
        <p:txBody>
          <a:bodyPr wrap="square" rtlCol="0">
            <a:spAutoFit/>
          </a:bodyPr>
          <a:lstStyle/>
          <a:p>
            <a:pPr algn="ctr"/>
            <a:r>
              <a:rPr lang="en-US" sz="1000" dirty="0"/>
              <a:t>Action </a:t>
            </a:r>
            <a:r>
              <a:rPr lang="en-US" sz="1000" b="1" dirty="0"/>
              <a:t>a</a:t>
            </a:r>
            <a:r>
              <a:rPr lang="en-US" sz="1000" b="1" baseline="-25000" dirty="0"/>
              <a:t>t </a:t>
            </a:r>
            <a:r>
              <a:rPr lang="en-US" sz="1000" b="1" dirty="0"/>
              <a:t> gets suggested by the policy</a:t>
            </a:r>
          </a:p>
        </p:txBody>
      </p:sp>
      <p:pic>
        <p:nvPicPr>
          <p:cNvPr id="40" name="Graphic 39" descr="Arrow Right with solid fill">
            <a:extLst>
              <a:ext uri="{FF2B5EF4-FFF2-40B4-BE49-F238E27FC236}">
                <a16:creationId xmlns:a16="http://schemas.microsoft.com/office/drawing/2014/main" id="{FDCDB11F-C2AF-A560-964B-CD0A2D7A860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3188" y="4036018"/>
            <a:ext cx="1322104" cy="721221"/>
          </a:xfrm>
          <a:prstGeom prst="rect">
            <a:avLst/>
          </a:prstGeom>
        </p:spPr>
      </p:pic>
      <p:pic>
        <p:nvPicPr>
          <p:cNvPr id="41" name="Graphic 40" descr="Arrow Right with solid fill">
            <a:extLst>
              <a:ext uri="{FF2B5EF4-FFF2-40B4-BE49-F238E27FC236}">
                <a16:creationId xmlns:a16="http://schemas.microsoft.com/office/drawing/2014/main" id="{9A2B99CC-15E8-9EA3-294D-4436DBF20F1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200000">
            <a:off x="7502955" y="3264789"/>
            <a:ext cx="1454146" cy="721221"/>
          </a:xfrm>
          <a:prstGeom prst="rect">
            <a:avLst/>
          </a:prstGeom>
        </p:spPr>
      </p:pic>
      <p:sp>
        <p:nvSpPr>
          <p:cNvPr id="42" name="TextBox 41">
            <a:extLst>
              <a:ext uri="{FF2B5EF4-FFF2-40B4-BE49-F238E27FC236}">
                <a16:creationId xmlns:a16="http://schemas.microsoft.com/office/drawing/2014/main" id="{5522446C-67BB-5A67-BC5B-8167917BB660}"/>
              </a:ext>
            </a:extLst>
          </p:cNvPr>
          <p:cNvSpPr txBox="1"/>
          <p:nvPr/>
        </p:nvSpPr>
        <p:spPr>
          <a:xfrm>
            <a:off x="8288084" y="3194107"/>
            <a:ext cx="1534987" cy="1323439"/>
          </a:xfrm>
          <a:prstGeom prst="rect">
            <a:avLst/>
          </a:prstGeom>
          <a:noFill/>
        </p:spPr>
        <p:txBody>
          <a:bodyPr wrap="square" rtlCol="0">
            <a:spAutoFit/>
          </a:bodyPr>
          <a:lstStyle/>
          <a:p>
            <a:pPr algn="ctr"/>
            <a:r>
              <a:rPr lang="en-US" sz="1000" dirty="0"/>
              <a:t>LLM Evaluates whether the new state information given a</a:t>
            </a:r>
            <a:r>
              <a:rPr lang="en-US" sz="1000" baseline="-25000" dirty="0"/>
              <a:t>t  </a:t>
            </a:r>
            <a:r>
              <a:rPr lang="en-US" sz="1000" dirty="0"/>
              <a:t> is </a:t>
            </a:r>
            <a:r>
              <a:rPr lang="en-US" sz="1000" b="1" dirty="0"/>
              <a:t>reasonable</a:t>
            </a:r>
            <a:r>
              <a:rPr lang="en-US" sz="1000" dirty="0"/>
              <a:t> </a:t>
            </a:r>
            <a:r>
              <a:rPr lang="en-US" sz="1000" b="1" dirty="0"/>
              <a:t>or unreasonable </a:t>
            </a:r>
            <a:r>
              <a:rPr lang="en-US" sz="1000" dirty="0"/>
              <a:t>and</a:t>
            </a:r>
            <a:r>
              <a:rPr lang="en-US" sz="1000" b="1" dirty="0"/>
              <a:t> </a:t>
            </a:r>
            <a:r>
              <a:rPr lang="en-US" sz="1000" b="1" dirty="0">
                <a:solidFill>
                  <a:schemeClr val="accent5">
                    <a:lumMod val="75000"/>
                  </a:schemeClr>
                </a:solidFill>
              </a:rPr>
              <a:t>predicts its own action </a:t>
            </a:r>
            <a:r>
              <a:rPr lang="en-US" sz="1000" b="1" dirty="0" err="1">
                <a:solidFill>
                  <a:schemeClr val="accent5">
                    <a:lumMod val="75000"/>
                  </a:schemeClr>
                </a:solidFill>
              </a:rPr>
              <a:t>a`</a:t>
            </a:r>
            <a:r>
              <a:rPr lang="en-US" sz="1000" b="1" baseline="-25000" dirty="0" err="1">
                <a:solidFill>
                  <a:schemeClr val="accent5">
                    <a:lumMod val="75000"/>
                  </a:schemeClr>
                </a:solidFill>
              </a:rPr>
              <a:t>t</a:t>
            </a:r>
            <a:r>
              <a:rPr lang="en-US" sz="1000" b="1" baseline="-25000" dirty="0">
                <a:solidFill>
                  <a:schemeClr val="accent5">
                    <a:lumMod val="75000"/>
                  </a:schemeClr>
                </a:solidFill>
              </a:rPr>
              <a:t>  . </a:t>
            </a:r>
            <a:r>
              <a:rPr lang="en-US" sz="1000" b="1" dirty="0">
                <a:solidFill>
                  <a:schemeClr val="accent5">
                    <a:lumMod val="75000"/>
                  </a:schemeClr>
                </a:solidFill>
              </a:rPr>
              <a:t>(Gives directly a low-level action) </a:t>
            </a:r>
          </a:p>
        </p:txBody>
      </p:sp>
      <p:pic>
        <p:nvPicPr>
          <p:cNvPr id="43" name="Graphic 42" descr="Arrow Right with solid fill">
            <a:extLst>
              <a:ext uri="{FF2B5EF4-FFF2-40B4-BE49-F238E27FC236}">
                <a16:creationId xmlns:a16="http://schemas.microsoft.com/office/drawing/2014/main" id="{52C4DB84-E901-CC1F-3E30-FCFE2FDF160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9842258">
            <a:off x="8411851" y="2034610"/>
            <a:ext cx="817721" cy="721221"/>
          </a:xfrm>
          <a:prstGeom prst="rect">
            <a:avLst/>
          </a:prstGeom>
        </p:spPr>
      </p:pic>
      <p:pic>
        <p:nvPicPr>
          <p:cNvPr id="44" name="Graphic 43" descr="Arrow Right with solid fill">
            <a:extLst>
              <a:ext uri="{FF2B5EF4-FFF2-40B4-BE49-F238E27FC236}">
                <a16:creationId xmlns:a16="http://schemas.microsoft.com/office/drawing/2014/main" id="{4AE1865C-4D6A-1320-55BD-7119A833F2A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410485">
            <a:off x="8437057" y="2451623"/>
            <a:ext cx="817721" cy="721221"/>
          </a:xfrm>
          <a:prstGeom prst="rect">
            <a:avLst/>
          </a:prstGeom>
        </p:spPr>
      </p:pic>
      <p:sp>
        <p:nvSpPr>
          <p:cNvPr id="45" name="TextBox 44">
            <a:extLst>
              <a:ext uri="{FF2B5EF4-FFF2-40B4-BE49-F238E27FC236}">
                <a16:creationId xmlns:a16="http://schemas.microsoft.com/office/drawing/2014/main" id="{D9BB18C5-D079-4D43-2E93-4CBC3625C89E}"/>
              </a:ext>
            </a:extLst>
          </p:cNvPr>
          <p:cNvSpPr txBox="1"/>
          <p:nvPr/>
        </p:nvSpPr>
        <p:spPr>
          <a:xfrm>
            <a:off x="9139896" y="1995813"/>
            <a:ext cx="609885" cy="400110"/>
          </a:xfrm>
          <a:prstGeom prst="rect">
            <a:avLst/>
          </a:prstGeom>
          <a:noFill/>
        </p:spPr>
        <p:txBody>
          <a:bodyPr wrap="square" rtlCol="0">
            <a:spAutoFit/>
          </a:bodyPr>
          <a:lstStyle/>
          <a:p>
            <a:pPr algn="ctr"/>
            <a:r>
              <a:rPr lang="en-US" sz="1000" dirty="0"/>
              <a:t>Action </a:t>
            </a:r>
            <a:r>
              <a:rPr lang="en-US" sz="1000" b="1" dirty="0"/>
              <a:t>a</a:t>
            </a:r>
            <a:r>
              <a:rPr lang="en-US" sz="1000" b="1" baseline="-25000" dirty="0"/>
              <a:t>t  = </a:t>
            </a:r>
            <a:r>
              <a:rPr lang="en-US" sz="1000" b="1" dirty="0"/>
              <a:t>a</a:t>
            </a:r>
            <a:r>
              <a:rPr lang="en-US" sz="1000" b="1" baseline="-25000" dirty="0"/>
              <a:t>t </a:t>
            </a:r>
            <a:endParaRPr lang="en-US" sz="1000" dirty="0"/>
          </a:p>
        </p:txBody>
      </p:sp>
      <p:sp>
        <p:nvSpPr>
          <p:cNvPr id="46" name="TextBox 45">
            <a:extLst>
              <a:ext uri="{FF2B5EF4-FFF2-40B4-BE49-F238E27FC236}">
                <a16:creationId xmlns:a16="http://schemas.microsoft.com/office/drawing/2014/main" id="{A35FA011-88F0-7D29-D468-76B139381C25}"/>
              </a:ext>
            </a:extLst>
          </p:cNvPr>
          <p:cNvSpPr txBox="1"/>
          <p:nvPr/>
        </p:nvSpPr>
        <p:spPr>
          <a:xfrm>
            <a:off x="9143939" y="2778266"/>
            <a:ext cx="594297" cy="400110"/>
          </a:xfrm>
          <a:prstGeom prst="rect">
            <a:avLst/>
          </a:prstGeom>
          <a:noFill/>
        </p:spPr>
        <p:txBody>
          <a:bodyPr wrap="square" rtlCol="0">
            <a:spAutoFit/>
          </a:bodyPr>
          <a:lstStyle/>
          <a:p>
            <a:pPr algn="ctr"/>
            <a:r>
              <a:rPr lang="en-US" sz="1000" dirty="0"/>
              <a:t>Action </a:t>
            </a:r>
            <a:r>
              <a:rPr lang="en-US" sz="1000" b="1" dirty="0"/>
              <a:t>a</a:t>
            </a:r>
            <a:r>
              <a:rPr lang="en-US" sz="1000" b="1" baseline="-25000" dirty="0"/>
              <a:t>t  = </a:t>
            </a:r>
            <a:r>
              <a:rPr lang="en-US" sz="1000" b="1" dirty="0" err="1">
                <a:solidFill>
                  <a:schemeClr val="accent5">
                    <a:lumMod val="75000"/>
                  </a:schemeClr>
                </a:solidFill>
              </a:rPr>
              <a:t>a`</a:t>
            </a:r>
            <a:r>
              <a:rPr lang="en-US" sz="1000" b="1" baseline="-25000" dirty="0" err="1">
                <a:solidFill>
                  <a:schemeClr val="accent5">
                    <a:lumMod val="75000"/>
                  </a:schemeClr>
                </a:solidFill>
              </a:rPr>
              <a:t>t</a:t>
            </a:r>
            <a:r>
              <a:rPr lang="en-US" sz="1000" b="1" baseline="-25000" dirty="0">
                <a:solidFill>
                  <a:schemeClr val="accent5">
                    <a:lumMod val="75000"/>
                  </a:schemeClr>
                </a:solidFill>
              </a:rPr>
              <a:t> </a:t>
            </a:r>
            <a:endParaRPr lang="en-US" sz="1000" dirty="0">
              <a:solidFill>
                <a:schemeClr val="accent5">
                  <a:lumMod val="75000"/>
                </a:schemeClr>
              </a:solidFill>
            </a:endParaRPr>
          </a:p>
        </p:txBody>
      </p:sp>
      <p:sp>
        <p:nvSpPr>
          <p:cNvPr id="47" name="TextBox 46">
            <a:extLst>
              <a:ext uri="{FF2B5EF4-FFF2-40B4-BE49-F238E27FC236}">
                <a16:creationId xmlns:a16="http://schemas.microsoft.com/office/drawing/2014/main" id="{C19040C3-55F5-FD87-FC85-AF411A786DE2}"/>
              </a:ext>
            </a:extLst>
          </p:cNvPr>
          <p:cNvSpPr txBox="1"/>
          <p:nvPr/>
        </p:nvSpPr>
        <p:spPr>
          <a:xfrm rot="19740592">
            <a:off x="7989440" y="2180412"/>
            <a:ext cx="1440149" cy="246221"/>
          </a:xfrm>
          <a:prstGeom prst="rect">
            <a:avLst/>
          </a:prstGeom>
          <a:noFill/>
        </p:spPr>
        <p:txBody>
          <a:bodyPr wrap="square" rtlCol="0">
            <a:spAutoFit/>
          </a:bodyPr>
          <a:lstStyle/>
          <a:p>
            <a:pPr algn="ctr"/>
            <a:r>
              <a:rPr lang="en-US" sz="1000" dirty="0"/>
              <a:t>Reasonable</a:t>
            </a:r>
          </a:p>
        </p:txBody>
      </p:sp>
      <p:sp>
        <p:nvSpPr>
          <p:cNvPr id="48" name="TextBox 47">
            <a:extLst>
              <a:ext uri="{FF2B5EF4-FFF2-40B4-BE49-F238E27FC236}">
                <a16:creationId xmlns:a16="http://schemas.microsoft.com/office/drawing/2014/main" id="{0EFC0FF7-4DD5-29C1-E3E9-AF2183FD5FAA}"/>
              </a:ext>
            </a:extLst>
          </p:cNvPr>
          <p:cNvSpPr txBox="1"/>
          <p:nvPr/>
        </p:nvSpPr>
        <p:spPr>
          <a:xfrm rot="1593494">
            <a:off x="8029985" y="2841359"/>
            <a:ext cx="1440149" cy="246221"/>
          </a:xfrm>
          <a:prstGeom prst="rect">
            <a:avLst/>
          </a:prstGeom>
          <a:noFill/>
        </p:spPr>
        <p:txBody>
          <a:bodyPr wrap="square" rtlCol="0">
            <a:spAutoFit/>
          </a:bodyPr>
          <a:lstStyle/>
          <a:p>
            <a:pPr algn="ctr"/>
            <a:r>
              <a:rPr lang="en-US" sz="1000" dirty="0"/>
              <a:t>Unreasonable</a:t>
            </a:r>
          </a:p>
        </p:txBody>
      </p:sp>
      <p:sp>
        <p:nvSpPr>
          <p:cNvPr id="49" name="Right Brace 48">
            <a:extLst>
              <a:ext uri="{FF2B5EF4-FFF2-40B4-BE49-F238E27FC236}">
                <a16:creationId xmlns:a16="http://schemas.microsoft.com/office/drawing/2014/main" id="{F33F42D2-3B8D-FED7-D0AA-9B7A2FA1E030}"/>
              </a:ext>
            </a:extLst>
          </p:cNvPr>
          <p:cNvSpPr/>
          <p:nvPr/>
        </p:nvSpPr>
        <p:spPr>
          <a:xfrm>
            <a:off x="9694685" y="2142333"/>
            <a:ext cx="291009" cy="864140"/>
          </a:xfrm>
          <a:prstGeom prst="rightBrace">
            <a:avLst>
              <a:gd name="adj1" fmla="val 8333"/>
              <a:gd name="adj2" fmla="val 48764"/>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0" name="TextBox 49">
            <a:extLst>
              <a:ext uri="{FF2B5EF4-FFF2-40B4-BE49-F238E27FC236}">
                <a16:creationId xmlns:a16="http://schemas.microsoft.com/office/drawing/2014/main" id="{E00FC31A-F6F1-7DE5-4955-3CC7645FBC79}"/>
              </a:ext>
            </a:extLst>
          </p:cNvPr>
          <p:cNvSpPr txBox="1"/>
          <p:nvPr/>
        </p:nvSpPr>
        <p:spPr>
          <a:xfrm>
            <a:off x="10012852" y="2242227"/>
            <a:ext cx="1046427" cy="707886"/>
          </a:xfrm>
          <a:prstGeom prst="rect">
            <a:avLst/>
          </a:prstGeom>
          <a:noFill/>
          <a:ln>
            <a:solidFill>
              <a:schemeClr val="dk1"/>
            </a:solidFill>
          </a:ln>
        </p:spPr>
        <p:txBody>
          <a:bodyPr wrap="square" rtlCol="0">
            <a:spAutoFit/>
          </a:bodyPr>
          <a:lstStyle/>
          <a:p>
            <a:pPr algn="ctr"/>
            <a:r>
              <a:rPr lang="en-US" sz="1000" dirty="0"/>
              <a:t>Apply to environment and observe </a:t>
            </a:r>
            <a:r>
              <a:rPr lang="en-US" sz="1000" b="1" dirty="0"/>
              <a:t>S</a:t>
            </a:r>
            <a:r>
              <a:rPr lang="en-US" sz="1000" b="1" baseline="-25000" dirty="0"/>
              <a:t>t+1</a:t>
            </a:r>
            <a:endParaRPr lang="en-US" sz="1000" b="1" dirty="0"/>
          </a:p>
        </p:txBody>
      </p:sp>
      <p:pic>
        <p:nvPicPr>
          <p:cNvPr id="51" name="Graphic 50" descr="Arrow Right with solid fill">
            <a:extLst>
              <a:ext uri="{FF2B5EF4-FFF2-40B4-BE49-F238E27FC236}">
                <a16:creationId xmlns:a16="http://schemas.microsoft.com/office/drawing/2014/main" id="{A325F2A4-2390-ADD2-1732-5582C38AED3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10176857" y="3013683"/>
            <a:ext cx="707167" cy="721221"/>
          </a:xfrm>
          <a:prstGeom prst="rect">
            <a:avLst/>
          </a:prstGeom>
        </p:spPr>
      </p:pic>
      <p:sp>
        <p:nvSpPr>
          <p:cNvPr id="52" name="TextBox 51">
            <a:extLst>
              <a:ext uri="{FF2B5EF4-FFF2-40B4-BE49-F238E27FC236}">
                <a16:creationId xmlns:a16="http://schemas.microsoft.com/office/drawing/2014/main" id="{B43BDAD6-377F-527B-D8F8-8A50C2EEA3BE}"/>
              </a:ext>
            </a:extLst>
          </p:cNvPr>
          <p:cNvSpPr txBox="1"/>
          <p:nvPr/>
        </p:nvSpPr>
        <p:spPr>
          <a:xfrm>
            <a:off x="9810365" y="3738687"/>
            <a:ext cx="1440149" cy="246221"/>
          </a:xfrm>
          <a:prstGeom prst="rect">
            <a:avLst/>
          </a:prstGeom>
          <a:noFill/>
        </p:spPr>
        <p:txBody>
          <a:bodyPr wrap="square" rtlCol="0">
            <a:spAutoFit/>
          </a:bodyPr>
          <a:lstStyle/>
          <a:p>
            <a:pPr algn="ctr"/>
            <a:r>
              <a:rPr lang="en-US" sz="1000" dirty="0"/>
              <a:t>LOOP</a:t>
            </a:r>
          </a:p>
        </p:txBody>
      </p:sp>
      <p:sp>
        <p:nvSpPr>
          <p:cNvPr id="4" name="TextBox 3">
            <a:extLst>
              <a:ext uri="{FF2B5EF4-FFF2-40B4-BE49-F238E27FC236}">
                <a16:creationId xmlns:a16="http://schemas.microsoft.com/office/drawing/2014/main" id="{0BE03D42-5F59-8319-344C-4F70CCE43A48}"/>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Mar 2024</a:t>
            </a:r>
            <a:endParaRPr lang="en-SG" sz="1600" dirty="0"/>
          </a:p>
        </p:txBody>
      </p:sp>
      <p:sp>
        <p:nvSpPr>
          <p:cNvPr id="5" name="Rectangle 4">
            <a:extLst>
              <a:ext uri="{FF2B5EF4-FFF2-40B4-BE49-F238E27FC236}">
                <a16:creationId xmlns:a16="http://schemas.microsoft.com/office/drawing/2014/main" id="{17193520-72F2-7165-2B80-20E12205E0FA}"/>
              </a:ext>
            </a:extLst>
          </p:cNvPr>
          <p:cNvSpPr/>
          <p:nvPr/>
        </p:nvSpPr>
        <p:spPr>
          <a:xfrm>
            <a:off x="3039122" y="3539990"/>
            <a:ext cx="6939351" cy="2334330"/>
          </a:xfrm>
          <a:custGeom>
            <a:avLst/>
            <a:gdLst>
              <a:gd name="connsiteX0" fmla="*/ 0 w 6939351"/>
              <a:gd name="connsiteY0" fmla="*/ 0 h 2334330"/>
              <a:gd name="connsiteX1" fmla="*/ 439492 w 6939351"/>
              <a:gd name="connsiteY1" fmla="*/ 0 h 2334330"/>
              <a:gd name="connsiteX2" fmla="*/ 1017771 w 6939351"/>
              <a:gd name="connsiteY2" fmla="*/ 0 h 2334330"/>
              <a:gd name="connsiteX3" fmla="*/ 1734838 w 6939351"/>
              <a:gd name="connsiteY3" fmla="*/ 0 h 2334330"/>
              <a:gd name="connsiteX4" fmla="*/ 2174330 w 6939351"/>
              <a:gd name="connsiteY4" fmla="*/ 0 h 2334330"/>
              <a:gd name="connsiteX5" fmla="*/ 2822003 w 6939351"/>
              <a:gd name="connsiteY5" fmla="*/ 0 h 2334330"/>
              <a:gd name="connsiteX6" fmla="*/ 3261495 w 6939351"/>
              <a:gd name="connsiteY6" fmla="*/ 0 h 2334330"/>
              <a:gd name="connsiteX7" fmla="*/ 3839774 w 6939351"/>
              <a:gd name="connsiteY7" fmla="*/ 0 h 2334330"/>
              <a:gd name="connsiteX8" fmla="*/ 4487447 w 6939351"/>
              <a:gd name="connsiteY8" fmla="*/ 0 h 2334330"/>
              <a:gd name="connsiteX9" fmla="*/ 4857546 w 6939351"/>
              <a:gd name="connsiteY9" fmla="*/ 0 h 2334330"/>
              <a:gd name="connsiteX10" fmla="*/ 5227644 w 6939351"/>
              <a:gd name="connsiteY10" fmla="*/ 0 h 2334330"/>
              <a:gd name="connsiteX11" fmla="*/ 5944711 w 6939351"/>
              <a:gd name="connsiteY11" fmla="*/ 0 h 2334330"/>
              <a:gd name="connsiteX12" fmla="*/ 6939351 w 6939351"/>
              <a:gd name="connsiteY12" fmla="*/ 0 h 2334330"/>
              <a:gd name="connsiteX13" fmla="*/ 6939351 w 6939351"/>
              <a:gd name="connsiteY13" fmla="*/ 513553 h 2334330"/>
              <a:gd name="connsiteX14" fmla="*/ 6939351 w 6939351"/>
              <a:gd name="connsiteY14" fmla="*/ 1073792 h 2334330"/>
              <a:gd name="connsiteX15" fmla="*/ 6939351 w 6939351"/>
              <a:gd name="connsiteY15" fmla="*/ 1680718 h 2334330"/>
              <a:gd name="connsiteX16" fmla="*/ 6939351 w 6939351"/>
              <a:gd name="connsiteY16" fmla="*/ 2334330 h 2334330"/>
              <a:gd name="connsiteX17" fmla="*/ 6361072 w 6939351"/>
              <a:gd name="connsiteY17" fmla="*/ 2334330 h 2334330"/>
              <a:gd name="connsiteX18" fmla="*/ 5644005 w 6939351"/>
              <a:gd name="connsiteY18" fmla="*/ 2334330 h 2334330"/>
              <a:gd name="connsiteX19" fmla="*/ 4926939 w 6939351"/>
              <a:gd name="connsiteY19" fmla="*/ 2334330 h 2334330"/>
              <a:gd name="connsiteX20" fmla="*/ 4279266 w 6939351"/>
              <a:gd name="connsiteY20" fmla="*/ 2334330 h 2334330"/>
              <a:gd name="connsiteX21" fmla="*/ 3631594 w 6939351"/>
              <a:gd name="connsiteY21" fmla="*/ 2334330 h 2334330"/>
              <a:gd name="connsiteX22" fmla="*/ 2983921 w 6939351"/>
              <a:gd name="connsiteY22" fmla="*/ 2334330 h 2334330"/>
              <a:gd name="connsiteX23" fmla="*/ 2544429 w 6939351"/>
              <a:gd name="connsiteY23" fmla="*/ 2334330 h 2334330"/>
              <a:gd name="connsiteX24" fmla="*/ 1827362 w 6939351"/>
              <a:gd name="connsiteY24" fmla="*/ 2334330 h 2334330"/>
              <a:gd name="connsiteX25" fmla="*/ 1249083 w 6939351"/>
              <a:gd name="connsiteY25" fmla="*/ 2334330 h 2334330"/>
              <a:gd name="connsiteX26" fmla="*/ 878984 w 6939351"/>
              <a:gd name="connsiteY26" fmla="*/ 2334330 h 2334330"/>
              <a:gd name="connsiteX27" fmla="*/ 0 w 6939351"/>
              <a:gd name="connsiteY27" fmla="*/ 2334330 h 2334330"/>
              <a:gd name="connsiteX28" fmla="*/ 0 w 6939351"/>
              <a:gd name="connsiteY28" fmla="*/ 1774091 h 2334330"/>
              <a:gd name="connsiteX29" fmla="*/ 0 w 6939351"/>
              <a:gd name="connsiteY29" fmla="*/ 1190508 h 2334330"/>
              <a:gd name="connsiteX30" fmla="*/ 0 w 6939351"/>
              <a:gd name="connsiteY30" fmla="*/ 560239 h 2334330"/>
              <a:gd name="connsiteX31" fmla="*/ 0 w 6939351"/>
              <a:gd name="connsiteY31" fmla="*/ 0 h 233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939351" h="2334330" fill="none" extrusionOk="0">
                <a:moveTo>
                  <a:pt x="0" y="0"/>
                </a:moveTo>
                <a:cubicBezTo>
                  <a:pt x="182899" y="-11439"/>
                  <a:pt x="225120" y="28864"/>
                  <a:pt x="439492" y="0"/>
                </a:cubicBezTo>
                <a:cubicBezTo>
                  <a:pt x="653864" y="-28864"/>
                  <a:pt x="881731" y="51706"/>
                  <a:pt x="1017771" y="0"/>
                </a:cubicBezTo>
                <a:cubicBezTo>
                  <a:pt x="1153811" y="-51706"/>
                  <a:pt x="1470401" y="2319"/>
                  <a:pt x="1734838" y="0"/>
                </a:cubicBezTo>
                <a:cubicBezTo>
                  <a:pt x="1999275" y="-2319"/>
                  <a:pt x="2026322" y="20328"/>
                  <a:pt x="2174330" y="0"/>
                </a:cubicBezTo>
                <a:cubicBezTo>
                  <a:pt x="2322338" y="-20328"/>
                  <a:pt x="2509448" y="14555"/>
                  <a:pt x="2822003" y="0"/>
                </a:cubicBezTo>
                <a:cubicBezTo>
                  <a:pt x="3134558" y="-14555"/>
                  <a:pt x="3165111" y="7644"/>
                  <a:pt x="3261495" y="0"/>
                </a:cubicBezTo>
                <a:cubicBezTo>
                  <a:pt x="3357879" y="-7644"/>
                  <a:pt x="3719070" y="14776"/>
                  <a:pt x="3839774" y="0"/>
                </a:cubicBezTo>
                <a:cubicBezTo>
                  <a:pt x="3960478" y="-14776"/>
                  <a:pt x="4279161" y="12750"/>
                  <a:pt x="4487447" y="0"/>
                </a:cubicBezTo>
                <a:cubicBezTo>
                  <a:pt x="4695733" y="-12750"/>
                  <a:pt x="4677696" y="22821"/>
                  <a:pt x="4857546" y="0"/>
                </a:cubicBezTo>
                <a:cubicBezTo>
                  <a:pt x="5037396" y="-22821"/>
                  <a:pt x="5064955" y="3862"/>
                  <a:pt x="5227644" y="0"/>
                </a:cubicBezTo>
                <a:cubicBezTo>
                  <a:pt x="5390333" y="-3862"/>
                  <a:pt x="5776266" y="7092"/>
                  <a:pt x="5944711" y="0"/>
                </a:cubicBezTo>
                <a:cubicBezTo>
                  <a:pt x="6113156" y="-7092"/>
                  <a:pt x="6605981" y="36418"/>
                  <a:pt x="6939351" y="0"/>
                </a:cubicBezTo>
                <a:cubicBezTo>
                  <a:pt x="6967300" y="166339"/>
                  <a:pt x="6914114" y="327869"/>
                  <a:pt x="6939351" y="513553"/>
                </a:cubicBezTo>
                <a:cubicBezTo>
                  <a:pt x="6964588" y="699237"/>
                  <a:pt x="6875088" y="808963"/>
                  <a:pt x="6939351" y="1073792"/>
                </a:cubicBezTo>
                <a:cubicBezTo>
                  <a:pt x="7003614" y="1338621"/>
                  <a:pt x="6874557" y="1471348"/>
                  <a:pt x="6939351" y="1680718"/>
                </a:cubicBezTo>
                <a:cubicBezTo>
                  <a:pt x="7004145" y="1890088"/>
                  <a:pt x="6927284" y="2070289"/>
                  <a:pt x="6939351" y="2334330"/>
                </a:cubicBezTo>
                <a:cubicBezTo>
                  <a:pt x="6823572" y="2376439"/>
                  <a:pt x="6593201" y="2286403"/>
                  <a:pt x="6361072" y="2334330"/>
                </a:cubicBezTo>
                <a:cubicBezTo>
                  <a:pt x="6128943" y="2382257"/>
                  <a:pt x="5876942" y="2297125"/>
                  <a:pt x="5644005" y="2334330"/>
                </a:cubicBezTo>
                <a:cubicBezTo>
                  <a:pt x="5411068" y="2371535"/>
                  <a:pt x="5087059" y="2309997"/>
                  <a:pt x="4926939" y="2334330"/>
                </a:cubicBezTo>
                <a:cubicBezTo>
                  <a:pt x="4766819" y="2358663"/>
                  <a:pt x="4429503" y="2288697"/>
                  <a:pt x="4279266" y="2334330"/>
                </a:cubicBezTo>
                <a:cubicBezTo>
                  <a:pt x="4129029" y="2379963"/>
                  <a:pt x="3835263" y="2273519"/>
                  <a:pt x="3631594" y="2334330"/>
                </a:cubicBezTo>
                <a:cubicBezTo>
                  <a:pt x="3427925" y="2395141"/>
                  <a:pt x="3238162" y="2306792"/>
                  <a:pt x="2983921" y="2334330"/>
                </a:cubicBezTo>
                <a:cubicBezTo>
                  <a:pt x="2729680" y="2361868"/>
                  <a:pt x="2695894" y="2293993"/>
                  <a:pt x="2544429" y="2334330"/>
                </a:cubicBezTo>
                <a:cubicBezTo>
                  <a:pt x="2392964" y="2374667"/>
                  <a:pt x="2143525" y="2306353"/>
                  <a:pt x="1827362" y="2334330"/>
                </a:cubicBezTo>
                <a:cubicBezTo>
                  <a:pt x="1511199" y="2362307"/>
                  <a:pt x="1472106" y="2331061"/>
                  <a:pt x="1249083" y="2334330"/>
                </a:cubicBezTo>
                <a:cubicBezTo>
                  <a:pt x="1026060" y="2337599"/>
                  <a:pt x="978840" y="2303505"/>
                  <a:pt x="878984" y="2334330"/>
                </a:cubicBezTo>
                <a:cubicBezTo>
                  <a:pt x="779128" y="2365155"/>
                  <a:pt x="389773" y="2255596"/>
                  <a:pt x="0" y="2334330"/>
                </a:cubicBezTo>
                <a:cubicBezTo>
                  <a:pt x="-62203" y="2105246"/>
                  <a:pt x="64073" y="1887052"/>
                  <a:pt x="0" y="1774091"/>
                </a:cubicBezTo>
                <a:cubicBezTo>
                  <a:pt x="-64073" y="1661130"/>
                  <a:pt x="36429" y="1383047"/>
                  <a:pt x="0" y="1190508"/>
                </a:cubicBezTo>
                <a:cubicBezTo>
                  <a:pt x="-36429" y="997969"/>
                  <a:pt x="59719" y="695064"/>
                  <a:pt x="0" y="560239"/>
                </a:cubicBezTo>
                <a:cubicBezTo>
                  <a:pt x="-59719" y="425414"/>
                  <a:pt x="59928" y="215322"/>
                  <a:pt x="0" y="0"/>
                </a:cubicBezTo>
                <a:close/>
              </a:path>
              <a:path w="6939351" h="2334330" stroke="0" extrusionOk="0">
                <a:moveTo>
                  <a:pt x="0" y="0"/>
                </a:moveTo>
                <a:cubicBezTo>
                  <a:pt x="104666" y="-34951"/>
                  <a:pt x="332375" y="46246"/>
                  <a:pt x="508886" y="0"/>
                </a:cubicBezTo>
                <a:cubicBezTo>
                  <a:pt x="685397" y="-46246"/>
                  <a:pt x="773107" y="25945"/>
                  <a:pt x="878984" y="0"/>
                </a:cubicBezTo>
                <a:cubicBezTo>
                  <a:pt x="984861" y="-25945"/>
                  <a:pt x="1366291" y="21051"/>
                  <a:pt x="1596051" y="0"/>
                </a:cubicBezTo>
                <a:cubicBezTo>
                  <a:pt x="1825811" y="-21051"/>
                  <a:pt x="1857729" y="3228"/>
                  <a:pt x="2104936" y="0"/>
                </a:cubicBezTo>
                <a:cubicBezTo>
                  <a:pt x="2352144" y="-3228"/>
                  <a:pt x="2396007" y="60838"/>
                  <a:pt x="2613822" y="0"/>
                </a:cubicBezTo>
                <a:cubicBezTo>
                  <a:pt x="2831637" y="-60838"/>
                  <a:pt x="3103331" y="32857"/>
                  <a:pt x="3330888" y="0"/>
                </a:cubicBezTo>
                <a:cubicBezTo>
                  <a:pt x="3558445" y="-32857"/>
                  <a:pt x="3618204" y="43812"/>
                  <a:pt x="3770381" y="0"/>
                </a:cubicBezTo>
                <a:cubicBezTo>
                  <a:pt x="3922558" y="-43812"/>
                  <a:pt x="4287943" y="19482"/>
                  <a:pt x="4487447" y="0"/>
                </a:cubicBezTo>
                <a:cubicBezTo>
                  <a:pt x="4686951" y="-19482"/>
                  <a:pt x="4927833" y="11714"/>
                  <a:pt x="5204513" y="0"/>
                </a:cubicBezTo>
                <a:cubicBezTo>
                  <a:pt x="5481193" y="-11714"/>
                  <a:pt x="5650673" y="37525"/>
                  <a:pt x="5782793" y="0"/>
                </a:cubicBezTo>
                <a:cubicBezTo>
                  <a:pt x="5914913" y="-37525"/>
                  <a:pt x="6468778" y="84136"/>
                  <a:pt x="6939351" y="0"/>
                </a:cubicBezTo>
                <a:cubicBezTo>
                  <a:pt x="6970879" y="140590"/>
                  <a:pt x="6905111" y="416161"/>
                  <a:pt x="6939351" y="560239"/>
                </a:cubicBezTo>
                <a:cubicBezTo>
                  <a:pt x="6973591" y="704317"/>
                  <a:pt x="6885159" y="907837"/>
                  <a:pt x="6939351" y="1073792"/>
                </a:cubicBezTo>
                <a:cubicBezTo>
                  <a:pt x="6993543" y="1239747"/>
                  <a:pt x="6906770" y="1462247"/>
                  <a:pt x="6939351" y="1657374"/>
                </a:cubicBezTo>
                <a:cubicBezTo>
                  <a:pt x="6971932" y="1852501"/>
                  <a:pt x="6884292" y="2167392"/>
                  <a:pt x="6939351" y="2334330"/>
                </a:cubicBezTo>
                <a:cubicBezTo>
                  <a:pt x="6708873" y="2377327"/>
                  <a:pt x="6589305" y="2266166"/>
                  <a:pt x="6361072" y="2334330"/>
                </a:cubicBezTo>
                <a:cubicBezTo>
                  <a:pt x="6132839" y="2402494"/>
                  <a:pt x="5808460" y="2307844"/>
                  <a:pt x="5644005" y="2334330"/>
                </a:cubicBezTo>
                <a:cubicBezTo>
                  <a:pt x="5479550" y="2360816"/>
                  <a:pt x="5233471" y="2316987"/>
                  <a:pt x="5065726" y="2334330"/>
                </a:cubicBezTo>
                <a:cubicBezTo>
                  <a:pt x="4897981" y="2351673"/>
                  <a:pt x="4852959" y="2306678"/>
                  <a:pt x="4695628" y="2334330"/>
                </a:cubicBezTo>
                <a:cubicBezTo>
                  <a:pt x="4538297" y="2361982"/>
                  <a:pt x="4419878" y="2314044"/>
                  <a:pt x="4256135" y="2334330"/>
                </a:cubicBezTo>
                <a:cubicBezTo>
                  <a:pt x="4092392" y="2354616"/>
                  <a:pt x="3688791" y="2254121"/>
                  <a:pt x="3539069" y="2334330"/>
                </a:cubicBezTo>
                <a:cubicBezTo>
                  <a:pt x="3389347" y="2414539"/>
                  <a:pt x="3089795" y="2312713"/>
                  <a:pt x="2960790" y="2334330"/>
                </a:cubicBezTo>
                <a:cubicBezTo>
                  <a:pt x="2831785" y="2355947"/>
                  <a:pt x="2722485" y="2318644"/>
                  <a:pt x="2521298" y="2334330"/>
                </a:cubicBezTo>
                <a:cubicBezTo>
                  <a:pt x="2320111" y="2350016"/>
                  <a:pt x="2181139" y="2268693"/>
                  <a:pt x="1943018" y="2334330"/>
                </a:cubicBezTo>
                <a:cubicBezTo>
                  <a:pt x="1704897" y="2399967"/>
                  <a:pt x="1661800" y="2298410"/>
                  <a:pt x="1572920" y="2334330"/>
                </a:cubicBezTo>
                <a:cubicBezTo>
                  <a:pt x="1484040" y="2370250"/>
                  <a:pt x="1287461" y="2308009"/>
                  <a:pt x="1202821" y="2334330"/>
                </a:cubicBezTo>
                <a:cubicBezTo>
                  <a:pt x="1118181" y="2360651"/>
                  <a:pt x="805352" y="2282311"/>
                  <a:pt x="624542" y="2334330"/>
                </a:cubicBezTo>
                <a:cubicBezTo>
                  <a:pt x="443732" y="2386349"/>
                  <a:pt x="243029" y="2270084"/>
                  <a:pt x="0" y="2334330"/>
                </a:cubicBezTo>
                <a:cubicBezTo>
                  <a:pt x="-36003" y="2116536"/>
                  <a:pt x="3034" y="1939873"/>
                  <a:pt x="0" y="1727404"/>
                </a:cubicBezTo>
                <a:cubicBezTo>
                  <a:pt x="-3034" y="1514935"/>
                  <a:pt x="13358" y="1323679"/>
                  <a:pt x="0" y="1167165"/>
                </a:cubicBezTo>
                <a:cubicBezTo>
                  <a:pt x="-13358" y="1010651"/>
                  <a:pt x="29173" y="787072"/>
                  <a:pt x="0" y="653612"/>
                </a:cubicBezTo>
                <a:cubicBezTo>
                  <a:pt x="-29173" y="520152"/>
                  <a:pt x="74817" y="325554"/>
                  <a:pt x="0" y="0"/>
                </a:cubicBezTo>
                <a:close/>
              </a:path>
            </a:pathLst>
          </a:custGeom>
          <a:solidFill>
            <a:schemeClr val="accent6">
              <a:lumMod val="60000"/>
              <a:lumOff val="40000"/>
              <a:alpha val="6625"/>
            </a:schemeClr>
          </a:solidFill>
          <a:ln w="15875" cap="flat" cmpd="thickThin" algn="ctr">
            <a:solidFill>
              <a:schemeClr val="accent1"/>
            </a:solidFill>
            <a:prstDash val="solid"/>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21C723A-BFA7-6611-6B5B-219E879EA7CF}"/>
              </a:ext>
            </a:extLst>
          </p:cNvPr>
          <p:cNvSpPr txBox="1"/>
          <p:nvPr/>
        </p:nvSpPr>
        <p:spPr>
          <a:xfrm>
            <a:off x="6709913" y="5895704"/>
            <a:ext cx="3646341" cy="400110"/>
          </a:xfrm>
          <a:prstGeom prst="rect">
            <a:avLst/>
          </a:prstGeom>
          <a:noFill/>
        </p:spPr>
        <p:txBody>
          <a:bodyPr wrap="square" rtlCol="0">
            <a:spAutoFit/>
          </a:bodyPr>
          <a:lstStyle/>
          <a:p>
            <a:pPr algn="ctr"/>
            <a:r>
              <a:rPr lang="en-US" sz="1000" b="1" dirty="0"/>
              <a:t>This entire section of LLM prompt construction and LLM evaluation is only used during inference</a:t>
            </a:r>
          </a:p>
        </p:txBody>
      </p:sp>
    </p:spTree>
    <p:extLst>
      <p:ext uri="{BB962C8B-B14F-4D97-AF65-F5344CB8AC3E}">
        <p14:creationId xmlns:p14="http://schemas.microsoft.com/office/powerpoint/2010/main" val="350561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D19311-725F-5415-DE0A-C23C00F79FC9}"/>
              </a:ext>
            </a:extLst>
          </p:cNvPr>
          <p:cNvSpPr>
            <a:spLocks noGrp="1"/>
          </p:cNvSpPr>
          <p:nvPr>
            <p:ph idx="1"/>
          </p:nvPr>
        </p:nvSpPr>
        <p:spPr>
          <a:xfrm>
            <a:off x="838200" y="374073"/>
            <a:ext cx="10515600" cy="5802890"/>
          </a:xfrm>
        </p:spPr>
        <p:txBody>
          <a:bodyPr>
            <a:normAutofit/>
          </a:bodyPr>
          <a:lstStyle/>
          <a:p>
            <a:pPr marL="0" indent="0" algn="ctr">
              <a:buNone/>
            </a:pPr>
            <a:r>
              <a:rPr lang="en-SG" b="1" dirty="0"/>
              <a:t> Overall Architecture of </a:t>
            </a:r>
            <a:r>
              <a:rPr lang="en-SG" b="1" dirty="0" err="1"/>
              <a:t>iLLM</a:t>
            </a:r>
            <a:r>
              <a:rPr lang="en-SG" b="1" dirty="0"/>
              <a:t> - TSC</a:t>
            </a:r>
          </a:p>
          <a:p>
            <a:pPr marL="0" indent="0">
              <a:buNone/>
            </a:pPr>
            <a:endParaRPr lang="en-SG" sz="1600" dirty="0"/>
          </a:p>
          <a:p>
            <a:pPr marL="0" indent="0">
              <a:buNone/>
            </a:pPr>
            <a:r>
              <a:rPr lang="en-SG" sz="1600" b="1" dirty="0"/>
              <a:t>What happens in the </a:t>
            </a:r>
            <a:r>
              <a:rPr lang="en-SG" sz="1600" b="1" i="1" dirty="0"/>
              <a:t>heart</a:t>
            </a:r>
            <a:r>
              <a:rPr lang="en-SG" sz="1600" b="1" dirty="0"/>
              <a:t> of </a:t>
            </a:r>
            <a:r>
              <a:rPr lang="en-SG" sz="1600" b="1" dirty="0" err="1"/>
              <a:t>iLLM</a:t>
            </a:r>
            <a:r>
              <a:rPr lang="en-SG" sz="1600" b="1" dirty="0"/>
              <a:t>-TSC</a:t>
            </a:r>
          </a:p>
          <a:p>
            <a:pPr lvl="1"/>
            <a:r>
              <a:rPr lang="en-SG" sz="1400" dirty="0"/>
              <a:t>Pure RL learning, no LLM: We first train a traffic-signal agent with.</a:t>
            </a:r>
          </a:p>
          <a:p>
            <a:pPr lvl="1"/>
            <a:r>
              <a:rPr lang="en-SG" sz="1400" dirty="0"/>
              <a:t>RL proposes, LLM reviews: At each step during inference, the trained policy picks a action; we package that suggestion plus a brief scene description translated into a five-part natural-language prompt (role, hints, scenario description, logic chain, answer format ) such that the LLM can understand into a tiny natural-language prompt .</a:t>
            </a:r>
          </a:p>
          <a:p>
            <a:pPr lvl="1"/>
            <a:r>
              <a:rPr lang="en-SG" sz="1400" dirty="0"/>
              <a:t>Smart fallback: GPT-4 returns a simple JSON with its “</a:t>
            </a:r>
            <a:r>
              <a:rPr lang="en-SG" sz="1400" dirty="0" err="1"/>
              <a:t>final_action</a:t>
            </a:r>
            <a:r>
              <a:rPr lang="en-SG" sz="1400" dirty="0"/>
              <a:t>.”</a:t>
            </a:r>
          </a:p>
          <a:p>
            <a:pPr marL="0" indent="0">
              <a:buNone/>
            </a:pPr>
            <a:endParaRPr lang="en-SG" sz="1600" b="1" dirty="0"/>
          </a:p>
          <a:p>
            <a:pPr marL="0" indent="0">
              <a:buNone/>
            </a:pPr>
            <a:r>
              <a:rPr lang="en-SG" sz="1600" b="1" dirty="0"/>
              <a:t>The flow of the architecture</a:t>
            </a:r>
          </a:p>
          <a:p>
            <a:pPr lvl="1"/>
            <a:r>
              <a:rPr lang="en-SG" sz="1400" dirty="0"/>
              <a:t>Observe the current intersection state </a:t>
            </a:r>
            <a:r>
              <a:rPr lang="en-SG" sz="1400" dirty="0" err="1"/>
              <a:t>s</a:t>
            </a:r>
            <a:r>
              <a:rPr lang="en-SG" sz="1400" baseline="-25000" dirty="0" err="1"/>
              <a:t>t</a:t>
            </a:r>
            <a:r>
              <a:rPr lang="en-SG" sz="1400" dirty="0"/>
              <a:t>, which may suffer degradation (noise/packet loss). </a:t>
            </a:r>
          </a:p>
          <a:p>
            <a:pPr lvl="1"/>
            <a:r>
              <a:rPr lang="en-SG" sz="1400" dirty="0"/>
              <a:t>RL policy </a:t>
            </a:r>
            <a:r>
              <a:rPr lang="el-GR" sz="1400" dirty="0" err="1"/>
              <a:t>π</a:t>
            </a:r>
            <a:r>
              <a:rPr lang="el-GR" sz="1400" baseline="-25000" dirty="0" err="1"/>
              <a:t>θ</a:t>
            </a:r>
            <a:r>
              <a:rPr lang="el-GR" sz="1400" dirty="0"/>
              <a:t> </a:t>
            </a:r>
            <a:r>
              <a:rPr lang="en-SG" sz="1400" dirty="0"/>
              <a:t>proposes an initial action a</a:t>
            </a:r>
            <a:r>
              <a:rPr lang="en-SG" sz="1400" baseline="-25000" dirty="0"/>
              <a:t>0</a:t>
            </a:r>
            <a:r>
              <a:rPr lang="en-SG" sz="1400" dirty="0"/>
              <a:t>=</a:t>
            </a:r>
            <a:r>
              <a:rPr lang="el-GR" sz="1400" dirty="0" err="1"/>
              <a:t>π</a:t>
            </a:r>
            <a:r>
              <a:rPr lang="el-GR" sz="1400" baseline="-25000" dirty="0" err="1"/>
              <a:t>θ</a:t>
            </a:r>
            <a:r>
              <a:rPr lang="el-GR" sz="1400" dirty="0"/>
              <a:t>(</a:t>
            </a:r>
            <a:r>
              <a:rPr lang="en-SG" sz="1400" dirty="0" err="1"/>
              <a:t>s</a:t>
            </a:r>
            <a:r>
              <a:rPr lang="en-SG" sz="1400" baseline="-25000" dirty="0" err="1"/>
              <a:t>t</a:t>
            </a:r>
            <a:r>
              <a:rPr lang="en-SG" sz="1400" dirty="0"/>
              <a:t>). </a:t>
            </a:r>
          </a:p>
          <a:p>
            <a:pPr lvl="1"/>
            <a:r>
              <a:rPr lang="en-SG" sz="1400" dirty="0"/>
              <a:t>Construct the prompt </a:t>
            </a:r>
            <a:r>
              <a:rPr lang="el-GR" sz="1400" dirty="0"/>
              <a:t>Ω </a:t>
            </a:r>
            <a:r>
              <a:rPr lang="en-SG" sz="1400" dirty="0"/>
              <a:t>by encoding </a:t>
            </a:r>
            <a:r>
              <a:rPr lang="en-SG" sz="1400" dirty="0" err="1"/>
              <a:t>s</a:t>
            </a:r>
            <a:r>
              <a:rPr lang="en-SG" sz="1400" baseline="-25000" dirty="0" err="1"/>
              <a:t>t</a:t>
            </a:r>
            <a:r>
              <a:rPr lang="en-SG" sz="1400" dirty="0"/>
              <a:t> and a</a:t>
            </a:r>
            <a:r>
              <a:rPr lang="en-SG" sz="1400" baseline="-25000" dirty="0"/>
              <a:t>0</a:t>
            </a:r>
            <a:r>
              <a:rPr lang="en-SG" sz="1400" dirty="0"/>
              <a:t> into the five-part natural language template. </a:t>
            </a:r>
          </a:p>
          <a:p>
            <a:pPr lvl="1"/>
            <a:r>
              <a:rPr lang="en-SG" sz="1400" dirty="0"/>
              <a:t>Send </a:t>
            </a:r>
            <a:r>
              <a:rPr lang="el-GR" sz="1400" dirty="0"/>
              <a:t>Ω </a:t>
            </a:r>
            <a:r>
              <a:rPr lang="en-SG" sz="1400" dirty="0"/>
              <a:t>to the LLM; parse its output O</a:t>
            </a:r>
            <a:r>
              <a:rPr lang="en-SG" sz="1400" baseline="-25000" dirty="0"/>
              <a:t>t</a:t>
            </a:r>
            <a:r>
              <a:rPr lang="en-SG" sz="1400" dirty="0"/>
              <a:t> to extract a “</a:t>
            </a:r>
            <a:r>
              <a:rPr lang="en-SG" sz="1400" dirty="0" err="1"/>
              <a:t>final_action</a:t>
            </a:r>
            <a:r>
              <a:rPr lang="en-SG" sz="1400" dirty="0"/>
              <a:t>” via regex. Retry up to </a:t>
            </a:r>
            <a:r>
              <a:rPr lang="en-SG" sz="1400" i="1" dirty="0"/>
              <a:t>K</a:t>
            </a:r>
            <a:r>
              <a:rPr lang="en-SG" sz="1400" dirty="0"/>
              <a:t> times if formatting fails. </a:t>
            </a:r>
          </a:p>
          <a:p>
            <a:pPr lvl="1"/>
            <a:r>
              <a:rPr lang="en-SG" sz="1400" dirty="0"/>
              <a:t>Execute the selected action (LLM-refined or fallback RL), step the environment, and repeat for the next timestep. </a:t>
            </a:r>
          </a:p>
          <a:p>
            <a:pPr marL="0" indent="0">
              <a:buNone/>
            </a:pPr>
            <a:endParaRPr lang="en-SG" sz="1600" dirty="0"/>
          </a:p>
        </p:txBody>
      </p:sp>
      <p:sp>
        <p:nvSpPr>
          <p:cNvPr id="4" name="TextBox 3">
            <a:extLst>
              <a:ext uri="{FF2B5EF4-FFF2-40B4-BE49-F238E27FC236}">
                <a16:creationId xmlns:a16="http://schemas.microsoft.com/office/drawing/2014/main" id="{46E8FA14-AA35-EF97-63DA-15051C43FC04}"/>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Mar 2024</a:t>
            </a:r>
            <a:endParaRPr lang="en-SG" sz="1600" dirty="0"/>
          </a:p>
        </p:txBody>
      </p:sp>
    </p:spTree>
    <p:extLst>
      <p:ext uri="{BB962C8B-B14F-4D97-AF65-F5344CB8AC3E}">
        <p14:creationId xmlns:p14="http://schemas.microsoft.com/office/powerpoint/2010/main" val="2803728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B8A8-2719-7494-641A-006A70DD7087}"/>
              </a:ext>
            </a:extLst>
          </p:cNvPr>
          <p:cNvSpPr>
            <a:spLocks noGrp="1"/>
          </p:cNvSpPr>
          <p:nvPr>
            <p:ph type="title"/>
          </p:nvPr>
        </p:nvSpPr>
        <p:spPr/>
        <p:txBody>
          <a:bodyPr/>
          <a:lstStyle/>
          <a:p>
            <a:r>
              <a:rPr kumimoji="0" lang="en-US" sz="2000" b="0" i="0" u="none" strike="noStrike" kern="1200" cap="none" spc="0" normalizeH="0" baseline="0" noProof="0" dirty="0">
                <a:ln>
                  <a:noFill/>
                </a:ln>
                <a:solidFill>
                  <a:prstClr val="black"/>
                </a:solidFill>
                <a:effectLst/>
                <a:uLnTx/>
                <a:uFillTx/>
                <a:latin typeface="Aptos Display" panose="02110004020202020204"/>
                <a:ea typeface="+mj-ea"/>
                <a:cs typeface="+mj-cs"/>
              </a:rPr>
              <a:t>Limitations:</a:t>
            </a:r>
            <a:endParaRPr lang="en-US" dirty="0"/>
          </a:p>
        </p:txBody>
      </p:sp>
      <p:sp>
        <p:nvSpPr>
          <p:cNvPr id="3" name="Content Placeholder 2">
            <a:extLst>
              <a:ext uri="{FF2B5EF4-FFF2-40B4-BE49-F238E27FC236}">
                <a16:creationId xmlns:a16="http://schemas.microsoft.com/office/drawing/2014/main" id="{4EB152F7-0B9B-4DEA-7172-63201D5A33E6}"/>
              </a:ext>
            </a:extLst>
          </p:cNvPr>
          <p:cNvSpPr>
            <a:spLocks noGrp="1"/>
          </p:cNvSpPr>
          <p:nvPr>
            <p:ph idx="1"/>
          </p:nvPr>
        </p:nvSpPr>
        <p:spPr>
          <a:xfrm>
            <a:off x="838200" y="1253331"/>
            <a:ext cx="10515600" cy="4351338"/>
          </a:xfrm>
        </p:spPr>
        <p:txBody>
          <a:bodyPr>
            <a:normAutofit/>
          </a:bodyPr>
          <a:lstStyle/>
          <a:p>
            <a:r>
              <a:rPr lang="en-SG" sz="1400" b="1" dirty="0"/>
              <a:t>LLM only used at inference (no feedback into training)</a:t>
            </a:r>
          </a:p>
          <a:p>
            <a:r>
              <a:rPr lang="en-SG" sz="1400" b="1" dirty="0"/>
              <a:t>Fallback on malformed LLM output:</a:t>
            </a:r>
            <a:r>
              <a:rPr lang="en-SG" sz="1400" dirty="0"/>
              <a:t> if GPT-4 doesn’t return the expected JSON within </a:t>
            </a:r>
            <a:r>
              <a:rPr lang="en-SG" sz="1400" i="1" dirty="0"/>
              <a:t>K</a:t>
            </a:r>
            <a:r>
              <a:rPr lang="en-SG" sz="1400" dirty="0"/>
              <a:t> tries, the system simply uses the original RL </a:t>
            </a:r>
            <a:endParaRPr lang="en-SG" sz="1400" b="1" dirty="0"/>
          </a:p>
          <a:p>
            <a:r>
              <a:rPr lang="en-SG" sz="1400" b="1" dirty="0"/>
              <a:t>Prompt brittleness:</a:t>
            </a:r>
            <a:r>
              <a:rPr lang="en-SG" sz="1400" dirty="0"/>
              <a:t> effectiveness depends on a carefully structured natural-language prompt (role, hints, logic, format  </a:t>
            </a:r>
          </a:p>
          <a:p>
            <a:r>
              <a:rPr lang="en-SG" sz="1400" b="1" dirty="0"/>
              <a:t>Inference latency and cost:</a:t>
            </a:r>
            <a:r>
              <a:rPr lang="en-SG" sz="1400" dirty="0"/>
              <a:t> every decision step may invoke the LLM (with up to </a:t>
            </a:r>
            <a:r>
              <a:rPr lang="en-SG" sz="1400" i="1" dirty="0"/>
              <a:t>K</a:t>
            </a:r>
            <a:r>
              <a:rPr lang="en-SG" sz="1400" dirty="0"/>
              <a:t> retries), introducing runtime delay and extra compute/API expense. </a:t>
            </a:r>
          </a:p>
          <a:p>
            <a:r>
              <a:rPr lang="en-SG" sz="1400" b="1" dirty="0"/>
              <a:t>Early-stage / limited integration:</a:t>
            </a:r>
            <a:r>
              <a:rPr lang="en-SG" sz="1400" dirty="0"/>
              <a:t> the architecture is a one-way, post-hoc augmentation (proof-of-concept) rather than a tightly coupled, end-to-end learning system</a:t>
            </a:r>
            <a:endParaRPr lang="en-US" sz="1400" dirty="0"/>
          </a:p>
        </p:txBody>
      </p:sp>
      <p:sp>
        <p:nvSpPr>
          <p:cNvPr id="4" name="TextBox 3">
            <a:extLst>
              <a:ext uri="{FF2B5EF4-FFF2-40B4-BE49-F238E27FC236}">
                <a16:creationId xmlns:a16="http://schemas.microsoft.com/office/drawing/2014/main" id="{23058794-CD87-B388-0B87-AA3634CE91F8}"/>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Mar 2024</a:t>
            </a:r>
            <a:endParaRPr lang="en-SG" sz="1600" dirty="0"/>
          </a:p>
        </p:txBody>
      </p:sp>
    </p:spTree>
    <p:extLst>
      <p:ext uri="{BB962C8B-B14F-4D97-AF65-F5344CB8AC3E}">
        <p14:creationId xmlns:p14="http://schemas.microsoft.com/office/powerpoint/2010/main" val="3457945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826E-D6D4-F8E9-05D7-838E654ED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8B0-8FCF-E680-FC1D-E23A450508C4}"/>
              </a:ext>
            </a:extLst>
          </p:cNvPr>
          <p:cNvSpPr>
            <a:spLocks noGrp="1"/>
          </p:cNvSpPr>
          <p:nvPr>
            <p:ph type="title"/>
          </p:nvPr>
        </p:nvSpPr>
        <p:spPr>
          <a:xfrm>
            <a:off x="700635" y="914400"/>
            <a:ext cx="10691265" cy="671332"/>
          </a:xfrm>
        </p:spPr>
        <p:txBody>
          <a:bodyPr>
            <a:noAutofit/>
          </a:bodyPr>
          <a:lstStyle/>
          <a:p>
            <a:r>
              <a:rPr lang="en-US" sz="2000" dirty="0">
                <a:solidFill>
                  <a:srgbClr val="000000"/>
                </a:solidFill>
              </a:rPr>
              <a:t>2</a:t>
            </a:r>
            <a:r>
              <a:rPr lang="en-US" sz="2000" b="1" dirty="0">
                <a:solidFill>
                  <a:srgbClr val="000000"/>
                </a:solidFill>
              </a:rPr>
              <a:t>. </a:t>
            </a:r>
            <a:r>
              <a:rPr lang="en-US" sz="2000" b="1" dirty="0" err="1">
                <a:solidFill>
                  <a:srgbClr val="000000"/>
                </a:solidFill>
              </a:rPr>
              <a:t>TeLL</a:t>
            </a:r>
            <a:r>
              <a:rPr lang="en-US" sz="2000" b="1" dirty="0">
                <a:solidFill>
                  <a:srgbClr val="000000"/>
                </a:solidFill>
              </a:rPr>
              <a:t>-Drive: </a:t>
            </a:r>
            <a:r>
              <a:rPr lang="en-US" sz="2000" dirty="0">
                <a:solidFill>
                  <a:srgbClr val="000000"/>
                </a:solidFill>
              </a:rPr>
              <a:t>Enhancing Autonomous Driving with Teacher LLM-Guided Deep Reinforcement Learning</a:t>
            </a:r>
            <a:endParaRPr lang="en-US" sz="2000" dirty="0"/>
          </a:p>
        </p:txBody>
      </p:sp>
      <p:sp>
        <p:nvSpPr>
          <p:cNvPr id="3" name="Content Placeholder 2">
            <a:extLst>
              <a:ext uri="{FF2B5EF4-FFF2-40B4-BE49-F238E27FC236}">
                <a16:creationId xmlns:a16="http://schemas.microsoft.com/office/drawing/2014/main" id="{A4090473-EEF2-F11D-5A87-A1D42CBA67A6}"/>
              </a:ext>
            </a:extLst>
          </p:cNvPr>
          <p:cNvSpPr>
            <a:spLocks noGrp="1"/>
          </p:cNvSpPr>
          <p:nvPr>
            <p:ph idx="1"/>
          </p:nvPr>
        </p:nvSpPr>
        <p:spPr>
          <a:xfrm>
            <a:off x="700635" y="1736202"/>
            <a:ext cx="10691265" cy="4225685"/>
          </a:xfrm>
        </p:spPr>
        <p:txBody>
          <a:bodyPr>
            <a:normAutofit/>
          </a:bodyPr>
          <a:lstStyle/>
          <a:p>
            <a:pPr marL="0" indent="0">
              <a:buNone/>
            </a:pPr>
            <a:r>
              <a:rPr lang="en-SG" sz="1600" b="1" dirty="0"/>
              <a:t>Problem:</a:t>
            </a:r>
          </a:p>
          <a:p>
            <a:pPr lvl="1"/>
            <a:r>
              <a:rPr lang="en-SG" sz="1400" dirty="0"/>
              <a:t>DRL needs too much data to learn. LLMs can give good advice but are noisy and slow.</a:t>
            </a:r>
          </a:p>
          <a:p>
            <a:pPr lvl="1"/>
            <a:r>
              <a:rPr lang="en-SG" sz="1400" dirty="0"/>
              <a:t>Past attempts don’t tie LLM advice closely to what’s actually happening into the DRL policy.</a:t>
            </a:r>
          </a:p>
          <a:p>
            <a:pPr marL="0" indent="0">
              <a:buNone/>
            </a:pPr>
            <a:r>
              <a:rPr lang="en-SG" sz="1600" b="1" dirty="0"/>
              <a:t>Proposed Approach:</a:t>
            </a:r>
            <a:endParaRPr lang="en-SG" sz="1600" dirty="0"/>
          </a:p>
          <a:p>
            <a:pPr lvl="1"/>
            <a:r>
              <a:rPr lang="en-SG" sz="1400" dirty="0"/>
              <a:t>LLM “Teacher” finds similar past situations and suggests </a:t>
            </a:r>
            <a:r>
              <a:rPr lang="en-SG" sz="1400" dirty="0" err="1"/>
              <a:t>maneuvers</a:t>
            </a:r>
            <a:r>
              <a:rPr lang="en-SG" sz="1400" dirty="0"/>
              <a:t>.</a:t>
            </a:r>
          </a:p>
          <a:p>
            <a:pPr lvl="1"/>
            <a:r>
              <a:rPr lang="en-SG" sz="1400" dirty="0"/>
              <a:t>DRL “Student” combines that suggestion with current input using attention and learns via PPO plus KL imitation.</a:t>
            </a:r>
          </a:p>
          <a:p>
            <a:pPr lvl="1"/>
            <a:r>
              <a:rPr lang="en-SG" sz="1400" dirty="0"/>
              <a:t>Mistakes trigger reflection: corrected cases are added back to memory.</a:t>
            </a:r>
          </a:p>
          <a:p>
            <a:pPr marL="0" indent="0">
              <a:buNone/>
            </a:pPr>
            <a:r>
              <a:rPr lang="en-SG" sz="1600" b="1" dirty="0"/>
              <a:t>Synergy:</a:t>
            </a:r>
            <a:endParaRPr lang="en-SG" sz="1800" b="1" dirty="0"/>
          </a:p>
          <a:p>
            <a:pPr lvl="1"/>
            <a:r>
              <a:rPr lang="en-SG" sz="1400" dirty="0"/>
              <a:t>Teacher gives a fast safe start; Student improves and takes over as imitation weight fades.</a:t>
            </a:r>
          </a:p>
          <a:p>
            <a:pPr lvl="1"/>
            <a:r>
              <a:rPr lang="en-SG" sz="1400" dirty="0"/>
              <a:t>Memory + attention lets the system use past examples in context with the current state.</a:t>
            </a:r>
            <a:endParaRPr lang="en-SG" dirty="0"/>
          </a:p>
          <a:p>
            <a:pPr marL="0" indent="0">
              <a:buNone/>
            </a:pPr>
            <a:r>
              <a:rPr lang="en-SG" sz="1600" b="1" dirty="0"/>
              <a:t>Key Result:</a:t>
            </a:r>
            <a:endParaRPr lang="en-SG" sz="1600" dirty="0"/>
          </a:p>
          <a:p>
            <a:pPr lvl="1"/>
            <a:r>
              <a:rPr lang="en-SG" sz="1400" dirty="0"/>
              <a:t>Learns faster and safer than standard DRL; final policy is lightweight and runs in real time.</a:t>
            </a:r>
          </a:p>
          <a:p>
            <a:endParaRPr lang="en-US" sz="1400" dirty="0"/>
          </a:p>
        </p:txBody>
      </p:sp>
      <p:sp>
        <p:nvSpPr>
          <p:cNvPr id="4" name="TextBox 3">
            <a:extLst>
              <a:ext uri="{FF2B5EF4-FFF2-40B4-BE49-F238E27FC236}">
                <a16:creationId xmlns:a16="http://schemas.microsoft.com/office/drawing/2014/main" id="{56697A03-9423-DB79-F460-9C28737F1201}"/>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spTree>
    <p:extLst>
      <p:ext uri="{BB962C8B-B14F-4D97-AF65-F5344CB8AC3E}">
        <p14:creationId xmlns:p14="http://schemas.microsoft.com/office/powerpoint/2010/main" val="500007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ounded Rectangle 83">
            <a:extLst>
              <a:ext uri="{FF2B5EF4-FFF2-40B4-BE49-F238E27FC236}">
                <a16:creationId xmlns:a16="http://schemas.microsoft.com/office/drawing/2014/main" id="{2C1157FC-F18A-CABD-FDF3-18F2822C0922}"/>
              </a:ext>
            </a:extLst>
          </p:cNvPr>
          <p:cNvSpPr/>
          <p:nvPr/>
        </p:nvSpPr>
        <p:spPr>
          <a:xfrm>
            <a:off x="2016690" y="281775"/>
            <a:ext cx="4896119" cy="3314280"/>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34B1E334-4539-BBD7-30E7-F16E7E9A0BE2}"/>
              </a:ext>
            </a:extLst>
          </p:cNvPr>
          <p:cNvSpPr/>
          <p:nvPr/>
        </p:nvSpPr>
        <p:spPr>
          <a:xfrm>
            <a:off x="7350278" y="5029439"/>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Entropy loss</a:t>
            </a:r>
          </a:p>
        </p:txBody>
      </p:sp>
      <p:sp>
        <p:nvSpPr>
          <p:cNvPr id="48" name="Rounded Rectangle 47">
            <a:extLst>
              <a:ext uri="{FF2B5EF4-FFF2-40B4-BE49-F238E27FC236}">
                <a16:creationId xmlns:a16="http://schemas.microsoft.com/office/drawing/2014/main" id="{8D63E3C8-985A-8F14-D5C9-EC50724F5DC6}"/>
              </a:ext>
            </a:extLst>
          </p:cNvPr>
          <p:cNvSpPr/>
          <p:nvPr/>
        </p:nvSpPr>
        <p:spPr>
          <a:xfrm>
            <a:off x="7355387" y="4501484"/>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Value-Function Loss</a:t>
            </a:r>
          </a:p>
        </p:txBody>
      </p:sp>
      <p:sp>
        <p:nvSpPr>
          <p:cNvPr id="5" name="Rounded Rectangle 4">
            <a:extLst>
              <a:ext uri="{FF2B5EF4-FFF2-40B4-BE49-F238E27FC236}">
                <a16:creationId xmlns:a16="http://schemas.microsoft.com/office/drawing/2014/main" id="{14BB3E52-2D92-017D-5B92-BFD46E329CBF}"/>
              </a:ext>
            </a:extLst>
          </p:cNvPr>
          <p:cNvSpPr/>
          <p:nvPr/>
        </p:nvSpPr>
        <p:spPr>
          <a:xfrm>
            <a:off x="2450721" y="2338161"/>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Calculate TTCP</a:t>
            </a:r>
          </a:p>
        </p:txBody>
      </p:sp>
      <p:pic>
        <p:nvPicPr>
          <p:cNvPr id="6" name="Picture 5" descr="A black background with a black square&#10;&#10;AI-generated content may be incorrect.">
            <a:extLst>
              <a:ext uri="{FF2B5EF4-FFF2-40B4-BE49-F238E27FC236}">
                <a16:creationId xmlns:a16="http://schemas.microsoft.com/office/drawing/2014/main" id="{52CF3355-7BC7-1B06-9D2E-5C9D9A8F9786}"/>
              </a:ext>
            </a:extLst>
          </p:cNvPr>
          <p:cNvPicPr>
            <a:picLocks noChangeAspect="1"/>
          </p:cNvPicPr>
          <p:nvPr/>
        </p:nvPicPr>
        <p:blipFill>
          <a:blip r:embed="rId3"/>
          <a:stretch>
            <a:fillRect/>
          </a:stretch>
        </p:blipFill>
        <p:spPr>
          <a:xfrm>
            <a:off x="982709" y="2301914"/>
            <a:ext cx="629587" cy="629587"/>
          </a:xfrm>
          <a:prstGeom prst="rect">
            <a:avLst/>
          </a:prstGeom>
        </p:spPr>
      </p:pic>
      <p:sp>
        <p:nvSpPr>
          <p:cNvPr id="7" name="TextBox 6">
            <a:extLst>
              <a:ext uri="{FF2B5EF4-FFF2-40B4-BE49-F238E27FC236}">
                <a16:creationId xmlns:a16="http://schemas.microsoft.com/office/drawing/2014/main" id="{A14DAAE8-B4E2-F615-DAEC-F857470798D5}"/>
              </a:ext>
            </a:extLst>
          </p:cNvPr>
          <p:cNvSpPr txBox="1"/>
          <p:nvPr/>
        </p:nvSpPr>
        <p:spPr>
          <a:xfrm>
            <a:off x="735371" y="2931501"/>
            <a:ext cx="1124262" cy="246221"/>
          </a:xfrm>
          <a:prstGeom prst="rect">
            <a:avLst/>
          </a:prstGeom>
          <a:noFill/>
        </p:spPr>
        <p:txBody>
          <a:bodyPr wrap="square" rtlCol="0">
            <a:spAutoFit/>
          </a:bodyPr>
          <a:lstStyle/>
          <a:p>
            <a:pPr algn="ctr"/>
            <a:r>
              <a:rPr lang="en-US" sz="1000" dirty="0"/>
              <a:t>State information</a:t>
            </a:r>
          </a:p>
        </p:txBody>
      </p:sp>
      <p:sp>
        <p:nvSpPr>
          <p:cNvPr id="8" name="TextBox 7">
            <a:extLst>
              <a:ext uri="{FF2B5EF4-FFF2-40B4-BE49-F238E27FC236}">
                <a16:creationId xmlns:a16="http://schemas.microsoft.com/office/drawing/2014/main" id="{0F118CFF-DE6F-9568-B6C7-74EC0DC54AE3}"/>
              </a:ext>
            </a:extLst>
          </p:cNvPr>
          <p:cNvSpPr txBox="1"/>
          <p:nvPr/>
        </p:nvSpPr>
        <p:spPr>
          <a:xfrm>
            <a:off x="2120141" y="1493791"/>
            <a:ext cx="1889929" cy="769441"/>
          </a:xfrm>
          <a:prstGeom prst="rect">
            <a:avLst/>
          </a:prstGeom>
          <a:noFill/>
        </p:spPr>
        <p:txBody>
          <a:bodyPr wrap="square" rtlCol="0">
            <a:spAutoFit/>
          </a:bodyPr>
          <a:lstStyle/>
          <a:p>
            <a:pPr algn="ctr"/>
            <a:r>
              <a:rPr lang="en-US" sz="1100" dirty="0"/>
              <a:t>The decision engine computes the time to conflict and the severity of the conflict</a:t>
            </a:r>
          </a:p>
        </p:txBody>
      </p:sp>
      <p:pic>
        <p:nvPicPr>
          <p:cNvPr id="11" name="Picture 10" descr="A computer server and a yellow object&#10;&#10;AI-generated content may be incorrect.">
            <a:extLst>
              <a:ext uri="{FF2B5EF4-FFF2-40B4-BE49-F238E27FC236}">
                <a16:creationId xmlns:a16="http://schemas.microsoft.com/office/drawing/2014/main" id="{630054E6-D28B-0E99-4E58-62EA41EC99F4}"/>
              </a:ext>
            </a:extLst>
          </p:cNvPr>
          <p:cNvPicPr>
            <a:picLocks noChangeAspect="1"/>
          </p:cNvPicPr>
          <p:nvPr/>
        </p:nvPicPr>
        <p:blipFill>
          <a:blip r:embed="rId4"/>
          <a:stretch>
            <a:fillRect/>
          </a:stretch>
        </p:blipFill>
        <p:spPr>
          <a:xfrm>
            <a:off x="4936181" y="1251400"/>
            <a:ext cx="519545" cy="519545"/>
          </a:xfrm>
          <a:prstGeom prst="rect">
            <a:avLst/>
          </a:prstGeom>
        </p:spPr>
      </p:pic>
      <p:sp>
        <p:nvSpPr>
          <p:cNvPr id="12" name="TextBox 11">
            <a:extLst>
              <a:ext uri="{FF2B5EF4-FFF2-40B4-BE49-F238E27FC236}">
                <a16:creationId xmlns:a16="http://schemas.microsoft.com/office/drawing/2014/main" id="{E19388B6-ED91-5148-50D3-915FFAE20D4D}"/>
              </a:ext>
            </a:extLst>
          </p:cNvPr>
          <p:cNvSpPr txBox="1"/>
          <p:nvPr/>
        </p:nvSpPr>
        <p:spPr>
          <a:xfrm>
            <a:off x="4561054" y="1045967"/>
            <a:ext cx="1124262" cy="246221"/>
          </a:xfrm>
          <a:prstGeom prst="rect">
            <a:avLst/>
          </a:prstGeom>
          <a:noFill/>
        </p:spPr>
        <p:txBody>
          <a:bodyPr wrap="square" rtlCol="0">
            <a:spAutoFit/>
          </a:bodyPr>
          <a:lstStyle/>
          <a:p>
            <a:pPr algn="ctr"/>
            <a:r>
              <a:rPr lang="en-US" sz="1000" dirty="0"/>
              <a:t>Memory context</a:t>
            </a:r>
          </a:p>
        </p:txBody>
      </p:sp>
      <p:pic>
        <p:nvPicPr>
          <p:cNvPr id="13" name="Graphic 12" descr="Arrow Right with solid fill">
            <a:extLst>
              <a:ext uri="{FF2B5EF4-FFF2-40B4-BE49-F238E27FC236}">
                <a16:creationId xmlns:a16="http://schemas.microsoft.com/office/drawing/2014/main" id="{7E26D8C4-A6C0-7772-3CC5-9BEEA2A3D8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5058477" y="1755380"/>
            <a:ext cx="374336" cy="448417"/>
          </a:xfrm>
          <a:prstGeom prst="rect">
            <a:avLst/>
          </a:prstGeom>
        </p:spPr>
      </p:pic>
      <p:sp>
        <p:nvSpPr>
          <p:cNvPr id="14" name="TextBox 13">
            <a:extLst>
              <a:ext uri="{FF2B5EF4-FFF2-40B4-BE49-F238E27FC236}">
                <a16:creationId xmlns:a16="http://schemas.microsoft.com/office/drawing/2014/main" id="{E1E3113F-8B2B-C51C-3DDC-2D217375AFC8}"/>
              </a:ext>
            </a:extLst>
          </p:cNvPr>
          <p:cNvSpPr txBox="1"/>
          <p:nvPr/>
        </p:nvSpPr>
        <p:spPr>
          <a:xfrm>
            <a:off x="3629164" y="384536"/>
            <a:ext cx="3084197" cy="600164"/>
          </a:xfrm>
          <a:prstGeom prst="rect">
            <a:avLst/>
          </a:prstGeom>
          <a:noFill/>
        </p:spPr>
        <p:txBody>
          <a:bodyPr wrap="square" rtlCol="0">
            <a:spAutoFit/>
          </a:bodyPr>
          <a:lstStyle/>
          <a:p>
            <a:pPr algn="ctr"/>
            <a:r>
              <a:rPr lang="en-US" sz="1100" dirty="0"/>
              <a:t>The LLM retrieves similar context/conflicts from the past using cosine similarity and creates a new prompt. Keeps only recent entries</a:t>
            </a:r>
          </a:p>
        </p:txBody>
      </p:sp>
      <p:pic>
        <p:nvPicPr>
          <p:cNvPr id="15" name="Graphic 14" descr="Arrow Right with solid fill">
            <a:extLst>
              <a:ext uri="{FF2B5EF4-FFF2-40B4-BE49-F238E27FC236}">
                <a16:creationId xmlns:a16="http://schemas.microsoft.com/office/drawing/2014/main" id="{25948702-C5C2-B591-0B02-40C52A6286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91735" y="2387685"/>
            <a:ext cx="374336" cy="448417"/>
          </a:xfrm>
          <a:prstGeom prst="rect">
            <a:avLst/>
          </a:prstGeom>
        </p:spPr>
      </p:pic>
      <p:sp>
        <p:nvSpPr>
          <p:cNvPr id="16" name="Rounded Rectangle 15">
            <a:extLst>
              <a:ext uri="{FF2B5EF4-FFF2-40B4-BE49-F238E27FC236}">
                <a16:creationId xmlns:a16="http://schemas.microsoft.com/office/drawing/2014/main" id="{5BFFD3C1-FDA9-EC87-4CA9-B990ECAC8347}"/>
              </a:ext>
            </a:extLst>
          </p:cNvPr>
          <p:cNvSpPr/>
          <p:nvPr/>
        </p:nvSpPr>
        <p:spPr>
          <a:xfrm>
            <a:off x="4310286" y="2274204"/>
            <a:ext cx="1721955"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new Prompt (P):</a:t>
            </a:r>
          </a:p>
          <a:p>
            <a:pPr algn="ctr"/>
            <a:r>
              <a:rPr lang="en-US" sz="1200" dirty="0">
                <a:solidFill>
                  <a:schemeClr val="tx1"/>
                </a:solidFill>
              </a:rPr>
              <a:t>[FACTS], [PAST CASE], [RULES]</a:t>
            </a:r>
          </a:p>
        </p:txBody>
      </p:sp>
      <p:pic>
        <p:nvPicPr>
          <p:cNvPr id="17" name="Picture 16" descr="A blue head with lines and symbols&#10;&#10;AI-generated content may be incorrect.">
            <a:extLst>
              <a:ext uri="{FF2B5EF4-FFF2-40B4-BE49-F238E27FC236}">
                <a16:creationId xmlns:a16="http://schemas.microsoft.com/office/drawing/2014/main" id="{A163DDA0-FCFD-7B6A-98B9-0C3E252E054C}"/>
              </a:ext>
            </a:extLst>
          </p:cNvPr>
          <p:cNvPicPr>
            <a:picLocks noChangeAspect="1"/>
          </p:cNvPicPr>
          <p:nvPr/>
        </p:nvPicPr>
        <p:blipFill>
          <a:blip r:embed="rId7"/>
          <a:stretch>
            <a:fillRect/>
          </a:stretch>
        </p:blipFill>
        <p:spPr>
          <a:xfrm>
            <a:off x="4490989" y="4268867"/>
            <a:ext cx="772236" cy="772236"/>
          </a:xfrm>
          <a:prstGeom prst="rect">
            <a:avLst/>
          </a:prstGeom>
        </p:spPr>
      </p:pic>
      <p:pic>
        <p:nvPicPr>
          <p:cNvPr id="18" name="Graphic 17" descr="Arrow Right with solid fill">
            <a:extLst>
              <a:ext uri="{FF2B5EF4-FFF2-40B4-BE49-F238E27FC236}">
                <a16:creationId xmlns:a16="http://schemas.microsoft.com/office/drawing/2014/main" id="{F6429967-6016-CA4B-386F-95C8A547C5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275828">
            <a:off x="5171078" y="4082748"/>
            <a:ext cx="721221" cy="721221"/>
          </a:xfrm>
          <a:prstGeom prst="rect">
            <a:avLst/>
          </a:prstGeom>
        </p:spPr>
      </p:pic>
      <p:pic>
        <p:nvPicPr>
          <p:cNvPr id="19" name="Graphic 18" descr="Arrow Right with solid fill">
            <a:extLst>
              <a:ext uri="{FF2B5EF4-FFF2-40B4-BE49-F238E27FC236}">
                <a16:creationId xmlns:a16="http://schemas.microsoft.com/office/drawing/2014/main" id="{F3A4BD81-E7F0-7C87-6A92-DC111EE919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3696">
            <a:off x="5150792" y="4401450"/>
            <a:ext cx="721221" cy="721221"/>
          </a:xfrm>
          <a:prstGeom prst="rect">
            <a:avLst/>
          </a:prstGeom>
        </p:spPr>
      </p:pic>
      <p:sp>
        <p:nvSpPr>
          <p:cNvPr id="20" name="TextBox 19">
            <a:extLst>
              <a:ext uri="{FF2B5EF4-FFF2-40B4-BE49-F238E27FC236}">
                <a16:creationId xmlns:a16="http://schemas.microsoft.com/office/drawing/2014/main" id="{BD8F6FA4-80AE-B507-65AF-E65B992E460F}"/>
              </a:ext>
            </a:extLst>
          </p:cNvPr>
          <p:cNvSpPr txBox="1"/>
          <p:nvPr/>
        </p:nvSpPr>
        <p:spPr>
          <a:xfrm>
            <a:off x="5834243" y="4144031"/>
            <a:ext cx="1124262" cy="553998"/>
          </a:xfrm>
          <a:prstGeom prst="rect">
            <a:avLst/>
          </a:prstGeom>
          <a:noFill/>
        </p:spPr>
        <p:txBody>
          <a:bodyPr wrap="square" rtlCol="0">
            <a:spAutoFit/>
          </a:bodyPr>
          <a:lstStyle/>
          <a:p>
            <a:pPr algn="ctr"/>
            <a:r>
              <a:rPr lang="en-US" sz="1000" dirty="0"/>
              <a:t>Actor Network – Probability over actions </a:t>
            </a:r>
          </a:p>
        </p:txBody>
      </p:sp>
      <p:sp>
        <p:nvSpPr>
          <p:cNvPr id="21" name="TextBox 20">
            <a:extLst>
              <a:ext uri="{FF2B5EF4-FFF2-40B4-BE49-F238E27FC236}">
                <a16:creationId xmlns:a16="http://schemas.microsoft.com/office/drawing/2014/main" id="{C4E0E844-5FDE-09CC-52EA-3632DFC60F4C}"/>
              </a:ext>
            </a:extLst>
          </p:cNvPr>
          <p:cNvSpPr txBox="1"/>
          <p:nvPr/>
        </p:nvSpPr>
        <p:spPr>
          <a:xfrm>
            <a:off x="5788547" y="4827538"/>
            <a:ext cx="1124262" cy="553998"/>
          </a:xfrm>
          <a:prstGeom prst="rect">
            <a:avLst/>
          </a:prstGeom>
          <a:noFill/>
        </p:spPr>
        <p:txBody>
          <a:bodyPr wrap="square" rtlCol="0">
            <a:spAutoFit/>
          </a:bodyPr>
          <a:lstStyle/>
          <a:p>
            <a:pPr algn="ctr"/>
            <a:r>
              <a:rPr lang="en-US" sz="1000" dirty="0"/>
              <a:t>Critic Network – expected return over the action</a:t>
            </a:r>
          </a:p>
        </p:txBody>
      </p:sp>
      <p:pic>
        <p:nvPicPr>
          <p:cNvPr id="23" name="Graphic 22" descr="Arrow Right with solid fill">
            <a:extLst>
              <a:ext uri="{FF2B5EF4-FFF2-40B4-BE49-F238E27FC236}">
                <a16:creationId xmlns:a16="http://schemas.microsoft.com/office/drawing/2014/main" id="{4A19DADA-29E7-0FCD-EE74-53B2D3882B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9298" y="2338161"/>
            <a:ext cx="1192040" cy="448417"/>
          </a:xfrm>
          <a:prstGeom prst="rect">
            <a:avLst/>
          </a:prstGeom>
        </p:spPr>
      </p:pic>
      <p:sp>
        <p:nvSpPr>
          <p:cNvPr id="25" name="TextBox 24">
            <a:extLst>
              <a:ext uri="{FF2B5EF4-FFF2-40B4-BE49-F238E27FC236}">
                <a16:creationId xmlns:a16="http://schemas.microsoft.com/office/drawing/2014/main" id="{40300343-8B80-9A98-1767-E3AB4A4CAAED}"/>
              </a:ext>
            </a:extLst>
          </p:cNvPr>
          <p:cNvSpPr txBox="1"/>
          <p:nvPr/>
        </p:nvSpPr>
        <p:spPr>
          <a:xfrm>
            <a:off x="5994756" y="2597197"/>
            <a:ext cx="1577003" cy="430887"/>
          </a:xfrm>
          <a:prstGeom prst="rect">
            <a:avLst/>
          </a:prstGeom>
          <a:noFill/>
        </p:spPr>
        <p:txBody>
          <a:bodyPr wrap="square" rtlCol="0">
            <a:spAutoFit/>
          </a:bodyPr>
          <a:lstStyle/>
          <a:p>
            <a:pPr algn="ctr"/>
            <a:r>
              <a:rPr lang="en-US" sz="1100" dirty="0"/>
              <a:t>outputs one high-level </a:t>
            </a:r>
            <a:r>
              <a:rPr lang="en-US" sz="1100" dirty="0" err="1"/>
              <a:t>manoeuvre</a:t>
            </a:r>
            <a:r>
              <a:rPr lang="en-US" sz="1100" dirty="0"/>
              <a:t> token</a:t>
            </a:r>
          </a:p>
        </p:txBody>
      </p:sp>
      <p:sp>
        <p:nvSpPr>
          <p:cNvPr id="26" name="Rounded Rectangle 25">
            <a:extLst>
              <a:ext uri="{FF2B5EF4-FFF2-40B4-BE49-F238E27FC236}">
                <a16:creationId xmlns:a16="http://schemas.microsoft.com/office/drawing/2014/main" id="{1CD11EB8-7DD3-68B7-EE35-6F972D24A8D8}"/>
              </a:ext>
            </a:extLst>
          </p:cNvPr>
          <p:cNvSpPr/>
          <p:nvPr/>
        </p:nvSpPr>
        <p:spPr>
          <a:xfrm>
            <a:off x="7538395" y="2274203"/>
            <a:ext cx="1449817"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Recommended Action A</a:t>
            </a:r>
            <a:r>
              <a:rPr lang="en-US" sz="1200" baseline="-25000" dirty="0">
                <a:solidFill>
                  <a:schemeClr val="tx1"/>
                </a:solidFill>
              </a:rPr>
              <a:t>LLM</a:t>
            </a:r>
          </a:p>
        </p:txBody>
      </p:sp>
      <p:cxnSp>
        <p:nvCxnSpPr>
          <p:cNvPr id="31" name="Elbow Connector 30">
            <a:extLst>
              <a:ext uri="{FF2B5EF4-FFF2-40B4-BE49-F238E27FC236}">
                <a16:creationId xmlns:a16="http://schemas.microsoft.com/office/drawing/2014/main" id="{7328ABF5-6EE0-A2C8-5B06-48CDCE1C680D}"/>
              </a:ext>
            </a:extLst>
          </p:cNvPr>
          <p:cNvCxnSpPr>
            <a:cxnSpLocks/>
            <a:stCxn id="7" idx="2"/>
            <a:endCxn id="10" idx="3"/>
          </p:cNvCxnSpPr>
          <p:nvPr/>
        </p:nvCxnSpPr>
        <p:spPr>
          <a:xfrm rot="16200000" flipH="1">
            <a:off x="807651" y="3667573"/>
            <a:ext cx="1508189" cy="52848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3" name="Elbow Connector 32">
            <a:extLst>
              <a:ext uri="{FF2B5EF4-FFF2-40B4-BE49-F238E27FC236}">
                <a16:creationId xmlns:a16="http://schemas.microsoft.com/office/drawing/2014/main" id="{49F635F5-1CD0-182B-F882-FA1FF1632D87}"/>
              </a:ext>
            </a:extLst>
          </p:cNvPr>
          <p:cNvCxnSpPr>
            <a:cxnSpLocks/>
            <a:stCxn id="26" idx="2"/>
            <a:endCxn id="10" idx="0"/>
          </p:cNvCxnSpPr>
          <p:nvPr/>
        </p:nvCxnSpPr>
        <p:spPr>
          <a:xfrm rot="5400000">
            <a:off x="4271350" y="576192"/>
            <a:ext cx="1664357" cy="6319553"/>
          </a:xfrm>
          <a:prstGeom prst="bentConnector3">
            <a:avLst>
              <a:gd name="adj1" fmla="val 55229"/>
            </a:avLst>
          </a:prstGeom>
          <a:ln>
            <a:tailEnd type="triangle"/>
          </a:ln>
        </p:spPr>
        <p:style>
          <a:lnRef idx="2">
            <a:schemeClr val="dk1"/>
          </a:lnRef>
          <a:fillRef idx="0">
            <a:schemeClr val="dk1"/>
          </a:fillRef>
          <a:effectRef idx="1">
            <a:schemeClr val="dk1"/>
          </a:effectRef>
          <a:fontRef idx="minor">
            <a:schemeClr val="tx1"/>
          </a:fontRef>
        </p:style>
      </p:cxnSp>
      <p:sp>
        <p:nvSpPr>
          <p:cNvPr id="38" name="Rounded Rectangle 37">
            <a:extLst>
              <a:ext uri="{FF2B5EF4-FFF2-40B4-BE49-F238E27FC236}">
                <a16:creationId xmlns:a16="http://schemas.microsoft.com/office/drawing/2014/main" id="{99AE962F-9369-4BE4-F355-EF620B688960}"/>
              </a:ext>
            </a:extLst>
          </p:cNvPr>
          <p:cNvSpPr/>
          <p:nvPr/>
        </p:nvSpPr>
        <p:spPr>
          <a:xfrm>
            <a:off x="7344622" y="3929371"/>
            <a:ext cx="1317939" cy="437881"/>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PPO surrogate loss</a:t>
            </a:r>
          </a:p>
        </p:txBody>
      </p:sp>
      <p:sp>
        <p:nvSpPr>
          <p:cNvPr id="39" name="Rounded Rectangle 38">
            <a:extLst>
              <a:ext uri="{FF2B5EF4-FFF2-40B4-BE49-F238E27FC236}">
                <a16:creationId xmlns:a16="http://schemas.microsoft.com/office/drawing/2014/main" id="{A128F57E-E91C-59BC-DD7C-D93B56E1E637}"/>
              </a:ext>
            </a:extLst>
          </p:cNvPr>
          <p:cNvSpPr/>
          <p:nvPr/>
        </p:nvSpPr>
        <p:spPr>
          <a:xfrm>
            <a:off x="2750461" y="4430806"/>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Self Attention</a:t>
            </a:r>
          </a:p>
        </p:txBody>
      </p:sp>
      <p:sp>
        <p:nvSpPr>
          <p:cNvPr id="40" name="TextBox 39">
            <a:extLst>
              <a:ext uri="{FF2B5EF4-FFF2-40B4-BE49-F238E27FC236}">
                <a16:creationId xmlns:a16="http://schemas.microsoft.com/office/drawing/2014/main" id="{FA7D80EB-574B-6A0D-D48E-472B2F091ADC}"/>
              </a:ext>
            </a:extLst>
          </p:cNvPr>
          <p:cNvSpPr txBox="1"/>
          <p:nvPr/>
        </p:nvSpPr>
        <p:spPr>
          <a:xfrm>
            <a:off x="4310286" y="3606971"/>
            <a:ext cx="4104990" cy="276999"/>
          </a:xfrm>
          <a:prstGeom prst="rect">
            <a:avLst/>
          </a:prstGeom>
          <a:noFill/>
        </p:spPr>
        <p:txBody>
          <a:bodyPr wrap="square" rtlCol="0">
            <a:spAutoFit/>
          </a:bodyPr>
          <a:lstStyle/>
          <a:p>
            <a:pPr algn="ctr"/>
            <a:r>
              <a:rPr lang="en-US" sz="1200" b="1" dirty="0"/>
              <a:t>The teachers action gets mapped into a vector a</a:t>
            </a:r>
            <a:r>
              <a:rPr lang="en-US" sz="1200" b="1" baseline="-25000" dirty="0"/>
              <a:t>t</a:t>
            </a:r>
          </a:p>
        </p:txBody>
      </p:sp>
      <p:sp>
        <p:nvSpPr>
          <p:cNvPr id="41" name="TextBox 40">
            <a:extLst>
              <a:ext uri="{FF2B5EF4-FFF2-40B4-BE49-F238E27FC236}">
                <a16:creationId xmlns:a16="http://schemas.microsoft.com/office/drawing/2014/main" id="{036A2589-F5C0-CAA7-6A18-05D63C792B1B}"/>
              </a:ext>
            </a:extLst>
          </p:cNvPr>
          <p:cNvSpPr txBox="1"/>
          <p:nvPr/>
        </p:nvSpPr>
        <p:spPr>
          <a:xfrm>
            <a:off x="52551" y="3283644"/>
            <a:ext cx="1283286" cy="830997"/>
          </a:xfrm>
          <a:prstGeom prst="rect">
            <a:avLst/>
          </a:prstGeom>
          <a:noFill/>
        </p:spPr>
        <p:txBody>
          <a:bodyPr wrap="square" rtlCol="0">
            <a:spAutoFit/>
          </a:bodyPr>
          <a:lstStyle/>
          <a:p>
            <a:pPr algn="ctr"/>
            <a:r>
              <a:rPr lang="en-US" sz="1200" b="1" dirty="0"/>
              <a:t>The state representation gets mapped into a vector h </a:t>
            </a:r>
            <a:r>
              <a:rPr lang="en-US" sz="1200" b="1" baseline="30000" dirty="0" err="1"/>
              <a:t>s</a:t>
            </a:r>
            <a:r>
              <a:rPr lang="en-US" sz="1200" b="1" baseline="-25000" dirty="0" err="1"/>
              <a:t>t</a:t>
            </a:r>
            <a:r>
              <a:rPr lang="en-US" sz="1200" b="1" baseline="-25000" dirty="0"/>
              <a:t> </a:t>
            </a:r>
          </a:p>
        </p:txBody>
      </p:sp>
      <p:pic>
        <p:nvPicPr>
          <p:cNvPr id="49" name="Graphic 48" descr="Arrow Right with solid fill">
            <a:extLst>
              <a:ext uri="{FF2B5EF4-FFF2-40B4-BE49-F238E27FC236}">
                <a16:creationId xmlns:a16="http://schemas.microsoft.com/office/drawing/2014/main" id="{2221D8A6-D2B4-9D6C-94DC-F67FA5B774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78903" y="4451926"/>
            <a:ext cx="374336" cy="448417"/>
          </a:xfrm>
          <a:prstGeom prst="rect">
            <a:avLst/>
          </a:prstGeom>
        </p:spPr>
      </p:pic>
      <p:sp>
        <p:nvSpPr>
          <p:cNvPr id="50" name="TextBox 49">
            <a:extLst>
              <a:ext uri="{FF2B5EF4-FFF2-40B4-BE49-F238E27FC236}">
                <a16:creationId xmlns:a16="http://schemas.microsoft.com/office/drawing/2014/main" id="{9B8EB5D2-1799-6BE1-09FE-DFBF9DD3BC08}"/>
              </a:ext>
            </a:extLst>
          </p:cNvPr>
          <p:cNvSpPr txBox="1"/>
          <p:nvPr/>
        </p:nvSpPr>
        <p:spPr>
          <a:xfrm>
            <a:off x="3643349" y="4700526"/>
            <a:ext cx="1124262" cy="261610"/>
          </a:xfrm>
          <a:prstGeom prst="rect">
            <a:avLst/>
          </a:prstGeom>
          <a:noFill/>
        </p:spPr>
        <p:txBody>
          <a:bodyPr wrap="square" rtlCol="0">
            <a:spAutoFit/>
          </a:bodyPr>
          <a:lstStyle/>
          <a:p>
            <a:pPr algn="ctr"/>
            <a:r>
              <a:rPr lang="en-US" sz="1100" b="1" dirty="0" err="1"/>
              <a:t>h</a:t>
            </a:r>
            <a:r>
              <a:rPr lang="en-US" sz="1100" b="1" baseline="-25000" dirty="0" err="1"/>
              <a:t>t</a:t>
            </a:r>
            <a:endParaRPr lang="en-US" sz="1100" b="1" dirty="0"/>
          </a:p>
        </p:txBody>
      </p:sp>
      <p:pic>
        <p:nvPicPr>
          <p:cNvPr id="51" name="Graphic 50" descr="Badge Follow with solid fill">
            <a:extLst>
              <a:ext uri="{FF2B5EF4-FFF2-40B4-BE49-F238E27FC236}">
                <a16:creationId xmlns:a16="http://schemas.microsoft.com/office/drawing/2014/main" id="{DA6C8BAD-66AF-7749-F71C-79FF15090F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38449" y="4281001"/>
            <a:ext cx="344606" cy="346028"/>
          </a:xfrm>
          <a:prstGeom prst="rect">
            <a:avLst/>
          </a:prstGeom>
        </p:spPr>
      </p:pic>
      <p:pic>
        <p:nvPicPr>
          <p:cNvPr id="53" name="Graphic 52" descr="Arrow Right with solid fill">
            <a:extLst>
              <a:ext uri="{FF2B5EF4-FFF2-40B4-BE49-F238E27FC236}">
                <a16:creationId xmlns:a16="http://schemas.microsoft.com/office/drawing/2014/main" id="{6E87DAB2-5496-707A-0A4F-397D8F2293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4340" y="2399954"/>
            <a:ext cx="374336" cy="448417"/>
          </a:xfrm>
          <a:prstGeom prst="rect">
            <a:avLst/>
          </a:prstGeom>
        </p:spPr>
      </p:pic>
      <p:sp>
        <p:nvSpPr>
          <p:cNvPr id="54" name="TextBox 53">
            <a:extLst>
              <a:ext uri="{FF2B5EF4-FFF2-40B4-BE49-F238E27FC236}">
                <a16:creationId xmlns:a16="http://schemas.microsoft.com/office/drawing/2014/main" id="{A08D6069-99E8-F961-DA04-C4B5FB4FCBAB}"/>
              </a:ext>
            </a:extLst>
          </p:cNvPr>
          <p:cNvSpPr txBox="1"/>
          <p:nvPr/>
        </p:nvSpPr>
        <p:spPr>
          <a:xfrm>
            <a:off x="8639520" y="5719570"/>
            <a:ext cx="1377892" cy="400110"/>
          </a:xfrm>
          <a:prstGeom prst="rect">
            <a:avLst/>
          </a:prstGeom>
          <a:noFill/>
        </p:spPr>
        <p:txBody>
          <a:bodyPr wrap="square" rtlCol="0">
            <a:spAutoFit/>
          </a:bodyPr>
          <a:lstStyle/>
          <a:p>
            <a:pPr algn="ctr"/>
            <a:r>
              <a:rPr lang="en-US" sz="1000" dirty="0"/>
              <a:t>The KL coefficient relaxes gradually</a:t>
            </a:r>
          </a:p>
        </p:txBody>
      </p:sp>
      <p:sp>
        <p:nvSpPr>
          <p:cNvPr id="55" name="Right Brace 54">
            <a:extLst>
              <a:ext uri="{FF2B5EF4-FFF2-40B4-BE49-F238E27FC236}">
                <a16:creationId xmlns:a16="http://schemas.microsoft.com/office/drawing/2014/main" id="{16D27AD2-FDE9-810A-2AD3-7CD4B83CE6C0}"/>
              </a:ext>
            </a:extLst>
          </p:cNvPr>
          <p:cNvSpPr/>
          <p:nvPr/>
        </p:nvSpPr>
        <p:spPr>
          <a:xfrm>
            <a:off x="8722889" y="4367252"/>
            <a:ext cx="319381" cy="119638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56" name="TextBox 55">
            <a:extLst>
              <a:ext uri="{FF2B5EF4-FFF2-40B4-BE49-F238E27FC236}">
                <a16:creationId xmlns:a16="http://schemas.microsoft.com/office/drawing/2014/main" id="{534BA728-AA97-EF94-21EE-24FA3EE6DD8A}"/>
              </a:ext>
            </a:extLst>
          </p:cNvPr>
          <p:cNvSpPr txBox="1"/>
          <p:nvPr/>
        </p:nvSpPr>
        <p:spPr>
          <a:xfrm>
            <a:off x="8988212" y="4791151"/>
            <a:ext cx="680509" cy="461665"/>
          </a:xfrm>
          <a:prstGeom prst="rect">
            <a:avLst/>
          </a:prstGeom>
          <a:noFill/>
        </p:spPr>
        <p:txBody>
          <a:bodyPr wrap="square" rtlCol="0">
            <a:spAutoFit/>
          </a:bodyPr>
          <a:lstStyle/>
          <a:p>
            <a:pPr algn="ctr"/>
            <a:r>
              <a:rPr lang="en-US" sz="1200" b="1" dirty="0"/>
              <a:t>Action</a:t>
            </a:r>
            <a:br>
              <a:rPr lang="en-US" sz="1200" b="1" dirty="0"/>
            </a:br>
            <a:r>
              <a:rPr lang="en-US" sz="1200" b="1" dirty="0"/>
              <a:t>A</a:t>
            </a:r>
            <a:r>
              <a:rPr lang="en-US" sz="1200" b="1" baseline="-25000" dirty="0"/>
              <a:t>t</a:t>
            </a:r>
          </a:p>
        </p:txBody>
      </p:sp>
      <p:sp>
        <p:nvSpPr>
          <p:cNvPr id="3" name="TextBox 2">
            <a:extLst>
              <a:ext uri="{FF2B5EF4-FFF2-40B4-BE49-F238E27FC236}">
                <a16:creationId xmlns:a16="http://schemas.microsoft.com/office/drawing/2014/main" id="{EEBF4DEA-CDAD-2EBF-6023-BB84D3FA7900}"/>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pic>
        <p:nvPicPr>
          <p:cNvPr id="10" name="Picture 9" descr="A black background with a black square&#10;&#10;AI-generated content may be incorrect.">
            <a:extLst>
              <a:ext uri="{FF2B5EF4-FFF2-40B4-BE49-F238E27FC236}">
                <a16:creationId xmlns:a16="http://schemas.microsoft.com/office/drawing/2014/main" id="{436965FF-FEB0-A2B9-C5B1-CE40040F8E68}"/>
              </a:ext>
            </a:extLst>
          </p:cNvPr>
          <p:cNvPicPr>
            <a:picLocks noChangeAspect="1"/>
          </p:cNvPicPr>
          <p:nvPr/>
        </p:nvPicPr>
        <p:blipFill>
          <a:blip r:embed="rId10"/>
          <a:stretch>
            <a:fillRect/>
          </a:stretch>
        </p:blipFill>
        <p:spPr>
          <a:xfrm flipH="1">
            <a:off x="1825988" y="4568147"/>
            <a:ext cx="235527" cy="235527"/>
          </a:xfrm>
          <a:prstGeom prst="rect">
            <a:avLst/>
          </a:prstGeom>
        </p:spPr>
      </p:pic>
      <p:cxnSp>
        <p:nvCxnSpPr>
          <p:cNvPr id="34" name="Straight Arrow Connector 33">
            <a:extLst>
              <a:ext uri="{FF2B5EF4-FFF2-40B4-BE49-F238E27FC236}">
                <a16:creationId xmlns:a16="http://schemas.microsoft.com/office/drawing/2014/main" id="{2656B8F1-E018-E486-EF03-C15A9A97AFDB}"/>
              </a:ext>
            </a:extLst>
          </p:cNvPr>
          <p:cNvCxnSpPr>
            <a:cxnSpLocks/>
            <a:stCxn id="10" idx="1"/>
            <a:endCxn id="39" idx="1"/>
          </p:cNvCxnSpPr>
          <p:nvPr/>
        </p:nvCxnSpPr>
        <p:spPr>
          <a:xfrm>
            <a:off x="2061515" y="4685911"/>
            <a:ext cx="6889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A3144466-5236-C264-DCF4-8B3DB4F547EC}"/>
              </a:ext>
            </a:extLst>
          </p:cNvPr>
          <p:cNvSpPr txBox="1"/>
          <p:nvPr/>
        </p:nvSpPr>
        <p:spPr>
          <a:xfrm>
            <a:off x="1196382" y="4760841"/>
            <a:ext cx="1449235" cy="784830"/>
          </a:xfrm>
          <a:prstGeom prst="rect">
            <a:avLst/>
          </a:prstGeom>
          <a:noFill/>
        </p:spPr>
        <p:txBody>
          <a:bodyPr wrap="square" rtlCol="0">
            <a:spAutoFit/>
          </a:bodyPr>
          <a:lstStyle/>
          <a:p>
            <a:pPr algn="ctr"/>
            <a:r>
              <a:rPr lang="en-US" sz="1100" dirty="0"/>
              <a:t>Concatenation of state vector </a:t>
            </a:r>
            <a:r>
              <a:rPr lang="en-US" sz="1100" b="1" dirty="0"/>
              <a:t>(h </a:t>
            </a:r>
            <a:r>
              <a:rPr lang="en-US" sz="1100" b="1" baseline="30000" dirty="0" err="1"/>
              <a:t>s</a:t>
            </a:r>
            <a:r>
              <a:rPr lang="en-US" sz="1100" b="1" baseline="-25000" dirty="0" err="1"/>
              <a:t>t</a:t>
            </a:r>
            <a:r>
              <a:rPr lang="en-US" sz="1100" b="1" baseline="-25000" dirty="0"/>
              <a:t> </a:t>
            </a:r>
            <a:r>
              <a:rPr lang="en-US" sz="1100" b="1" dirty="0"/>
              <a:t>) </a:t>
            </a:r>
            <a:r>
              <a:rPr lang="en-US" sz="1100" dirty="0"/>
              <a:t>and LLM action</a:t>
            </a:r>
            <a:r>
              <a:rPr lang="en-US" sz="1100" b="1" dirty="0"/>
              <a:t>(a</a:t>
            </a:r>
            <a:r>
              <a:rPr lang="en-US" sz="1100" b="1" baseline="-25000" dirty="0"/>
              <a:t>t</a:t>
            </a:r>
            <a:r>
              <a:rPr lang="en-US" sz="1100" b="1" dirty="0"/>
              <a:t>)</a:t>
            </a:r>
            <a:r>
              <a:rPr lang="en-US" sz="1100" dirty="0"/>
              <a:t> to get vector (</a:t>
            </a:r>
            <a:r>
              <a:rPr lang="en-US" sz="1100" b="1" dirty="0" err="1"/>
              <a:t>h</a:t>
            </a:r>
            <a:r>
              <a:rPr lang="en-US" sz="1100" b="1" baseline="-25000" dirty="0" err="1"/>
              <a:t>t</a:t>
            </a:r>
            <a:r>
              <a:rPr lang="en-US" sz="1100" dirty="0"/>
              <a:t>)</a:t>
            </a:r>
          </a:p>
        </p:txBody>
      </p:sp>
      <p:pic>
        <p:nvPicPr>
          <p:cNvPr id="57" name="Graphic 56" descr="Badge Follow with solid fill">
            <a:extLst>
              <a:ext uri="{FF2B5EF4-FFF2-40B4-BE49-F238E27FC236}">
                <a16:creationId xmlns:a16="http://schemas.microsoft.com/office/drawing/2014/main" id="{43F42BA8-929A-80DB-2C10-6870BB6F421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42945" y="4842586"/>
            <a:ext cx="344606" cy="344606"/>
          </a:xfrm>
          <a:prstGeom prst="rect">
            <a:avLst/>
          </a:prstGeom>
        </p:spPr>
      </p:pic>
      <p:sp>
        <p:nvSpPr>
          <p:cNvPr id="58" name="Rounded Rectangle 57">
            <a:extLst>
              <a:ext uri="{FF2B5EF4-FFF2-40B4-BE49-F238E27FC236}">
                <a16:creationId xmlns:a16="http://schemas.microsoft.com/office/drawing/2014/main" id="{47660ECD-2848-8591-7023-C282D265F407}"/>
              </a:ext>
            </a:extLst>
          </p:cNvPr>
          <p:cNvSpPr/>
          <p:nvPr/>
        </p:nvSpPr>
        <p:spPr>
          <a:xfrm>
            <a:off x="7344622" y="5583348"/>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KL Divergence loss</a:t>
            </a:r>
          </a:p>
        </p:txBody>
      </p:sp>
      <p:pic>
        <p:nvPicPr>
          <p:cNvPr id="59" name="Graphic 58" descr="Badge Follow with solid fill">
            <a:extLst>
              <a:ext uri="{FF2B5EF4-FFF2-40B4-BE49-F238E27FC236}">
                <a16:creationId xmlns:a16="http://schemas.microsoft.com/office/drawing/2014/main" id="{EB586C58-C631-1168-FD24-4439205056F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38449" y="5364806"/>
            <a:ext cx="344606" cy="344606"/>
          </a:xfrm>
          <a:prstGeom prst="rect">
            <a:avLst/>
          </a:prstGeom>
        </p:spPr>
      </p:pic>
      <p:pic>
        <p:nvPicPr>
          <p:cNvPr id="60" name="Graphic 59" descr="Arrow Right with solid fill">
            <a:extLst>
              <a:ext uri="{FF2B5EF4-FFF2-40B4-BE49-F238E27FC236}">
                <a16:creationId xmlns:a16="http://schemas.microsoft.com/office/drawing/2014/main" id="{C340D35D-6C64-9B8C-C68D-7C6583FFE3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61645" y="4880328"/>
            <a:ext cx="374336" cy="448417"/>
          </a:xfrm>
          <a:prstGeom prst="rect">
            <a:avLst/>
          </a:prstGeom>
        </p:spPr>
      </p:pic>
      <p:pic>
        <p:nvPicPr>
          <p:cNvPr id="62" name="Graphic 61" descr="Arrow Right with solid fill">
            <a:extLst>
              <a:ext uri="{FF2B5EF4-FFF2-40B4-BE49-F238E27FC236}">
                <a16:creationId xmlns:a16="http://schemas.microsoft.com/office/drawing/2014/main" id="{FFF0B938-B747-5B1E-D84E-E9AABEC4BB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9477" y="4186592"/>
            <a:ext cx="374336" cy="448417"/>
          </a:xfrm>
          <a:prstGeom prst="rect">
            <a:avLst/>
          </a:prstGeom>
        </p:spPr>
      </p:pic>
      <p:cxnSp>
        <p:nvCxnSpPr>
          <p:cNvPr id="63" name="Straight Arrow Connector 62">
            <a:extLst>
              <a:ext uri="{FF2B5EF4-FFF2-40B4-BE49-F238E27FC236}">
                <a16:creationId xmlns:a16="http://schemas.microsoft.com/office/drawing/2014/main" id="{8F55764B-0EDB-392A-F6F3-BBC837F19989}"/>
              </a:ext>
            </a:extLst>
          </p:cNvPr>
          <p:cNvCxnSpPr>
            <a:cxnSpLocks/>
          </p:cNvCxnSpPr>
          <p:nvPr/>
        </p:nvCxnSpPr>
        <p:spPr>
          <a:xfrm>
            <a:off x="9668721" y="4971468"/>
            <a:ext cx="2064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66" name="Picture 65" descr="A black text with a number&#10;&#10;AI-generated content may be incorrect.">
            <a:extLst>
              <a:ext uri="{FF2B5EF4-FFF2-40B4-BE49-F238E27FC236}">
                <a16:creationId xmlns:a16="http://schemas.microsoft.com/office/drawing/2014/main" id="{8EE6FCDB-8E41-D224-ABC7-7ED74DC9841B}"/>
              </a:ext>
            </a:extLst>
          </p:cNvPr>
          <p:cNvPicPr>
            <a:picLocks noChangeAspect="1"/>
          </p:cNvPicPr>
          <p:nvPr/>
        </p:nvPicPr>
        <p:blipFill>
          <a:blip r:embed="rId11"/>
          <a:stretch>
            <a:fillRect/>
          </a:stretch>
        </p:blipFill>
        <p:spPr>
          <a:xfrm>
            <a:off x="9842045" y="4654985"/>
            <a:ext cx="1408186" cy="628787"/>
          </a:xfrm>
          <a:prstGeom prst="rect">
            <a:avLst/>
          </a:prstGeom>
        </p:spPr>
      </p:pic>
      <p:sp>
        <p:nvSpPr>
          <p:cNvPr id="68" name="TextBox 67">
            <a:extLst>
              <a:ext uri="{FF2B5EF4-FFF2-40B4-BE49-F238E27FC236}">
                <a16:creationId xmlns:a16="http://schemas.microsoft.com/office/drawing/2014/main" id="{F8FE8F9F-5E96-6EB6-7FC5-1260CE7241CF}"/>
              </a:ext>
            </a:extLst>
          </p:cNvPr>
          <p:cNvSpPr txBox="1"/>
          <p:nvPr/>
        </p:nvSpPr>
        <p:spPr>
          <a:xfrm>
            <a:off x="9922214" y="4446421"/>
            <a:ext cx="1377892" cy="253916"/>
          </a:xfrm>
          <a:prstGeom prst="rect">
            <a:avLst/>
          </a:prstGeom>
          <a:noFill/>
        </p:spPr>
        <p:txBody>
          <a:bodyPr wrap="square" rtlCol="0">
            <a:spAutoFit/>
          </a:bodyPr>
          <a:lstStyle/>
          <a:p>
            <a:pPr algn="ctr"/>
            <a:r>
              <a:rPr lang="en-US" sz="1050" b="1" dirty="0"/>
              <a:t>Risk Metric</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31949E2-71A6-E490-014A-0AD9D6E7E12D}"/>
                  </a:ext>
                </a:extLst>
              </p:cNvPr>
              <p:cNvSpPr txBox="1"/>
              <p:nvPr/>
            </p:nvSpPr>
            <p:spPr>
              <a:xfrm>
                <a:off x="11049334" y="4799685"/>
                <a:ext cx="2324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&gt;</m:t>
                      </m:r>
                    </m:oMath>
                  </m:oMathPara>
                </a14:m>
                <a:endParaRPr lang="en-US" dirty="0"/>
              </a:p>
            </p:txBody>
          </p:sp>
        </mc:Choice>
        <mc:Fallback xmlns="">
          <p:sp>
            <p:nvSpPr>
              <p:cNvPr id="69" name="TextBox 68">
                <a:extLst>
                  <a:ext uri="{FF2B5EF4-FFF2-40B4-BE49-F238E27FC236}">
                    <a16:creationId xmlns:a16="http://schemas.microsoft.com/office/drawing/2014/main" id="{431949E2-71A6-E490-014A-0AD9D6E7E12D}"/>
                  </a:ext>
                </a:extLst>
              </p:cNvPr>
              <p:cNvSpPr txBox="1">
                <a:spLocks noRot="1" noChangeAspect="1" noMove="1" noResize="1" noEditPoints="1" noAdjustHandles="1" noChangeArrowheads="1" noChangeShapeType="1" noTextEdit="1"/>
              </p:cNvSpPr>
              <p:nvPr/>
            </p:nvSpPr>
            <p:spPr>
              <a:xfrm>
                <a:off x="11049334" y="4799685"/>
                <a:ext cx="232436" cy="276999"/>
              </a:xfrm>
              <a:prstGeom prst="rect">
                <a:avLst/>
              </a:prstGeom>
              <a:blipFill>
                <a:blip r:embed="rId12"/>
                <a:stretch>
                  <a:fillRect l="-21053" r="-15789"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116594E-5466-6B31-A017-6838B5ED2309}"/>
                  </a:ext>
                </a:extLst>
              </p:cNvPr>
              <p:cNvSpPr txBox="1"/>
              <p:nvPr/>
            </p:nvSpPr>
            <p:spPr>
              <a:xfrm>
                <a:off x="11271396" y="4791151"/>
                <a:ext cx="2057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oMath>
                  </m:oMathPara>
                </a14:m>
                <a:endParaRPr lang="en-US" dirty="0"/>
              </a:p>
            </p:txBody>
          </p:sp>
        </mc:Choice>
        <mc:Fallback xmlns="">
          <p:sp>
            <p:nvSpPr>
              <p:cNvPr id="70" name="TextBox 69">
                <a:extLst>
                  <a:ext uri="{FF2B5EF4-FFF2-40B4-BE49-F238E27FC236}">
                    <a16:creationId xmlns:a16="http://schemas.microsoft.com/office/drawing/2014/main" id="{3116594E-5466-6B31-A017-6838B5ED2309}"/>
                  </a:ext>
                </a:extLst>
              </p:cNvPr>
              <p:cNvSpPr txBox="1">
                <a:spLocks noRot="1" noChangeAspect="1" noMove="1" noResize="1" noEditPoints="1" noAdjustHandles="1" noChangeArrowheads="1" noChangeShapeType="1" noTextEdit="1"/>
              </p:cNvSpPr>
              <p:nvPr/>
            </p:nvSpPr>
            <p:spPr>
              <a:xfrm>
                <a:off x="11271396" y="4791151"/>
                <a:ext cx="205762" cy="276999"/>
              </a:xfrm>
              <a:prstGeom prst="rect">
                <a:avLst/>
              </a:prstGeom>
              <a:blipFill>
                <a:blip r:embed="rId13"/>
                <a:stretch>
                  <a:fillRect l="-35294" t="-4545" r="-35294" b="-40909"/>
                </a:stretch>
              </a:blipFill>
            </p:spPr>
            <p:txBody>
              <a:bodyPr/>
              <a:lstStyle/>
              <a:p>
                <a:r>
                  <a:rPr lang="en-US">
                    <a:noFill/>
                  </a:rPr>
                  <a:t> </a:t>
                </a:r>
              </a:p>
            </p:txBody>
          </p:sp>
        </mc:Fallback>
      </mc:AlternateContent>
      <p:cxnSp>
        <p:nvCxnSpPr>
          <p:cNvPr id="74" name="Elbow Connector 73">
            <a:extLst>
              <a:ext uri="{FF2B5EF4-FFF2-40B4-BE49-F238E27FC236}">
                <a16:creationId xmlns:a16="http://schemas.microsoft.com/office/drawing/2014/main" id="{B5C79FAB-2755-B509-D764-0E4D7935AED0}"/>
              </a:ext>
            </a:extLst>
          </p:cNvPr>
          <p:cNvCxnSpPr>
            <a:cxnSpLocks/>
            <a:stCxn id="70" idx="3"/>
            <a:endCxn id="11" idx="3"/>
          </p:cNvCxnSpPr>
          <p:nvPr/>
        </p:nvCxnSpPr>
        <p:spPr>
          <a:xfrm flipH="1" flipV="1">
            <a:off x="5455726" y="1511173"/>
            <a:ext cx="6021432" cy="3418478"/>
          </a:xfrm>
          <a:prstGeom prst="bentConnector3">
            <a:avLst>
              <a:gd name="adj1" fmla="val -1324"/>
            </a:avLst>
          </a:prstGeom>
          <a:ln>
            <a:tailEnd type="triangle"/>
          </a:ln>
        </p:spPr>
        <p:style>
          <a:lnRef idx="2">
            <a:schemeClr val="dk1"/>
          </a:lnRef>
          <a:fillRef idx="0">
            <a:schemeClr val="dk1"/>
          </a:fillRef>
          <a:effectRef idx="1">
            <a:schemeClr val="dk1"/>
          </a:effectRef>
          <a:fontRef idx="minor">
            <a:schemeClr val="tx1"/>
          </a:fontRef>
        </p:style>
      </p:cxnSp>
      <p:sp>
        <p:nvSpPr>
          <p:cNvPr id="78" name="TextBox 77">
            <a:extLst>
              <a:ext uri="{FF2B5EF4-FFF2-40B4-BE49-F238E27FC236}">
                <a16:creationId xmlns:a16="http://schemas.microsoft.com/office/drawing/2014/main" id="{37A540E7-CE25-F5E7-9810-CB0E1E2AFE87}"/>
              </a:ext>
            </a:extLst>
          </p:cNvPr>
          <p:cNvSpPr txBox="1"/>
          <p:nvPr/>
        </p:nvSpPr>
        <p:spPr>
          <a:xfrm>
            <a:off x="9532915" y="2879893"/>
            <a:ext cx="1529134" cy="1277273"/>
          </a:xfrm>
          <a:prstGeom prst="rect">
            <a:avLst/>
          </a:prstGeom>
          <a:noFill/>
        </p:spPr>
        <p:txBody>
          <a:bodyPr wrap="square">
            <a:spAutoFit/>
          </a:bodyPr>
          <a:lstStyle/>
          <a:p>
            <a:pPr algn="ctr"/>
            <a:r>
              <a:rPr lang="en-SG" sz="1100" b="1" i="0" u="none" strike="noStrike" dirty="0">
                <a:solidFill>
                  <a:srgbClr val="000000"/>
                </a:solidFill>
                <a:effectLst/>
              </a:rPr>
              <a:t>If </a:t>
            </a:r>
            <a:r>
              <a:rPr lang="el-GR" sz="1100" b="1" i="0" u="none" strike="noStrike" dirty="0">
                <a:solidFill>
                  <a:srgbClr val="000000"/>
                </a:solidFill>
                <a:effectLst/>
              </a:rPr>
              <a:t>Ω</a:t>
            </a:r>
            <a:r>
              <a:rPr lang="en-SG" sz="1100" b="1" i="0" u="none" strike="noStrike" dirty="0">
                <a:solidFill>
                  <a:srgbClr val="000000"/>
                </a:solidFill>
                <a:effectLst/>
              </a:rPr>
              <a:t>t &gt; </a:t>
            </a:r>
            <a:r>
              <a:rPr lang="el-GR" sz="1100" b="1" i="0" u="none" strike="noStrike" dirty="0">
                <a:solidFill>
                  <a:srgbClr val="000000"/>
                </a:solidFill>
                <a:effectLst/>
              </a:rPr>
              <a:t>δ, </a:t>
            </a:r>
            <a:r>
              <a:rPr lang="en-SG" sz="1100" b="1" i="0" u="none" strike="noStrike" dirty="0">
                <a:solidFill>
                  <a:srgbClr val="000000"/>
                </a:solidFill>
                <a:effectLst/>
              </a:rPr>
              <a:t>prompt:</a:t>
            </a:r>
          </a:p>
          <a:p>
            <a:pPr algn="ctr"/>
            <a:br>
              <a:rPr lang="en-SG" sz="1100" b="0" i="0" u="none" strike="noStrike" dirty="0">
                <a:solidFill>
                  <a:srgbClr val="000000"/>
                </a:solidFill>
                <a:effectLst/>
              </a:rPr>
            </a:br>
            <a:r>
              <a:rPr lang="en-SG" sz="1100" b="0" i="0" u="none" strike="noStrike" dirty="0">
                <a:solidFill>
                  <a:srgbClr val="000000"/>
                </a:solidFill>
                <a:effectLst/>
              </a:rPr>
              <a:t>“High risk detected. Diagnose the error and recommend a corrective </a:t>
            </a:r>
            <a:r>
              <a:rPr lang="en-SG" sz="1100" b="0" i="0" u="none" strike="noStrike" dirty="0" err="1">
                <a:solidFill>
                  <a:srgbClr val="000000"/>
                </a:solidFill>
                <a:effectLst/>
              </a:rPr>
              <a:t>maneuver</a:t>
            </a:r>
            <a:r>
              <a:rPr lang="en-SG" sz="1100" b="0" i="0" u="none" strike="noStrike" dirty="0">
                <a:solidFill>
                  <a:srgbClr val="000000"/>
                </a:solidFill>
                <a:effectLst/>
              </a:rPr>
              <a:t>.”</a:t>
            </a:r>
          </a:p>
          <a:p>
            <a:endParaRPr lang="en-SG" sz="1100" b="0" i="0" u="none" strike="noStrike" dirty="0">
              <a:solidFill>
                <a:srgbClr val="000000"/>
              </a:solidFill>
              <a:effectLst/>
            </a:endParaRPr>
          </a:p>
        </p:txBody>
      </p:sp>
      <p:sp>
        <p:nvSpPr>
          <p:cNvPr id="80" name="TextBox 79">
            <a:extLst>
              <a:ext uri="{FF2B5EF4-FFF2-40B4-BE49-F238E27FC236}">
                <a16:creationId xmlns:a16="http://schemas.microsoft.com/office/drawing/2014/main" id="{23D071F5-04F2-81B0-937C-A7DCF1AF46E0}"/>
              </a:ext>
            </a:extLst>
          </p:cNvPr>
          <p:cNvSpPr txBox="1"/>
          <p:nvPr/>
        </p:nvSpPr>
        <p:spPr>
          <a:xfrm>
            <a:off x="7862969" y="619642"/>
            <a:ext cx="3618770" cy="769441"/>
          </a:xfrm>
          <a:prstGeom prst="rect">
            <a:avLst/>
          </a:prstGeom>
          <a:noFill/>
        </p:spPr>
        <p:txBody>
          <a:bodyPr wrap="square">
            <a:spAutoFit/>
          </a:bodyPr>
          <a:lstStyle/>
          <a:p>
            <a:pPr algn="ctr"/>
            <a:r>
              <a:rPr lang="en-US" sz="1100" b="1" dirty="0"/>
              <a:t>Store correction: LLM outputs a delta-token </a:t>
            </a:r>
            <a:r>
              <a:rPr lang="el-GR" sz="1100" b="1" dirty="0"/>
              <a:t>Δ</a:t>
            </a:r>
            <a:r>
              <a:rPr lang="en-US" sz="1100" b="1" dirty="0"/>
              <a:t>m.</a:t>
            </a:r>
            <a:br>
              <a:rPr lang="en-US" sz="1100" b="1" dirty="0"/>
            </a:br>
            <a:br>
              <a:rPr lang="en-US" sz="1100" b="1" dirty="0"/>
            </a:br>
            <a:r>
              <a:rPr lang="en-US" sz="1100" dirty="0"/>
              <a:t> Embed </a:t>
            </a:r>
            <a:r>
              <a:rPr lang="el-GR" sz="1100" dirty="0"/>
              <a:t>Δ</a:t>
            </a:r>
            <a:r>
              <a:rPr lang="en-US" sz="1100" dirty="0"/>
              <a:t>m to </a:t>
            </a:r>
            <a:r>
              <a:rPr lang="el-GR" sz="1100" dirty="0"/>
              <a:t>Δ</a:t>
            </a:r>
            <a:r>
              <a:rPr lang="en-US" sz="1100" dirty="0"/>
              <a:t>e using and save </a:t>
            </a:r>
            <a:br>
              <a:rPr lang="en-US" sz="1100" dirty="0"/>
            </a:br>
            <a:r>
              <a:rPr lang="en-US" sz="1100" dirty="0"/>
              <a:t>(</a:t>
            </a:r>
            <a:r>
              <a:rPr lang="en-US" sz="1100" dirty="0" err="1"/>
              <a:t>zt</a:t>
            </a:r>
            <a:r>
              <a:rPr lang="en-US" sz="1100" dirty="0"/>
              <a:t>, </a:t>
            </a:r>
            <a:r>
              <a:rPr lang="en-US" sz="1100" dirty="0" err="1"/>
              <a:t>st</a:t>
            </a:r>
            <a:r>
              <a:rPr lang="en-US" sz="1100" dirty="0"/>
              <a:t>, </a:t>
            </a:r>
            <a:r>
              <a:rPr lang="el-GR" sz="1100" dirty="0"/>
              <a:t>Δ</a:t>
            </a:r>
            <a:r>
              <a:rPr lang="en-US" sz="1100" dirty="0"/>
              <a:t>e, “correction”) back into Memory.</a:t>
            </a:r>
          </a:p>
        </p:txBody>
      </p:sp>
      <p:sp>
        <p:nvSpPr>
          <p:cNvPr id="81" name="Rounded Rectangle 80">
            <a:extLst>
              <a:ext uri="{FF2B5EF4-FFF2-40B4-BE49-F238E27FC236}">
                <a16:creationId xmlns:a16="http://schemas.microsoft.com/office/drawing/2014/main" id="{FD8693D4-7B9A-64D2-119E-29ED6CB0F1AD}"/>
              </a:ext>
            </a:extLst>
          </p:cNvPr>
          <p:cNvSpPr/>
          <p:nvPr/>
        </p:nvSpPr>
        <p:spPr>
          <a:xfrm>
            <a:off x="10976382" y="3019727"/>
            <a:ext cx="1047769" cy="629587"/>
          </a:xfrm>
          <a:prstGeom prst="roundRect">
            <a:avLst/>
          </a:prstGeom>
          <a:solidFill>
            <a:srgbClr val="64BC71"/>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aseline="-25000" dirty="0">
                <a:solidFill>
                  <a:schemeClr val="tx1"/>
                </a:solidFill>
              </a:rPr>
              <a:t>LLM Call</a:t>
            </a:r>
          </a:p>
        </p:txBody>
      </p:sp>
      <p:sp>
        <p:nvSpPr>
          <p:cNvPr id="85" name="TextBox 84">
            <a:extLst>
              <a:ext uri="{FF2B5EF4-FFF2-40B4-BE49-F238E27FC236}">
                <a16:creationId xmlns:a16="http://schemas.microsoft.com/office/drawing/2014/main" id="{4BF7E6FD-A622-1C8F-4250-A86694038346}"/>
              </a:ext>
            </a:extLst>
          </p:cNvPr>
          <p:cNvSpPr txBox="1"/>
          <p:nvPr/>
        </p:nvSpPr>
        <p:spPr>
          <a:xfrm>
            <a:off x="3491671" y="26565"/>
            <a:ext cx="1723136" cy="307777"/>
          </a:xfrm>
          <a:prstGeom prst="rect">
            <a:avLst/>
          </a:prstGeom>
          <a:noFill/>
        </p:spPr>
        <p:txBody>
          <a:bodyPr wrap="square" rtlCol="0">
            <a:spAutoFit/>
          </a:bodyPr>
          <a:lstStyle/>
          <a:p>
            <a:pPr algn="ctr"/>
            <a:r>
              <a:rPr lang="en-US" sz="1400" b="1" dirty="0"/>
              <a:t>Decision Engine</a:t>
            </a:r>
          </a:p>
        </p:txBody>
      </p:sp>
      <p:sp>
        <p:nvSpPr>
          <p:cNvPr id="88" name="TextBox 87">
            <a:extLst>
              <a:ext uri="{FF2B5EF4-FFF2-40B4-BE49-F238E27FC236}">
                <a16:creationId xmlns:a16="http://schemas.microsoft.com/office/drawing/2014/main" id="{B00A16A9-105C-11B1-FE40-091FD9EAFDF6}"/>
              </a:ext>
            </a:extLst>
          </p:cNvPr>
          <p:cNvSpPr txBox="1"/>
          <p:nvPr/>
        </p:nvSpPr>
        <p:spPr>
          <a:xfrm>
            <a:off x="10973097" y="2142543"/>
            <a:ext cx="596598" cy="369332"/>
          </a:xfrm>
          <a:prstGeom prst="rect">
            <a:avLst/>
          </a:prstGeom>
          <a:noFill/>
        </p:spPr>
        <p:txBody>
          <a:bodyPr wrap="square">
            <a:spAutoFit/>
          </a:bodyPr>
          <a:lstStyle/>
          <a:p>
            <a:r>
              <a:rPr lang="el-GR" sz="1800" b="1" dirty="0"/>
              <a:t>Δ</a:t>
            </a:r>
            <a:r>
              <a:rPr lang="en-US" sz="1800" b="1" dirty="0"/>
              <a:t>m</a:t>
            </a:r>
            <a:endParaRPr lang="en-US" dirty="0"/>
          </a:p>
        </p:txBody>
      </p:sp>
      <p:sp>
        <p:nvSpPr>
          <p:cNvPr id="91" name="TextBox 90">
            <a:extLst>
              <a:ext uri="{FF2B5EF4-FFF2-40B4-BE49-F238E27FC236}">
                <a16:creationId xmlns:a16="http://schemas.microsoft.com/office/drawing/2014/main" id="{C938DAF6-5E2C-264F-0463-041FB683DB4F}"/>
              </a:ext>
            </a:extLst>
          </p:cNvPr>
          <p:cNvSpPr txBox="1"/>
          <p:nvPr/>
        </p:nvSpPr>
        <p:spPr>
          <a:xfrm>
            <a:off x="2061314" y="2854785"/>
            <a:ext cx="1889929" cy="261610"/>
          </a:xfrm>
          <a:prstGeom prst="rect">
            <a:avLst/>
          </a:prstGeom>
          <a:noFill/>
        </p:spPr>
        <p:txBody>
          <a:bodyPr wrap="square" rtlCol="0">
            <a:spAutoFit/>
          </a:bodyPr>
          <a:lstStyle/>
          <a:p>
            <a:pPr algn="ctr"/>
            <a:r>
              <a:rPr lang="en-US" sz="1100" dirty="0"/>
              <a:t>(Time To Conflict Point)</a:t>
            </a:r>
          </a:p>
        </p:txBody>
      </p:sp>
      <p:sp>
        <p:nvSpPr>
          <p:cNvPr id="93" name="TextBox 92">
            <a:extLst>
              <a:ext uri="{FF2B5EF4-FFF2-40B4-BE49-F238E27FC236}">
                <a16:creationId xmlns:a16="http://schemas.microsoft.com/office/drawing/2014/main" id="{D5A4DFBF-27CF-E31C-9439-3B083C05D3A4}"/>
              </a:ext>
            </a:extLst>
          </p:cNvPr>
          <p:cNvSpPr txBox="1"/>
          <p:nvPr/>
        </p:nvSpPr>
        <p:spPr>
          <a:xfrm>
            <a:off x="2545755" y="4992586"/>
            <a:ext cx="1733945" cy="1061829"/>
          </a:xfrm>
          <a:prstGeom prst="rect">
            <a:avLst/>
          </a:prstGeom>
          <a:noFill/>
        </p:spPr>
        <p:txBody>
          <a:bodyPr wrap="square">
            <a:spAutoFit/>
          </a:bodyPr>
          <a:lstStyle/>
          <a:p>
            <a:pPr algn="ctr"/>
            <a:r>
              <a:rPr lang="en-US" sz="1050" dirty="0"/>
              <a:t>Self attention for –Mixing the signal</a:t>
            </a:r>
            <a:br>
              <a:rPr lang="en-US" sz="1050" dirty="0"/>
            </a:br>
            <a:br>
              <a:rPr lang="en-US" sz="1050" dirty="0"/>
            </a:br>
            <a:r>
              <a:rPr lang="en-US" sz="1050" dirty="0"/>
              <a:t> (Trust the teacher more in some contexts, rely on raw state in others)</a:t>
            </a:r>
          </a:p>
        </p:txBody>
      </p:sp>
    </p:spTree>
    <p:extLst>
      <p:ext uri="{BB962C8B-B14F-4D97-AF65-F5344CB8AC3E}">
        <p14:creationId xmlns:p14="http://schemas.microsoft.com/office/powerpoint/2010/main" val="52080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5EB9-AFB9-4F67-4268-66DA1BACE3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423E1-9AE5-28BB-7F9A-1D850B0B9F6B}"/>
              </a:ext>
            </a:extLst>
          </p:cNvPr>
          <p:cNvSpPr>
            <a:spLocks noGrp="1"/>
          </p:cNvSpPr>
          <p:nvPr>
            <p:ph idx="1"/>
          </p:nvPr>
        </p:nvSpPr>
        <p:spPr>
          <a:xfrm>
            <a:off x="159327" y="723900"/>
            <a:ext cx="11873346" cy="5223325"/>
          </a:xfrm>
        </p:spPr>
        <p:txBody>
          <a:bodyPr>
            <a:noAutofit/>
          </a:bodyPr>
          <a:lstStyle/>
          <a:p>
            <a:pPr marL="0" indent="0" algn="ctr">
              <a:buNone/>
            </a:pPr>
            <a:r>
              <a:rPr lang="en-SG" b="1" dirty="0"/>
              <a:t> Overall Architecture of </a:t>
            </a:r>
            <a:r>
              <a:rPr lang="en-SG" b="1" dirty="0" err="1"/>
              <a:t>TeLL</a:t>
            </a:r>
            <a:r>
              <a:rPr lang="en-SG" b="1" dirty="0"/>
              <a:t>-Drive</a:t>
            </a:r>
          </a:p>
          <a:p>
            <a:pPr marL="0" indent="0">
              <a:buNone/>
            </a:pPr>
            <a:endParaRPr lang="en-SG" sz="1600" dirty="0"/>
          </a:p>
          <a:p>
            <a:pPr marL="0" indent="0">
              <a:buNone/>
            </a:pPr>
            <a:r>
              <a:rPr lang="en-SG" sz="1600" dirty="0"/>
              <a:t>At its heart, </a:t>
            </a:r>
            <a:r>
              <a:rPr lang="en-SG" sz="1600" dirty="0" err="1"/>
              <a:t>TeLL</a:t>
            </a:r>
            <a:r>
              <a:rPr lang="en-SG" sz="1600" dirty="0"/>
              <a:t>-Drive pairs:</a:t>
            </a:r>
          </a:p>
          <a:p>
            <a:pPr lvl="1"/>
            <a:r>
              <a:rPr lang="en-SG" sz="1400" dirty="0"/>
              <a:t>A </a:t>
            </a:r>
            <a:r>
              <a:rPr lang="en-SG" sz="1400" b="1" dirty="0"/>
              <a:t>Teacher</a:t>
            </a:r>
            <a:r>
              <a:rPr lang="en-SG" sz="1400" dirty="0"/>
              <a:t>—a large language model (LLM) that reasons over past examples and current situation to suggest a high-level </a:t>
            </a:r>
            <a:r>
              <a:rPr lang="en-SG" sz="1400" dirty="0" err="1"/>
              <a:t>maneuver</a:t>
            </a:r>
            <a:r>
              <a:rPr lang="en-SG" sz="1400" dirty="0"/>
              <a:t>.</a:t>
            </a:r>
          </a:p>
          <a:p>
            <a:pPr lvl="1"/>
            <a:r>
              <a:rPr lang="en-SG" sz="1400" dirty="0"/>
              <a:t>A </a:t>
            </a:r>
            <a:r>
              <a:rPr lang="en-SG" sz="1400" b="1" dirty="0"/>
              <a:t>Student</a:t>
            </a:r>
            <a:r>
              <a:rPr lang="en-SG" sz="1400" dirty="0"/>
              <a:t>—a DRL agent (actor–critic) that fuses the Teacher’s suggestion with its own observations and learns a policy via a KL-penalized PPO update.</a:t>
            </a:r>
          </a:p>
          <a:p>
            <a:pPr marL="0" indent="0">
              <a:buNone/>
            </a:pPr>
            <a:r>
              <a:rPr lang="en-SG" sz="1600" dirty="0"/>
              <a:t>The flow is:</a:t>
            </a:r>
          </a:p>
          <a:p>
            <a:pPr lvl="1"/>
            <a:r>
              <a:rPr lang="en-SG" sz="1400" b="1" dirty="0"/>
              <a:t>Observe</a:t>
            </a:r>
            <a:r>
              <a:rPr lang="en-SG" sz="1400" dirty="0"/>
              <a:t> the environment → form a state embedding</a:t>
            </a:r>
          </a:p>
          <a:p>
            <a:pPr lvl="1"/>
            <a:r>
              <a:rPr lang="en-SG" sz="1400" b="1" dirty="0"/>
              <a:t>Retrieve</a:t>
            </a:r>
            <a:r>
              <a:rPr lang="en-SG" sz="1400" dirty="0"/>
              <a:t> a similar past scenario from a small memory</a:t>
            </a:r>
          </a:p>
          <a:p>
            <a:pPr lvl="1"/>
            <a:r>
              <a:rPr lang="en-SG" sz="1400" b="1" dirty="0"/>
              <a:t>Prompt</a:t>
            </a:r>
            <a:r>
              <a:rPr lang="en-SG" sz="1400" dirty="0"/>
              <a:t> the LLM with “facts + past case + rules” → receive a </a:t>
            </a:r>
            <a:r>
              <a:rPr lang="en-SG" sz="1400" dirty="0" err="1"/>
              <a:t>maneuver</a:t>
            </a:r>
            <a:r>
              <a:rPr lang="en-SG" sz="1400" dirty="0"/>
              <a:t> token + chain-of-thought</a:t>
            </a:r>
          </a:p>
          <a:p>
            <a:pPr lvl="1"/>
            <a:r>
              <a:rPr lang="en-SG" sz="1400" b="1" dirty="0"/>
              <a:t>Embed</a:t>
            </a:r>
            <a:r>
              <a:rPr lang="en-SG" sz="1400" dirty="0"/>
              <a:t> that token into a vector</a:t>
            </a:r>
          </a:p>
          <a:p>
            <a:pPr lvl="1"/>
            <a:r>
              <a:rPr lang="en-SG" sz="1400" b="1" dirty="0"/>
              <a:t>Fuse</a:t>
            </a:r>
            <a:r>
              <a:rPr lang="en-SG" sz="1400" dirty="0"/>
              <a:t> it with the state embedding via self-attention → produce a joint feature</a:t>
            </a:r>
          </a:p>
          <a:p>
            <a:pPr lvl="1"/>
            <a:r>
              <a:rPr lang="en-SG" sz="1400" b="1" dirty="0"/>
              <a:t>Actor–Critic</a:t>
            </a:r>
            <a:r>
              <a:rPr lang="en-SG" sz="1400" dirty="0"/>
              <a:t> heads use that feature to choose an action and estimate value</a:t>
            </a:r>
          </a:p>
          <a:p>
            <a:pPr lvl="1"/>
            <a:r>
              <a:rPr lang="en-SG" sz="1400" b="1" dirty="0"/>
              <a:t>Train</a:t>
            </a:r>
            <a:r>
              <a:rPr lang="en-SG" sz="1400" dirty="0"/>
              <a:t> with PPO + a KL penalty tying the student to the teacher (early on)</a:t>
            </a:r>
          </a:p>
          <a:p>
            <a:pPr lvl="1"/>
            <a:r>
              <a:rPr lang="en-SG" sz="1400" b="1" dirty="0"/>
              <a:t>Reflect</a:t>
            </a:r>
            <a:r>
              <a:rPr lang="en-SG" sz="1400" dirty="0"/>
              <a:t> on any high-risk mistakes → update memory with corrective cases</a:t>
            </a:r>
          </a:p>
        </p:txBody>
      </p:sp>
      <p:sp>
        <p:nvSpPr>
          <p:cNvPr id="2" name="TextBox 1">
            <a:extLst>
              <a:ext uri="{FF2B5EF4-FFF2-40B4-BE49-F238E27FC236}">
                <a16:creationId xmlns:a16="http://schemas.microsoft.com/office/drawing/2014/main" id="{B2417345-6799-3BC8-DCD9-43834AA69B2B}"/>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spTree>
    <p:extLst>
      <p:ext uri="{BB962C8B-B14F-4D97-AF65-F5344CB8AC3E}">
        <p14:creationId xmlns:p14="http://schemas.microsoft.com/office/powerpoint/2010/main" val="419625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8D6EF-857D-384C-6D8D-235C60F61D4E}"/>
              </a:ext>
            </a:extLst>
          </p:cNvPr>
          <p:cNvSpPr>
            <a:spLocks noGrp="1"/>
          </p:cNvSpPr>
          <p:nvPr>
            <p:ph type="title"/>
          </p:nvPr>
        </p:nvSpPr>
        <p:spPr>
          <a:xfrm>
            <a:off x="700635" y="914400"/>
            <a:ext cx="10691265" cy="450761"/>
          </a:xfrm>
        </p:spPr>
        <p:txBody>
          <a:bodyPr>
            <a:normAutofit/>
          </a:bodyPr>
          <a:lstStyle/>
          <a:p>
            <a:r>
              <a:rPr lang="en-US" sz="2000" dirty="0"/>
              <a:t>Limitations: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1657DE-90E6-D28A-87DA-3DA4B5F33F8B}"/>
                  </a:ext>
                </a:extLst>
              </p:cNvPr>
              <p:cNvSpPr>
                <a:spLocks noGrp="1"/>
              </p:cNvSpPr>
              <p:nvPr>
                <p:ph idx="1"/>
              </p:nvPr>
            </p:nvSpPr>
            <p:spPr>
              <a:xfrm>
                <a:off x="700635" y="1365161"/>
                <a:ext cx="10691265" cy="4596727"/>
              </a:xfrm>
            </p:spPr>
            <p:txBody>
              <a:bodyPr>
                <a:normAutofit/>
              </a:bodyPr>
              <a:lstStyle/>
              <a:p>
                <a:r>
                  <a:rPr lang="en-SG" sz="1400" b="1" dirty="0"/>
                  <a:t>A very large memory takes longer to search for “most similar” cases</a:t>
                </a:r>
                <a:r>
                  <a:rPr lang="en-SG" sz="1400" dirty="0"/>
                  <a:t>, increasing compute cost and response time.</a:t>
                </a:r>
              </a:p>
              <a:p>
                <a:r>
                  <a:rPr lang="en-SG" sz="1400" b="1" dirty="0"/>
                  <a:t>Early on, the Student may learns from less-rich memory data</a:t>
                </a:r>
                <a:r>
                  <a:rPr lang="en-SG" sz="1400" dirty="0"/>
                  <a:t>, which can slow down training</a:t>
                </a:r>
              </a:p>
              <a:p>
                <a:r>
                  <a:rPr lang="en-SG" sz="1400" b="1" dirty="0"/>
                  <a:t>There is lot of dependence on the </a:t>
                </a:r>
                <a14:m>
                  <m:oMath xmlns:m="http://schemas.openxmlformats.org/officeDocument/2006/math">
                    <m:r>
                      <a:rPr lang="en-US" sz="1400" b="1" i="1" smtClean="0">
                        <a:latin typeface="Cambria Math" panose="02040503050406030204" pitchFamily="18" charset="0"/>
                        <a:ea typeface="Cambria Math" panose="02040503050406030204" pitchFamily="18" charset="0"/>
                      </a:rPr>
                      <m:t>𝜷</m:t>
                    </m:r>
                  </m:oMath>
                </a14:m>
                <a:r>
                  <a:rPr lang="en-US" sz="1400" b="1" dirty="0"/>
                  <a:t> parameter in risk metric calculation</a:t>
                </a:r>
                <a:r>
                  <a:rPr lang="en-US" sz="1400" dirty="0"/>
                  <a:t>. </a:t>
                </a:r>
                <a:r>
                  <a:rPr lang="en-US" sz="1400" b="1" dirty="0"/>
                  <a:t>Requires careful tuning</a:t>
                </a:r>
                <a:endParaRPr lang="en-SG" sz="1400" b="1" dirty="0"/>
              </a:p>
              <a:p>
                <a:r>
                  <a:rPr lang="en-SG" sz="1400" b="1" dirty="0" err="1"/>
                  <a:t>TeLL</a:t>
                </a:r>
                <a:r>
                  <a:rPr lang="en-SG" sz="1400" b="1" dirty="0"/>
                  <a:t>-Drive controls only one “ego” vehicle at a time</a:t>
                </a:r>
                <a:r>
                  <a:rPr lang="en-SG" sz="1400" dirty="0"/>
                  <a:t>; other cars are treated as background actors. </a:t>
                </a:r>
              </a:p>
              <a:p>
                <a:r>
                  <a:rPr lang="en-SG" sz="1400" b="1" dirty="0"/>
                  <a:t>If the LLM is slow (high latency) </a:t>
                </a:r>
                <a:r>
                  <a:rPr lang="en-SG" sz="1400" dirty="0"/>
                  <a:t>or gives a bad suggestion (hallucinates), the vehicle’s safety and </a:t>
                </a:r>
                <a:r>
                  <a:rPr lang="en-SG" sz="1400" b="1" dirty="0"/>
                  <a:t>responsiveness suffer.</a:t>
                </a:r>
                <a:endParaRPr lang="en-SG" sz="1400" dirty="0"/>
              </a:p>
            </p:txBody>
          </p:sp>
        </mc:Choice>
        <mc:Fallback xmlns="">
          <p:sp>
            <p:nvSpPr>
              <p:cNvPr id="3" name="Content Placeholder 2">
                <a:extLst>
                  <a:ext uri="{FF2B5EF4-FFF2-40B4-BE49-F238E27FC236}">
                    <a16:creationId xmlns:a16="http://schemas.microsoft.com/office/drawing/2014/main" id="{BA1657DE-90E6-D28A-87DA-3DA4B5F33F8B}"/>
                  </a:ext>
                </a:extLst>
              </p:cNvPr>
              <p:cNvSpPr>
                <a:spLocks noGrp="1" noRot="1" noChangeAspect="1" noMove="1" noResize="1" noEditPoints="1" noAdjustHandles="1" noChangeArrowheads="1" noChangeShapeType="1" noTextEdit="1"/>
              </p:cNvSpPr>
              <p:nvPr>
                <p:ph idx="1"/>
              </p:nvPr>
            </p:nvSpPr>
            <p:spPr>
              <a:xfrm>
                <a:off x="700635" y="1365161"/>
                <a:ext cx="10691265" cy="4596727"/>
              </a:xfrm>
              <a:blipFill>
                <a:blip r:embed="rId2"/>
                <a:stretch>
                  <a:fillRect l="-119" t="-8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723980C-BEF9-624D-01AE-C4CEFACB6874}"/>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spTree>
    <p:extLst>
      <p:ext uri="{BB962C8B-B14F-4D97-AF65-F5344CB8AC3E}">
        <p14:creationId xmlns:p14="http://schemas.microsoft.com/office/powerpoint/2010/main" val="98525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FDB971-C0A5-67AB-657F-782BDB1F3110}"/>
              </a:ext>
            </a:extLst>
          </p:cNvPr>
          <p:cNvSpPr>
            <a:spLocks noGrp="1"/>
          </p:cNvSpPr>
          <p:nvPr>
            <p:ph idx="1"/>
          </p:nvPr>
        </p:nvSpPr>
        <p:spPr>
          <a:xfrm>
            <a:off x="838200" y="416689"/>
            <a:ext cx="10515600" cy="5760274"/>
          </a:xfrm>
        </p:spPr>
        <p:txBody>
          <a:bodyPr/>
          <a:lstStyle/>
          <a:p>
            <a:pPr marL="0" indent="0" algn="ctr">
              <a:buNone/>
            </a:pPr>
            <a:r>
              <a:rPr lang="en-SG" b="1" dirty="0"/>
              <a:t>Proposed Idea</a:t>
            </a:r>
            <a:endParaRPr lang="en-SG" sz="1600" dirty="0"/>
          </a:p>
          <a:p>
            <a:pPr marL="0" indent="0">
              <a:buNone/>
            </a:pPr>
            <a:endParaRPr lang="en-SG" sz="1600" dirty="0"/>
          </a:p>
          <a:p>
            <a:pPr marL="0" indent="0">
              <a:buNone/>
            </a:pPr>
            <a:endParaRPr lang="en-SG" sz="1600" dirty="0"/>
          </a:p>
          <a:p>
            <a:pPr marL="0" indent="0">
              <a:buNone/>
            </a:pPr>
            <a:endParaRPr lang="en-SG" sz="1600" dirty="0"/>
          </a:p>
          <a:p>
            <a:pPr marL="0" indent="0">
              <a:buNone/>
            </a:pPr>
            <a:r>
              <a:rPr lang="en-SG" sz="1600" dirty="0"/>
              <a:t>The problems which we are addressing through limitations identified in </a:t>
            </a:r>
            <a:r>
              <a:rPr lang="en-SG" sz="1600" dirty="0" err="1"/>
              <a:t>iLLM</a:t>
            </a:r>
            <a:r>
              <a:rPr lang="en-SG" sz="1600" dirty="0"/>
              <a:t>-TSC, </a:t>
            </a:r>
            <a:r>
              <a:rPr lang="en-SG" sz="1600" dirty="0" err="1"/>
              <a:t>TeLL</a:t>
            </a:r>
            <a:r>
              <a:rPr lang="en-SG" sz="1600" dirty="0"/>
              <a:t>-Drive:</a:t>
            </a:r>
          </a:p>
          <a:p>
            <a:pPr lvl="1">
              <a:lnSpc>
                <a:spcPct val="150000"/>
              </a:lnSpc>
            </a:pPr>
            <a:r>
              <a:rPr lang="en-US" sz="1400" b="1" dirty="0" err="1"/>
              <a:t>iLLM</a:t>
            </a:r>
            <a:r>
              <a:rPr lang="en-US" sz="1400" b="1" dirty="0"/>
              <a:t>-TSC</a:t>
            </a:r>
            <a:r>
              <a:rPr lang="en-US" sz="1400" dirty="0"/>
              <a:t> overrides the LLM actions </a:t>
            </a:r>
            <a:r>
              <a:rPr lang="en-US" sz="1400" b="1" dirty="0"/>
              <a:t>only at inference time</a:t>
            </a:r>
            <a:r>
              <a:rPr lang="en-US" sz="1400" dirty="0"/>
              <a:t>, leaving the policy under-exposed. </a:t>
            </a:r>
          </a:p>
          <a:p>
            <a:pPr lvl="1">
              <a:lnSpc>
                <a:spcPct val="150000"/>
              </a:lnSpc>
            </a:pPr>
            <a:r>
              <a:rPr lang="en-US" sz="1400" b="1" dirty="0" err="1"/>
              <a:t>iLLM</a:t>
            </a:r>
            <a:r>
              <a:rPr lang="en-US" sz="1400" b="1" dirty="0"/>
              <a:t>-TSC</a:t>
            </a:r>
            <a:r>
              <a:rPr lang="en-US" sz="1400" dirty="0"/>
              <a:t> </a:t>
            </a:r>
            <a:r>
              <a:rPr lang="en-US" sz="1400" b="1" dirty="0"/>
              <a:t>proposes a single-step overrides rather than sustained guidance until the end.</a:t>
            </a:r>
          </a:p>
          <a:p>
            <a:pPr lvl="1">
              <a:lnSpc>
                <a:spcPct val="150000"/>
              </a:lnSpc>
            </a:pPr>
            <a:r>
              <a:rPr lang="en-US" sz="1400" b="1" dirty="0" err="1"/>
              <a:t>TeLL</a:t>
            </a:r>
            <a:r>
              <a:rPr lang="en-US" sz="1400" b="1" dirty="0"/>
              <a:t>-Drive trains the student policy using LLM for the initial 10% of total episodes. </a:t>
            </a:r>
            <a:r>
              <a:rPr lang="en-US" sz="1400" dirty="0"/>
              <a:t>However, for long-tail event handling this may not be essential we just need to inject the long-tail events events into the initial training phase</a:t>
            </a:r>
          </a:p>
          <a:p>
            <a:pPr marL="457200" lvl="1" indent="0">
              <a:buNone/>
            </a:pPr>
            <a:endParaRPr kumimoji="0" lang="en-SG" sz="16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SG" sz="1600" b="0" i="0" u="none" strike="noStrike" kern="1200" cap="none" spc="0" normalizeH="0" baseline="0" noProof="0" dirty="0">
                <a:ln>
                  <a:noFill/>
                </a:ln>
                <a:solidFill>
                  <a:prstClr val="black"/>
                </a:solidFill>
                <a:effectLst/>
                <a:uLnTx/>
                <a:uFillTx/>
                <a:latin typeface="Aptos" panose="02110004020202020204"/>
                <a:ea typeface="+mn-ea"/>
                <a:cs typeface="+mn-cs"/>
              </a:rPr>
              <a:t>Proposed ide</a:t>
            </a:r>
            <a:r>
              <a:rPr lang="en-SG" sz="1600" dirty="0">
                <a:solidFill>
                  <a:prstClr val="black"/>
                </a:solidFill>
                <a:latin typeface="Aptos" panose="02110004020202020204"/>
              </a:rPr>
              <a:t>a’s</a:t>
            </a:r>
            <a:r>
              <a:rPr kumimoji="0" lang="en-SG" sz="1600" b="0" i="0" u="none" strike="noStrike" kern="1200" cap="none" spc="0" normalizeH="0" baseline="0" noProof="0" dirty="0">
                <a:ln>
                  <a:noFill/>
                </a:ln>
                <a:solidFill>
                  <a:prstClr val="black"/>
                </a:solidFill>
                <a:effectLst/>
                <a:uLnTx/>
                <a:uFillTx/>
                <a:latin typeface="Aptos" panose="02110004020202020204"/>
                <a:ea typeface="+mn-ea"/>
                <a:cs typeface="+mn-cs"/>
              </a:rPr>
              <a:t> key novelty would be:</a:t>
            </a:r>
          </a:p>
          <a:p>
            <a:pPr lvl="1">
              <a:lnSpc>
                <a:spcPct val="150000"/>
              </a:lnSpc>
              <a:defRPr/>
            </a:pPr>
            <a:r>
              <a:rPr lang="en-US" sz="1400" dirty="0"/>
              <a:t>Guiding the DRL policy </a:t>
            </a:r>
            <a:r>
              <a:rPr lang="en-US" sz="1400" b="1" dirty="0"/>
              <a:t>during training with fewer number of LLM calls only where it matters the most i.e. focusing on long-tail event handling</a:t>
            </a:r>
            <a:r>
              <a:rPr lang="en-US" sz="1400" dirty="0"/>
              <a:t>, unlike the </a:t>
            </a:r>
            <a:r>
              <a:rPr lang="en-US" sz="1400" dirty="0" err="1"/>
              <a:t>TeLL</a:t>
            </a:r>
            <a:r>
              <a:rPr lang="en-US" sz="1400" dirty="0"/>
              <a:t>-Drive which invokes LLM call for initial 10% of episodes.</a:t>
            </a:r>
          </a:p>
          <a:p>
            <a:pPr marL="457200" lvl="1" indent="0">
              <a:buNone/>
            </a:pPr>
            <a:endParaRPr lang="en-US" sz="1400" dirty="0"/>
          </a:p>
        </p:txBody>
      </p:sp>
    </p:spTree>
    <p:extLst>
      <p:ext uri="{BB962C8B-B14F-4D97-AF65-F5344CB8AC3E}">
        <p14:creationId xmlns:p14="http://schemas.microsoft.com/office/powerpoint/2010/main" val="3777051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D62B-74F5-D9EE-A1FB-88CE2D5698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00035A-5632-FDD5-6934-7F2183FB0548}"/>
              </a:ext>
            </a:extLst>
          </p:cNvPr>
          <p:cNvSpPr>
            <a:spLocks noGrp="1"/>
          </p:cNvSpPr>
          <p:nvPr>
            <p:ph idx="1"/>
          </p:nvPr>
        </p:nvSpPr>
        <p:spPr>
          <a:xfrm>
            <a:off x="838200" y="416689"/>
            <a:ext cx="10515600" cy="5760274"/>
          </a:xfrm>
        </p:spPr>
        <p:txBody>
          <a:bodyPr/>
          <a:lstStyle/>
          <a:p>
            <a:pPr marL="0" indent="0" algn="ctr">
              <a:buNone/>
            </a:pPr>
            <a:r>
              <a:rPr lang="en-SG" b="1" dirty="0"/>
              <a:t>Architectural flow of the proposed idea:</a:t>
            </a:r>
            <a:endParaRPr lang="en-SG" sz="1600" dirty="0"/>
          </a:p>
          <a:p>
            <a:pPr marL="0" indent="0">
              <a:buNone/>
            </a:pPr>
            <a:endParaRPr lang="en-SG" sz="1600" dirty="0"/>
          </a:p>
          <a:p>
            <a:pPr>
              <a:lnSpc>
                <a:spcPct val="150000"/>
              </a:lnSpc>
            </a:pPr>
            <a:r>
              <a:rPr lang="en-SG" sz="1400" b="1" dirty="0"/>
              <a:t>Run environmen</a:t>
            </a:r>
            <a:r>
              <a:rPr lang="en-SG" sz="1400" dirty="0"/>
              <a:t>t: Simulate traffic with predefined long-tail events (storms, emergencies, no-go incursions) etc.</a:t>
            </a:r>
          </a:p>
          <a:p>
            <a:pPr>
              <a:lnSpc>
                <a:spcPct val="150000"/>
              </a:lnSpc>
            </a:pPr>
            <a:r>
              <a:rPr lang="en-SG" sz="1400" b="1" dirty="0"/>
              <a:t>Detect crisis: </a:t>
            </a:r>
            <a:r>
              <a:rPr lang="en-SG" sz="1400" dirty="0"/>
              <a:t>if a long-tail trigger fires, compute risk score </a:t>
            </a:r>
            <a:r>
              <a:rPr lang="el-GR" sz="1400" dirty="0"/>
              <a:t>Ω </a:t>
            </a:r>
            <a:r>
              <a:rPr lang="en-SG" sz="1400" dirty="0"/>
              <a:t>and compare to adaptive threshold </a:t>
            </a:r>
            <a:r>
              <a:rPr lang="el-GR" sz="1400" dirty="0"/>
              <a:t>β.</a:t>
            </a:r>
          </a:p>
          <a:p>
            <a:pPr>
              <a:lnSpc>
                <a:spcPct val="150000"/>
              </a:lnSpc>
            </a:pPr>
            <a:r>
              <a:rPr lang="en-SG" sz="1400" b="1" dirty="0"/>
              <a:t>Decide:</a:t>
            </a:r>
          </a:p>
          <a:p>
            <a:pPr lvl="1">
              <a:lnSpc>
                <a:spcPct val="150000"/>
              </a:lnSpc>
            </a:pPr>
            <a:r>
              <a:rPr lang="en-SG" sz="1400" b="1" dirty="0"/>
              <a:t>If low risk and no long tail event: </a:t>
            </a:r>
            <a:r>
              <a:rPr lang="en-SG" sz="1400" dirty="0"/>
              <a:t>student PPO acts normally.</a:t>
            </a:r>
          </a:p>
          <a:p>
            <a:pPr lvl="1">
              <a:lnSpc>
                <a:spcPct val="150000"/>
              </a:lnSpc>
            </a:pPr>
            <a:r>
              <a:rPr lang="en-SG" sz="1400" b="1" dirty="0"/>
              <a:t>If high risk and presence of long tail event:</a:t>
            </a:r>
            <a:r>
              <a:rPr lang="en-SG" sz="1400" dirty="0"/>
              <a:t> attempt to reuse a similar cached skill from memory and query the LLM. (Query even if no related cache is present)</a:t>
            </a:r>
            <a:endParaRPr lang="en-SG" sz="1000" dirty="0"/>
          </a:p>
          <a:p>
            <a:pPr>
              <a:lnSpc>
                <a:spcPct val="150000"/>
              </a:lnSpc>
            </a:pPr>
            <a:r>
              <a:rPr lang="en-SG" sz="1400" b="1" dirty="0"/>
              <a:t>LLM guidance: </a:t>
            </a:r>
            <a:r>
              <a:rPr lang="en-SG" sz="1400" dirty="0"/>
              <a:t>Prompted with current state + similar past cases; returns a multi-step macro-plan in two phases.</a:t>
            </a:r>
          </a:p>
          <a:p>
            <a:pPr lvl="1">
              <a:lnSpc>
                <a:spcPct val="150000"/>
              </a:lnSpc>
            </a:pPr>
            <a:r>
              <a:rPr lang="en-SG" sz="1400" b="1" dirty="0"/>
              <a:t>Execute plan: Apply the macro-plan until its stop condition is met or it fails.</a:t>
            </a:r>
            <a:endParaRPr lang="en-SG" sz="1400" dirty="0"/>
          </a:p>
          <a:p>
            <a:pPr lvl="1">
              <a:lnSpc>
                <a:spcPct val="150000"/>
              </a:lnSpc>
            </a:pPr>
            <a:r>
              <a:rPr lang="en-SG" sz="1400" dirty="0"/>
              <a:t>Skill distillation to DRL policy to avoid future LLM calls.</a:t>
            </a:r>
          </a:p>
          <a:p>
            <a:pPr lvl="1">
              <a:lnSpc>
                <a:spcPct val="150000"/>
              </a:lnSpc>
            </a:pPr>
            <a:r>
              <a:rPr lang="en-SG" sz="1400" dirty="0"/>
              <a:t>Memory &amp; threshold update: Store high-risk episode details, adapt threshold </a:t>
            </a:r>
            <a:r>
              <a:rPr lang="el-GR" sz="1400" dirty="0"/>
              <a:t>β</a:t>
            </a:r>
            <a:r>
              <a:rPr lang="en-US" sz="1400" dirty="0"/>
              <a:t> (mentioned in </a:t>
            </a:r>
            <a:r>
              <a:rPr lang="en-US" sz="1400" dirty="0" err="1"/>
              <a:t>TeLL</a:t>
            </a:r>
            <a:r>
              <a:rPr lang="en-US" sz="1400" dirty="0"/>
              <a:t>-Drive)</a:t>
            </a:r>
            <a:r>
              <a:rPr lang="el-GR" sz="1400" dirty="0"/>
              <a:t> </a:t>
            </a:r>
            <a:r>
              <a:rPr lang="en-SG" sz="1400" dirty="0"/>
              <a:t>over time as student competence grows.</a:t>
            </a:r>
          </a:p>
          <a:p>
            <a:pPr marL="0" indent="0">
              <a:buNone/>
            </a:pPr>
            <a:endParaRPr lang="en-SG" sz="1600" dirty="0"/>
          </a:p>
        </p:txBody>
      </p:sp>
    </p:spTree>
    <p:extLst>
      <p:ext uri="{BB962C8B-B14F-4D97-AF65-F5344CB8AC3E}">
        <p14:creationId xmlns:p14="http://schemas.microsoft.com/office/powerpoint/2010/main" val="153100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60D4-CA84-3C0B-2E04-1A4C5691CB75}"/>
            </a:ext>
          </a:extLst>
        </p:cNvPr>
        <p:cNvGrpSpPr/>
        <p:nvPr/>
      </p:nvGrpSpPr>
      <p:grpSpPr>
        <a:xfrm>
          <a:off x="0" y="0"/>
          <a:ext cx="0" cy="0"/>
          <a:chOff x="0" y="0"/>
          <a:chExt cx="0" cy="0"/>
        </a:xfrm>
      </p:grpSpPr>
      <p:sp>
        <p:nvSpPr>
          <p:cNvPr id="29" name="Rounded Rectangle 28">
            <a:extLst>
              <a:ext uri="{FF2B5EF4-FFF2-40B4-BE49-F238E27FC236}">
                <a16:creationId xmlns:a16="http://schemas.microsoft.com/office/drawing/2014/main" id="{90DA158C-842B-FC52-DB73-7667BA6A1125}"/>
              </a:ext>
            </a:extLst>
          </p:cNvPr>
          <p:cNvSpPr/>
          <p:nvPr/>
        </p:nvSpPr>
        <p:spPr>
          <a:xfrm>
            <a:off x="5437030" y="4124203"/>
            <a:ext cx="1317939" cy="437881"/>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PPO surrogate loss</a:t>
            </a:r>
          </a:p>
        </p:txBody>
      </p:sp>
      <p:sp>
        <p:nvSpPr>
          <p:cNvPr id="8" name="Rounded Rectangle 7">
            <a:extLst>
              <a:ext uri="{FF2B5EF4-FFF2-40B4-BE49-F238E27FC236}">
                <a16:creationId xmlns:a16="http://schemas.microsoft.com/office/drawing/2014/main" id="{0AB581AA-9A42-CD47-CECC-9FEFFCCEE824}"/>
              </a:ext>
            </a:extLst>
          </p:cNvPr>
          <p:cNvSpPr/>
          <p:nvPr/>
        </p:nvSpPr>
        <p:spPr>
          <a:xfrm>
            <a:off x="5431803" y="4668925"/>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Value-Function Loss</a:t>
            </a:r>
          </a:p>
        </p:txBody>
      </p:sp>
      <p:sp>
        <p:nvSpPr>
          <p:cNvPr id="5" name="TextBox 4">
            <a:extLst>
              <a:ext uri="{FF2B5EF4-FFF2-40B4-BE49-F238E27FC236}">
                <a16:creationId xmlns:a16="http://schemas.microsoft.com/office/drawing/2014/main" id="{715FD196-FFAF-29B9-15A3-AF6D55E3FF83}"/>
              </a:ext>
            </a:extLst>
          </p:cNvPr>
          <p:cNvSpPr txBox="1"/>
          <p:nvPr/>
        </p:nvSpPr>
        <p:spPr>
          <a:xfrm>
            <a:off x="3102014" y="108834"/>
            <a:ext cx="4945713" cy="369332"/>
          </a:xfrm>
          <a:prstGeom prst="rect">
            <a:avLst/>
          </a:prstGeom>
          <a:noFill/>
        </p:spPr>
        <p:txBody>
          <a:bodyPr wrap="square">
            <a:spAutoFit/>
          </a:bodyPr>
          <a:lstStyle/>
          <a:p>
            <a:pPr marL="0" indent="0" algn="ctr">
              <a:buNone/>
            </a:pPr>
            <a:r>
              <a:rPr lang="en-SG" b="1" dirty="0">
                <a:solidFill>
                  <a:schemeClr val="accent6">
                    <a:lumMod val="75000"/>
                  </a:schemeClr>
                </a:solidFill>
              </a:rPr>
              <a:t>Proposed Architectural Flow:</a:t>
            </a:r>
            <a:endParaRPr lang="en-SG" dirty="0">
              <a:solidFill>
                <a:schemeClr val="accent6">
                  <a:lumMod val="75000"/>
                </a:schemeClr>
              </a:solidFill>
            </a:endParaRPr>
          </a:p>
        </p:txBody>
      </p:sp>
      <p:sp>
        <p:nvSpPr>
          <p:cNvPr id="6" name="Rounded Rectangle 5">
            <a:extLst>
              <a:ext uri="{FF2B5EF4-FFF2-40B4-BE49-F238E27FC236}">
                <a16:creationId xmlns:a16="http://schemas.microsoft.com/office/drawing/2014/main" id="{2D266D44-EB05-76D3-713C-7B474D0E0A59}"/>
              </a:ext>
            </a:extLst>
          </p:cNvPr>
          <p:cNvSpPr/>
          <p:nvPr/>
        </p:nvSpPr>
        <p:spPr>
          <a:xfrm>
            <a:off x="4164780" y="805121"/>
            <a:ext cx="2814611" cy="2786731"/>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Rounded Rectangle 6">
            <a:extLst>
              <a:ext uri="{FF2B5EF4-FFF2-40B4-BE49-F238E27FC236}">
                <a16:creationId xmlns:a16="http://schemas.microsoft.com/office/drawing/2014/main" id="{50390FE6-5F13-ED97-BC53-37531F67ADB1}"/>
              </a:ext>
            </a:extLst>
          </p:cNvPr>
          <p:cNvSpPr/>
          <p:nvPr/>
        </p:nvSpPr>
        <p:spPr>
          <a:xfrm>
            <a:off x="5427896" y="5196904"/>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Entropy loss</a:t>
            </a:r>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295E920A-CBAB-90E2-8DC9-0C61D441334D}"/>
                  </a:ext>
                </a:extLst>
              </p:cNvPr>
              <p:cNvSpPr/>
              <p:nvPr/>
            </p:nvSpPr>
            <p:spPr>
              <a:xfrm>
                <a:off x="2300085" y="2637837"/>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Compute risk score &gt; </a:t>
                </a:r>
                <a14:m>
                  <m:oMath xmlns:m="http://schemas.openxmlformats.org/officeDocument/2006/math">
                    <m:r>
                      <a:rPr lang="en-US" sz="900" i="1" smtClean="0">
                        <a:solidFill>
                          <a:schemeClr val="tx1"/>
                        </a:solidFill>
                        <a:latin typeface="Cambria Math" panose="02040503050406030204" pitchFamily="18" charset="0"/>
                        <a:ea typeface="Cambria Math" panose="02040503050406030204" pitchFamily="18" charset="0"/>
                      </a:rPr>
                      <m:t>𝛽</m:t>
                    </m:r>
                  </m:oMath>
                </a14:m>
                <a:r>
                  <a:rPr lang="en-US" sz="900" dirty="0">
                    <a:solidFill>
                      <a:schemeClr val="tx1"/>
                    </a:solidFill>
                  </a:rPr>
                  <a:t> </a:t>
                </a:r>
              </a:p>
            </p:txBody>
          </p:sp>
        </mc:Choice>
        <mc:Fallback xmlns="">
          <p:sp>
            <p:nvSpPr>
              <p:cNvPr id="9" name="Rounded Rectangle 8">
                <a:extLst>
                  <a:ext uri="{FF2B5EF4-FFF2-40B4-BE49-F238E27FC236}">
                    <a16:creationId xmlns:a16="http://schemas.microsoft.com/office/drawing/2014/main" id="{C057D1F8-B5B3-D912-F5EF-7CDD577CBA38}"/>
                  </a:ext>
                </a:extLst>
              </p:cNvPr>
              <p:cNvSpPr>
                <a:spLocks noRot="1" noChangeAspect="1" noMove="1" noResize="1" noEditPoints="1" noAdjustHandles="1" noChangeArrowheads="1" noChangeShapeType="1" noTextEdit="1"/>
              </p:cNvSpPr>
              <p:nvPr/>
            </p:nvSpPr>
            <p:spPr>
              <a:xfrm>
                <a:off x="2300085" y="2637837"/>
                <a:ext cx="1124262" cy="510210"/>
              </a:xfrm>
              <a:prstGeom prst="roundRect">
                <a:avLst/>
              </a:prstGeom>
              <a:blipFill>
                <a:blip r:embed="rId3"/>
                <a:stretch>
                  <a:fillRect/>
                </a:stretch>
              </a:blipFill>
              <a:ln w="12700" cap="flat" cmpd="sng" algn="ctr">
                <a:solidFill>
                  <a:schemeClr val="accent1"/>
                </a:solidFill>
                <a:prstDash val="solid"/>
                <a:miter lim="800000"/>
              </a:ln>
              <a:effectLst/>
            </p:spPr>
            <p:txBody>
              <a:bodyPr/>
              <a:lstStyle/>
              <a:p>
                <a:r>
                  <a:rPr lang="en-US">
                    <a:noFill/>
                  </a:rPr>
                  <a:t> </a:t>
                </a:r>
              </a:p>
            </p:txBody>
          </p:sp>
        </mc:Fallback>
      </mc:AlternateContent>
      <p:pic>
        <p:nvPicPr>
          <p:cNvPr id="10" name="Picture 9" descr="A black background with a black square&#10;&#10;AI-generated content may be incorrect.">
            <a:extLst>
              <a:ext uri="{FF2B5EF4-FFF2-40B4-BE49-F238E27FC236}">
                <a16:creationId xmlns:a16="http://schemas.microsoft.com/office/drawing/2014/main" id="{21D91CDB-4EEC-5907-4AAF-4ACD5450835D}"/>
              </a:ext>
            </a:extLst>
          </p:cNvPr>
          <p:cNvPicPr>
            <a:picLocks noChangeAspect="1"/>
          </p:cNvPicPr>
          <p:nvPr/>
        </p:nvPicPr>
        <p:blipFill>
          <a:blip r:embed="rId4"/>
          <a:stretch>
            <a:fillRect/>
          </a:stretch>
        </p:blipFill>
        <p:spPr>
          <a:xfrm>
            <a:off x="229856" y="2548546"/>
            <a:ext cx="629587" cy="629587"/>
          </a:xfrm>
          <a:prstGeom prst="rect">
            <a:avLst/>
          </a:prstGeom>
        </p:spPr>
      </p:pic>
      <p:sp>
        <p:nvSpPr>
          <p:cNvPr id="11" name="TextBox 10">
            <a:extLst>
              <a:ext uri="{FF2B5EF4-FFF2-40B4-BE49-F238E27FC236}">
                <a16:creationId xmlns:a16="http://schemas.microsoft.com/office/drawing/2014/main" id="{1228EC5B-EB20-E294-64F2-BC8A0B1CF792}"/>
              </a:ext>
            </a:extLst>
          </p:cNvPr>
          <p:cNvSpPr txBox="1"/>
          <p:nvPr/>
        </p:nvSpPr>
        <p:spPr>
          <a:xfrm>
            <a:off x="125383" y="3148047"/>
            <a:ext cx="1856163" cy="369332"/>
          </a:xfrm>
          <a:prstGeom prst="rect">
            <a:avLst/>
          </a:prstGeom>
          <a:noFill/>
        </p:spPr>
        <p:txBody>
          <a:bodyPr wrap="square" rtlCol="0">
            <a:spAutoFit/>
          </a:bodyPr>
          <a:lstStyle/>
          <a:p>
            <a:pPr algn="ctr"/>
            <a:r>
              <a:rPr lang="en-US" sz="900" dirty="0"/>
              <a:t>State information + Padded vector for long tail events </a:t>
            </a:r>
          </a:p>
        </p:txBody>
      </p:sp>
      <p:pic>
        <p:nvPicPr>
          <p:cNvPr id="13" name="Picture 12" descr="A computer server and a yellow object&#10;&#10;AI-generated content may be incorrect.">
            <a:extLst>
              <a:ext uri="{FF2B5EF4-FFF2-40B4-BE49-F238E27FC236}">
                <a16:creationId xmlns:a16="http://schemas.microsoft.com/office/drawing/2014/main" id="{1A4FC543-6F4F-BF3C-C290-C9E66128353A}"/>
              </a:ext>
            </a:extLst>
          </p:cNvPr>
          <p:cNvPicPr>
            <a:picLocks noChangeAspect="1"/>
          </p:cNvPicPr>
          <p:nvPr/>
        </p:nvPicPr>
        <p:blipFill>
          <a:blip r:embed="rId5"/>
          <a:stretch>
            <a:fillRect/>
          </a:stretch>
        </p:blipFill>
        <p:spPr>
          <a:xfrm>
            <a:off x="4936181" y="1540764"/>
            <a:ext cx="519545" cy="519545"/>
          </a:xfrm>
          <a:prstGeom prst="rect">
            <a:avLst/>
          </a:prstGeom>
        </p:spPr>
      </p:pic>
      <p:sp>
        <p:nvSpPr>
          <p:cNvPr id="14" name="TextBox 13">
            <a:extLst>
              <a:ext uri="{FF2B5EF4-FFF2-40B4-BE49-F238E27FC236}">
                <a16:creationId xmlns:a16="http://schemas.microsoft.com/office/drawing/2014/main" id="{4CAB391B-F28E-ACD7-3D56-57A59A88EE74}"/>
              </a:ext>
            </a:extLst>
          </p:cNvPr>
          <p:cNvSpPr txBox="1"/>
          <p:nvPr/>
        </p:nvSpPr>
        <p:spPr>
          <a:xfrm>
            <a:off x="4561054" y="1335331"/>
            <a:ext cx="1124262" cy="230832"/>
          </a:xfrm>
          <a:prstGeom prst="rect">
            <a:avLst/>
          </a:prstGeom>
          <a:noFill/>
        </p:spPr>
        <p:txBody>
          <a:bodyPr wrap="square" rtlCol="0">
            <a:spAutoFit/>
          </a:bodyPr>
          <a:lstStyle/>
          <a:p>
            <a:pPr algn="ctr"/>
            <a:r>
              <a:rPr lang="en-US" sz="900" dirty="0"/>
              <a:t>Memory context</a:t>
            </a:r>
          </a:p>
        </p:txBody>
      </p:sp>
      <p:pic>
        <p:nvPicPr>
          <p:cNvPr id="15" name="Graphic 14" descr="Arrow Right with solid fill">
            <a:extLst>
              <a:ext uri="{FF2B5EF4-FFF2-40B4-BE49-F238E27FC236}">
                <a16:creationId xmlns:a16="http://schemas.microsoft.com/office/drawing/2014/main" id="{922434BA-FCB9-705A-04AF-38D7D13A7C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5058477" y="2044744"/>
            <a:ext cx="374336" cy="448417"/>
          </a:xfrm>
          <a:prstGeom prst="rect">
            <a:avLst/>
          </a:prstGeom>
        </p:spPr>
      </p:pic>
      <p:sp>
        <p:nvSpPr>
          <p:cNvPr id="16" name="TextBox 15">
            <a:extLst>
              <a:ext uri="{FF2B5EF4-FFF2-40B4-BE49-F238E27FC236}">
                <a16:creationId xmlns:a16="http://schemas.microsoft.com/office/drawing/2014/main" id="{27AB4716-C2C3-BC72-3942-736A4D69C010}"/>
              </a:ext>
            </a:extLst>
          </p:cNvPr>
          <p:cNvSpPr txBox="1"/>
          <p:nvPr/>
        </p:nvSpPr>
        <p:spPr>
          <a:xfrm>
            <a:off x="4342365" y="859552"/>
            <a:ext cx="2541138" cy="507831"/>
          </a:xfrm>
          <a:prstGeom prst="rect">
            <a:avLst/>
          </a:prstGeom>
          <a:noFill/>
        </p:spPr>
        <p:txBody>
          <a:bodyPr wrap="square" rtlCol="0">
            <a:spAutoFit/>
          </a:bodyPr>
          <a:lstStyle/>
          <a:p>
            <a:pPr algn="ctr"/>
            <a:r>
              <a:rPr lang="en-US" sz="900" dirty="0"/>
              <a:t>The LLM retrieves similar context from past and creates a new prompt. (Memory capacity capped at 40)</a:t>
            </a:r>
          </a:p>
        </p:txBody>
      </p:sp>
      <p:pic>
        <p:nvPicPr>
          <p:cNvPr id="17" name="Graphic 16" descr="Arrow Right with solid fill">
            <a:extLst>
              <a:ext uri="{FF2B5EF4-FFF2-40B4-BE49-F238E27FC236}">
                <a16:creationId xmlns:a16="http://schemas.microsoft.com/office/drawing/2014/main" id="{D9AF78B1-FD34-2B0D-6D4C-754BEB3FCF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07514" y="2689194"/>
            <a:ext cx="735392" cy="448417"/>
          </a:xfrm>
          <a:prstGeom prst="rect">
            <a:avLst/>
          </a:prstGeom>
        </p:spPr>
      </p:pic>
      <p:sp>
        <p:nvSpPr>
          <p:cNvPr id="18" name="Rounded Rectangle 17">
            <a:extLst>
              <a:ext uri="{FF2B5EF4-FFF2-40B4-BE49-F238E27FC236}">
                <a16:creationId xmlns:a16="http://schemas.microsoft.com/office/drawing/2014/main" id="{C9B24C0F-509E-3A23-F624-35417DAD99DB}"/>
              </a:ext>
            </a:extLst>
          </p:cNvPr>
          <p:cNvSpPr/>
          <p:nvPr/>
        </p:nvSpPr>
        <p:spPr>
          <a:xfrm>
            <a:off x="4310286" y="2563568"/>
            <a:ext cx="1721955"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The new Prompt (P):</a:t>
            </a:r>
          </a:p>
          <a:p>
            <a:pPr algn="ctr"/>
            <a:r>
              <a:rPr lang="en-US" sz="900" dirty="0">
                <a:solidFill>
                  <a:schemeClr val="tx1"/>
                </a:solidFill>
              </a:rPr>
              <a:t>[FACTS], [PAST CASE], [RULES]</a:t>
            </a:r>
          </a:p>
        </p:txBody>
      </p:sp>
      <p:pic>
        <p:nvPicPr>
          <p:cNvPr id="19" name="Picture 18" descr="A blue head with lines and symbols&#10;&#10;AI-generated content may be incorrect.">
            <a:extLst>
              <a:ext uri="{FF2B5EF4-FFF2-40B4-BE49-F238E27FC236}">
                <a16:creationId xmlns:a16="http://schemas.microsoft.com/office/drawing/2014/main" id="{AD495902-6608-5A9B-B273-AC123E2FE620}"/>
              </a:ext>
            </a:extLst>
          </p:cNvPr>
          <p:cNvPicPr>
            <a:picLocks noChangeAspect="1"/>
          </p:cNvPicPr>
          <p:nvPr/>
        </p:nvPicPr>
        <p:blipFill>
          <a:blip r:embed="rId10"/>
          <a:stretch>
            <a:fillRect/>
          </a:stretch>
        </p:blipFill>
        <p:spPr>
          <a:xfrm>
            <a:off x="3157271" y="4952647"/>
            <a:ext cx="772236" cy="772236"/>
          </a:xfrm>
          <a:prstGeom prst="rect">
            <a:avLst/>
          </a:prstGeom>
        </p:spPr>
      </p:pic>
      <p:pic>
        <p:nvPicPr>
          <p:cNvPr id="20" name="Graphic 19" descr="Arrow Right with solid fill">
            <a:extLst>
              <a:ext uri="{FF2B5EF4-FFF2-40B4-BE49-F238E27FC236}">
                <a16:creationId xmlns:a16="http://schemas.microsoft.com/office/drawing/2014/main" id="{D25CCDAD-3745-8682-533A-4877CB14311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9687233">
            <a:off x="3851577" y="4847431"/>
            <a:ext cx="374103" cy="404196"/>
          </a:xfrm>
          <a:prstGeom prst="rect">
            <a:avLst/>
          </a:prstGeom>
        </p:spPr>
      </p:pic>
      <p:pic>
        <p:nvPicPr>
          <p:cNvPr id="21" name="Graphic 20" descr="Arrow Right with solid fill">
            <a:extLst>
              <a:ext uri="{FF2B5EF4-FFF2-40B4-BE49-F238E27FC236}">
                <a16:creationId xmlns:a16="http://schemas.microsoft.com/office/drawing/2014/main" id="{2FA67FED-9B1F-9CCE-0D7D-B82F6B6898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33696">
            <a:off x="3906313" y="5345999"/>
            <a:ext cx="338945" cy="360969"/>
          </a:xfrm>
          <a:prstGeom prst="rect">
            <a:avLst/>
          </a:prstGeom>
        </p:spPr>
      </p:pic>
      <p:sp>
        <p:nvSpPr>
          <p:cNvPr id="22" name="TextBox 21">
            <a:extLst>
              <a:ext uri="{FF2B5EF4-FFF2-40B4-BE49-F238E27FC236}">
                <a16:creationId xmlns:a16="http://schemas.microsoft.com/office/drawing/2014/main" id="{7EC74E76-74CA-4134-B510-CA9A673FB7CD}"/>
              </a:ext>
            </a:extLst>
          </p:cNvPr>
          <p:cNvSpPr txBox="1"/>
          <p:nvPr/>
        </p:nvSpPr>
        <p:spPr>
          <a:xfrm>
            <a:off x="4179053" y="4653320"/>
            <a:ext cx="1124262" cy="507831"/>
          </a:xfrm>
          <a:prstGeom prst="rect">
            <a:avLst/>
          </a:prstGeom>
          <a:noFill/>
        </p:spPr>
        <p:txBody>
          <a:bodyPr wrap="square" rtlCol="0">
            <a:spAutoFit/>
          </a:bodyPr>
          <a:lstStyle/>
          <a:p>
            <a:pPr algn="ctr"/>
            <a:r>
              <a:rPr lang="en-US" sz="900" dirty="0"/>
              <a:t>Actor Network – Probability over actions </a:t>
            </a:r>
          </a:p>
        </p:txBody>
      </p:sp>
      <p:sp>
        <p:nvSpPr>
          <p:cNvPr id="23" name="TextBox 22">
            <a:extLst>
              <a:ext uri="{FF2B5EF4-FFF2-40B4-BE49-F238E27FC236}">
                <a16:creationId xmlns:a16="http://schemas.microsoft.com/office/drawing/2014/main" id="{4F6D395C-7A04-EA25-B634-17E1B77C6AAA}"/>
              </a:ext>
            </a:extLst>
          </p:cNvPr>
          <p:cNvSpPr txBox="1"/>
          <p:nvPr/>
        </p:nvSpPr>
        <p:spPr>
          <a:xfrm>
            <a:off x="4133357" y="5336827"/>
            <a:ext cx="1124262" cy="507831"/>
          </a:xfrm>
          <a:prstGeom prst="rect">
            <a:avLst/>
          </a:prstGeom>
          <a:noFill/>
        </p:spPr>
        <p:txBody>
          <a:bodyPr wrap="square" rtlCol="0">
            <a:spAutoFit/>
          </a:bodyPr>
          <a:lstStyle/>
          <a:p>
            <a:pPr algn="ctr"/>
            <a:r>
              <a:rPr lang="en-US" sz="900" dirty="0"/>
              <a:t>Critic Network – expected return over the action</a:t>
            </a:r>
          </a:p>
        </p:txBody>
      </p:sp>
      <p:pic>
        <p:nvPicPr>
          <p:cNvPr id="24" name="Graphic 23" descr="Arrow Right with solid fill">
            <a:extLst>
              <a:ext uri="{FF2B5EF4-FFF2-40B4-BE49-F238E27FC236}">
                <a16:creationId xmlns:a16="http://schemas.microsoft.com/office/drawing/2014/main" id="{EB5C8D92-0F47-CCB3-9825-CEE99DC4C4FF}"/>
              </a:ext>
            </a:extLst>
          </p:cNvPr>
          <p:cNvPicPr>
            <a:picLocks noChangeAspect="1"/>
          </p:cNvPicPr>
          <p:nvPr/>
        </p:nvPicPr>
        <p:blipFill>
          <a:blip r:embed="rId8">
            <a:extLst>
              <a:ext uri="{96DAC541-7B7A-43D3-8B79-37D633B846F1}">
                <asvg:svgBlip xmlns:asvg="http://schemas.microsoft.com/office/drawing/2016/SVG/main" r:embed="rId11"/>
              </a:ext>
            </a:extLst>
          </a:blip>
          <a:stretch>
            <a:fillRect/>
          </a:stretch>
        </p:blipFill>
        <p:spPr>
          <a:xfrm>
            <a:off x="6189298" y="2627525"/>
            <a:ext cx="1192040" cy="448417"/>
          </a:xfrm>
          <a:prstGeom prst="rect">
            <a:avLst/>
          </a:prstGeom>
        </p:spPr>
      </p:pic>
      <p:sp>
        <p:nvSpPr>
          <p:cNvPr id="25" name="TextBox 24">
            <a:extLst>
              <a:ext uri="{FF2B5EF4-FFF2-40B4-BE49-F238E27FC236}">
                <a16:creationId xmlns:a16="http://schemas.microsoft.com/office/drawing/2014/main" id="{C6455048-B05D-EE33-DB37-D10A8BF69ADD}"/>
              </a:ext>
            </a:extLst>
          </p:cNvPr>
          <p:cNvSpPr txBox="1"/>
          <p:nvPr/>
        </p:nvSpPr>
        <p:spPr>
          <a:xfrm>
            <a:off x="6025064" y="2939277"/>
            <a:ext cx="1449817" cy="369332"/>
          </a:xfrm>
          <a:prstGeom prst="rect">
            <a:avLst/>
          </a:prstGeom>
          <a:noFill/>
        </p:spPr>
        <p:txBody>
          <a:bodyPr wrap="square" rtlCol="0">
            <a:spAutoFit/>
          </a:bodyPr>
          <a:lstStyle/>
          <a:p>
            <a:pPr algn="ctr"/>
            <a:r>
              <a:rPr lang="en-US" sz="900" dirty="0"/>
              <a:t>Outputs multi-step  high-level </a:t>
            </a:r>
            <a:r>
              <a:rPr lang="en-US" sz="900" dirty="0" err="1"/>
              <a:t>Manoeuvre</a:t>
            </a:r>
            <a:r>
              <a:rPr lang="en-US" sz="900" dirty="0"/>
              <a:t> tokens</a:t>
            </a:r>
          </a:p>
        </p:txBody>
      </p:sp>
      <p:sp>
        <p:nvSpPr>
          <p:cNvPr id="26" name="Rounded Rectangle 25">
            <a:extLst>
              <a:ext uri="{FF2B5EF4-FFF2-40B4-BE49-F238E27FC236}">
                <a16:creationId xmlns:a16="http://schemas.microsoft.com/office/drawing/2014/main" id="{81A973AE-9B68-8806-BFD6-38BCE445D012}"/>
              </a:ext>
            </a:extLst>
          </p:cNvPr>
          <p:cNvSpPr/>
          <p:nvPr/>
        </p:nvSpPr>
        <p:spPr>
          <a:xfrm>
            <a:off x="7553436" y="2563568"/>
            <a:ext cx="1449817"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Recommended Action A</a:t>
            </a:r>
            <a:r>
              <a:rPr lang="en-US" sz="900" baseline="-25000" dirty="0">
                <a:solidFill>
                  <a:schemeClr val="tx1"/>
                </a:solidFill>
              </a:rPr>
              <a:t>LLM</a:t>
            </a:r>
          </a:p>
          <a:p>
            <a:pPr algn="ctr"/>
            <a:r>
              <a:rPr lang="en-US" sz="900" b="1" dirty="0">
                <a:solidFill>
                  <a:srgbClr val="C00000"/>
                </a:solidFill>
              </a:rPr>
              <a:t>(LLM Invocation Flag –TRUE)</a:t>
            </a:r>
          </a:p>
        </p:txBody>
      </p:sp>
      <p:cxnSp>
        <p:nvCxnSpPr>
          <p:cNvPr id="27" name="Elbow Connector 26">
            <a:extLst>
              <a:ext uri="{FF2B5EF4-FFF2-40B4-BE49-F238E27FC236}">
                <a16:creationId xmlns:a16="http://schemas.microsoft.com/office/drawing/2014/main" id="{D14652DF-7B54-7588-FA3E-52949F505525}"/>
              </a:ext>
            </a:extLst>
          </p:cNvPr>
          <p:cNvCxnSpPr>
            <a:cxnSpLocks/>
            <a:stCxn id="11" idx="2"/>
            <a:endCxn id="40" idx="3"/>
          </p:cNvCxnSpPr>
          <p:nvPr/>
        </p:nvCxnSpPr>
        <p:spPr>
          <a:xfrm rot="16200000" flipH="1">
            <a:off x="1347270" y="3223574"/>
            <a:ext cx="851638" cy="1439248"/>
          </a:xfrm>
          <a:prstGeom prst="bentConnector2">
            <a:avLst/>
          </a:prstGeom>
          <a:ln>
            <a:solidFill>
              <a:schemeClr val="accent2"/>
            </a:solidFill>
            <a:tailEnd type="triangle"/>
          </a:ln>
        </p:spPr>
        <p:style>
          <a:lnRef idx="2">
            <a:schemeClr val="dk1"/>
          </a:lnRef>
          <a:fillRef idx="0">
            <a:schemeClr val="dk1"/>
          </a:fillRef>
          <a:effectRef idx="1">
            <a:schemeClr val="dk1"/>
          </a:effectRef>
          <a:fontRef idx="minor">
            <a:schemeClr val="tx1"/>
          </a:fontRef>
        </p:style>
      </p:cxnSp>
      <p:sp>
        <p:nvSpPr>
          <p:cNvPr id="30" name="Rounded Rectangle 29">
            <a:extLst>
              <a:ext uri="{FF2B5EF4-FFF2-40B4-BE49-F238E27FC236}">
                <a16:creationId xmlns:a16="http://schemas.microsoft.com/office/drawing/2014/main" id="{AD12E6C9-20CA-542C-E6E8-C98555ECD1D7}"/>
              </a:ext>
            </a:extLst>
          </p:cNvPr>
          <p:cNvSpPr/>
          <p:nvPr/>
        </p:nvSpPr>
        <p:spPr>
          <a:xfrm>
            <a:off x="2977457" y="4128446"/>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Self Attention</a:t>
            </a:r>
          </a:p>
        </p:txBody>
      </p:sp>
      <p:sp>
        <p:nvSpPr>
          <p:cNvPr id="31" name="TextBox 30">
            <a:extLst>
              <a:ext uri="{FF2B5EF4-FFF2-40B4-BE49-F238E27FC236}">
                <a16:creationId xmlns:a16="http://schemas.microsoft.com/office/drawing/2014/main" id="{0E86DD4B-918E-818A-BAA8-EA654B9D6571}"/>
              </a:ext>
            </a:extLst>
          </p:cNvPr>
          <p:cNvSpPr txBox="1"/>
          <p:nvPr/>
        </p:nvSpPr>
        <p:spPr>
          <a:xfrm>
            <a:off x="5336446" y="3729088"/>
            <a:ext cx="2739856" cy="369332"/>
          </a:xfrm>
          <a:prstGeom prst="rect">
            <a:avLst/>
          </a:prstGeom>
          <a:noFill/>
        </p:spPr>
        <p:txBody>
          <a:bodyPr wrap="square" rtlCol="0">
            <a:spAutoFit/>
          </a:bodyPr>
          <a:lstStyle/>
          <a:p>
            <a:pPr algn="ctr"/>
            <a:r>
              <a:rPr lang="en-US" sz="900" dirty="0"/>
              <a:t>The  LLM multi-step action of the </a:t>
            </a:r>
            <a:r>
              <a:rPr lang="en-US" sz="900" b="1" dirty="0"/>
              <a:t>respective state</a:t>
            </a:r>
            <a:r>
              <a:rPr lang="en-US" sz="900" dirty="0"/>
              <a:t> is mapped into a vector a</a:t>
            </a:r>
            <a:r>
              <a:rPr lang="en-US" sz="900" baseline="-25000" dirty="0"/>
              <a:t>t</a:t>
            </a:r>
          </a:p>
        </p:txBody>
      </p:sp>
      <p:sp>
        <p:nvSpPr>
          <p:cNvPr id="32" name="TextBox 31">
            <a:extLst>
              <a:ext uri="{FF2B5EF4-FFF2-40B4-BE49-F238E27FC236}">
                <a16:creationId xmlns:a16="http://schemas.microsoft.com/office/drawing/2014/main" id="{A9EA1F80-9803-6AAE-777D-5CFE840E72A3}"/>
              </a:ext>
            </a:extLst>
          </p:cNvPr>
          <p:cNvSpPr txBox="1"/>
          <p:nvPr/>
        </p:nvSpPr>
        <p:spPr>
          <a:xfrm>
            <a:off x="52551" y="3930131"/>
            <a:ext cx="1048530" cy="646331"/>
          </a:xfrm>
          <a:prstGeom prst="rect">
            <a:avLst/>
          </a:prstGeom>
          <a:noFill/>
        </p:spPr>
        <p:txBody>
          <a:bodyPr wrap="square" rtlCol="0">
            <a:spAutoFit/>
          </a:bodyPr>
          <a:lstStyle/>
          <a:p>
            <a:pPr algn="ctr"/>
            <a:r>
              <a:rPr lang="en-US" sz="900" b="1" dirty="0"/>
              <a:t>The state representation gets mapped into a vector h </a:t>
            </a:r>
            <a:r>
              <a:rPr lang="en-US" sz="900" b="1" baseline="30000" dirty="0" err="1"/>
              <a:t>s</a:t>
            </a:r>
            <a:r>
              <a:rPr lang="en-US" sz="900" b="1" baseline="-25000" dirty="0" err="1"/>
              <a:t>t</a:t>
            </a:r>
            <a:r>
              <a:rPr lang="en-US" sz="900" b="1" baseline="-25000" dirty="0"/>
              <a:t> </a:t>
            </a:r>
          </a:p>
        </p:txBody>
      </p:sp>
      <p:sp>
        <p:nvSpPr>
          <p:cNvPr id="34" name="TextBox 33">
            <a:extLst>
              <a:ext uri="{FF2B5EF4-FFF2-40B4-BE49-F238E27FC236}">
                <a16:creationId xmlns:a16="http://schemas.microsoft.com/office/drawing/2014/main" id="{AD457944-97C4-7169-89F7-BF30F840A021}"/>
              </a:ext>
            </a:extLst>
          </p:cNvPr>
          <p:cNvSpPr txBox="1"/>
          <p:nvPr/>
        </p:nvSpPr>
        <p:spPr>
          <a:xfrm>
            <a:off x="3115070" y="4658243"/>
            <a:ext cx="1124262" cy="230832"/>
          </a:xfrm>
          <a:prstGeom prst="rect">
            <a:avLst/>
          </a:prstGeom>
          <a:noFill/>
        </p:spPr>
        <p:txBody>
          <a:bodyPr wrap="square" rtlCol="0">
            <a:spAutoFit/>
          </a:bodyPr>
          <a:lstStyle/>
          <a:p>
            <a:pPr algn="ctr"/>
            <a:r>
              <a:rPr lang="en-US" sz="900" b="1" dirty="0" err="1"/>
              <a:t>h</a:t>
            </a:r>
            <a:r>
              <a:rPr lang="en-US" sz="900" b="1" baseline="-25000" dirty="0" err="1"/>
              <a:t>t</a:t>
            </a:r>
            <a:endParaRPr lang="en-US" sz="900" b="1" dirty="0"/>
          </a:p>
        </p:txBody>
      </p:sp>
      <p:pic>
        <p:nvPicPr>
          <p:cNvPr id="35" name="Graphic 34" descr="Badge Follow with solid fill">
            <a:extLst>
              <a:ext uri="{FF2B5EF4-FFF2-40B4-BE49-F238E27FC236}">
                <a16:creationId xmlns:a16="http://schemas.microsoft.com/office/drawing/2014/main" id="{B3748461-EFA5-A37A-6208-E1657D38021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5914393" y="4961827"/>
            <a:ext cx="344606" cy="346028"/>
          </a:xfrm>
          <a:prstGeom prst="rect">
            <a:avLst/>
          </a:prstGeom>
        </p:spPr>
      </p:pic>
      <p:pic>
        <p:nvPicPr>
          <p:cNvPr id="36" name="Graphic 35" descr="Arrow Right with solid fill">
            <a:extLst>
              <a:ext uri="{FF2B5EF4-FFF2-40B4-BE49-F238E27FC236}">
                <a16:creationId xmlns:a16="http://schemas.microsoft.com/office/drawing/2014/main" id="{098FA671-633E-99BD-C289-4F981AA617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44340" y="2689318"/>
            <a:ext cx="374336" cy="448417"/>
          </a:xfrm>
          <a:prstGeom prst="rect">
            <a:avLst/>
          </a:prstGeom>
        </p:spPr>
      </p:pic>
      <p:sp>
        <p:nvSpPr>
          <p:cNvPr id="38" name="Right Brace 37">
            <a:extLst>
              <a:ext uri="{FF2B5EF4-FFF2-40B4-BE49-F238E27FC236}">
                <a16:creationId xmlns:a16="http://schemas.microsoft.com/office/drawing/2014/main" id="{CA601022-2BA7-FFEA-1F93-605E327E95D4}"/>
              </a:ext>
            </a:extLst>
          </p:cNvPr>
          <p:cNvSpPr/>
          <p:nvPr/>
        </p:nvSpPr>
        <p:spPr>
          <a:xfrm>
            <a:off x="6829408" y="4603348"/>
            <a:ext cx="298049" cy="1483141"/>
          </a:xfrm>
          <a:prstGeom prst="rightBrace">
            <a:avLst>
              <a:gd name="adj1" fmla="val 8333"/>
              <a:gd name="adj2" fmla="val 50967"/>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900" dirty="0"/>
          </a:p>
        </p:txBody>
      </p:sp>
      <p:sp>
        <p:nvSpPr>
          <p:cNvPr id="39" name="TextBox 38">
            <a:extLst>
              <a:ext uri="{FF2B5EF4-FFF2-40B4-BE49-F238E27FC236}">
                <a16:creationId xmlns:a16="http://schemas.microsoft.com/office/drawing/2014/main" id="{8AA01B27-8442-B622-3E01-47FE3F19C52B}"/>
              </a:ext>
            </a:extLst>
          </p:cNvPr>
          <p:cNvSpPr txBox="1"/>
          <p:nvPr/>
        </p:nvSpPr>
        <p:spPr>
          <a:xfrm>
            <a:off x="7105636" y="5218963"/>
            <a:ext cx="683295" cy="230832"/>
          </a:xfrm>
          <a:prstGeom prst="rect">
            <a:avLst/>
          </a:prstGeom>
          <a:noFill/>
        </p:spPr>
        <p:txBody>
          <a:bodyPr wrap="square" rtlCol="0">
            <a:spAutoFit/>
          </a:bodyPr>
          <a:lstStyle/>
          <a:p>
            <a:pPr algn="ctr"/>
            <a:r>
              <a:rPr lang="en-US" sz="900" b="1" dirty="0"/>
              <a:t>Action A</a:t>
            </a:r>
            <a:r>
              <a:rPr lang="en-US" sz="900" b="1" baseline="-25000" dirty="0"/>
              <a:t>t</a:t>
            </a:r>
          </a:p>
        </p:txBody>
      </p:sp>
      <p:pic>
        <p:nvPicPr>
          <p:cNvPr id="40" name="Picture 39" descr="A black background with a black square&#10;&#10;AI-generated content may be incorrect.">
            <a:extLst>
              <a:ext uri="{FF2B5EF4-FFF2-40B4-BE49-F238E27FC236}">
                <a16:creationId xmlns:a16="http://schemas.microsoft.com/office/drawing/2014/main" id="{6FA8F072-2E8D-F3CF-7F5B-7F50C8F17C46}"/>
              </a:ext>
            </a:extLst>
          </p:cNvPr>
          <p:cNvPicPr>
            <a:picLocks noChangeAspect="1"/>
          </p:cNvPicPr>
          <p:nvPr/>
        </p:nvPicPr>
        <p:blipFill>
          <a:blip r:embed="rId14"/>
          <a:stretch>
            <a:fillRect/>
          </a:stretch>
        </p:blipFill>
        <p:spPr>
          <a:xfrm flipH="1">
            <a:off x="2492713" y="4261428"/>
            <a:ext cx="215178" cy="215178"/>
          </a:xfrm>
          <a:prstGeom prst="rect">
            <a:avLst/>
          </a:prstGeom>
        </p:spPr>
      </p:pic>
      <p:cxnSp>
        <p:nvCxnSpPr>
          <p:cNvPr id="41" name="Straight Arrow Connector 40">
            <a:extLst>
              <a:ext uri="{FF2B5EF4-FFF2-40B4-BE49-F238E27FC236}">
                <a16:creationId xmlns:a16="http://schemas.microsoft.com/office/drawing/2014/main" id="{39C3ED4A-4DDC-F1C6-94CD-8FC7BFA63A19}"/>
              </a:ext>
            </a:extLst>
          </p:cNvPr>
          <p:cNvCxnSpPr>
            <a:cxnSpLocks/>
            <a:stCxn id="40" idx="1"/>
            <a:endCxn id="30" idx="1"/>
          </p:cNvCxnSpPr>
          <p:nvPr/>
        </p:nvCxnSpPr>
        <p:spPr>
          <a:xfrm>
            <a:off x="2707891" y="4369017"/>
            <a:ext cx="269566" cy="145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3" name="Graphic 42" descr="Badge Follow with solid fill">
            <a:extLst>
              <a:ext uri="{FF2B5EF4-FFF2-40B4-BE49-F238E27FC236}">
                <a16:creationId xmlns:a16="http://schemas.microsoft.com/office/drawing/2014/main" id="{46D3A5CF-DE22-8098-0071-EEE7296BCB2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5918300" y="4438892"/>
            <a:ext cx="344606" cy="344606"/>
          </a:xfrm>
          <a:prstGeom prst="rect">
            <a:avLst/>
          </a:prstGeom>
        </p:spPr>
      </p:pic>
      <p:pic>
        <p:nvPicPr>
          <p:cNvPr id="46" name="Graphic 45" descr="Arrow Right with solid fill">
            <a:extLst>
              <a:ext uri="{FF2B5EF4-FFF2-40B4-BE49-F238E27FC236}">
                <a16:creationId xmlns:a16="http://schemas.microsoft.com/office/drawing/2014/main" id="{171FA15F-A5DC-7766-17C3-742DC83E15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6455" y="5389617"/>
            <a:ext cx="208372" cy="448417"/>
          </a:xfrm>
          <a:prstGeom prst="rect">
            <a:avLst/>
          </a:prstGeom>
        </p:spPr>
      </p:pic>
      <p:pic>
        <p:nvPicPr>
          <p:cNvPr id="47" name="Graphic 46" descr="Arrow Right with solid fill">
            <a:extLst>
              <a:ext uri="{FF2B5EF4-FFF2-40B4-BE49-F238E27FC236}">
                <a16:creationId xmlns:a16="http://schemas.microsoft.com/office/drawing/2014/main" id="{E3AA3434-E91B-FC79-33C3-3FA3B2D795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4287" y="4695881"/>
            <a:ext cx="215639" cy="448417"/>
          </a:xfrm>
          <a:prstGeom prst="rect">
            <a:avLst/>
          </a:prstGeom>
        </p:spPr>
      </p:pic>
      <p:cxnSp>
        <p:nvCxnSpPr>
          <p:cNvPr id="48" name="Straight Arrow Connector 47">
            <a:extLst>
              <a:ext uri="{FF2B5EF4-FFF2-40B4-BE49-F238E27FC236}">
                <a16:creationId xmlns:a16="http://schemas.microsoft.com/office/drawing/2014/main" id="{EC6E79B3-4651-CA0C-88D8-B2C2514C19D5}"/>
              </a:ext>
            </a:extLst>
          </p:cNvPr>
          <p:cNvCxnSpPr>
            <a:cxnSpLocks/>
          </p:cNvCxnSpPr>
          <p:nvPr/>
        </p:nvCxnSpPr>
        <p:spPr>
          <a:xfrm flipV="1">
            <a:off x="9590112" y="4973596"/>
            <a:ext cx="466258" cy="3129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Elbow Connector 52">
            <a:extLst>
              <a:ext uri="{FF2B5EF4-FFF2-40B4-BE49-F238E27FC236}">
                <a16:creationId xmlns:a16="http://schemas.microsoft.com/office/drawing/2014/main" id="{132865D4-494A-809D-D0FF-3EF0E26FC65D}"/>
              </a:ext>
            </a:extLst>
          </p:cNvPr>
          <p:cNvCxnSpPr>
            <a:cxnSpLocks/>
          </p:cNvCxnSpPr>
          <p:nvPr/>
        </p:nvCxnSpPr>
        <p:spPr>
          <a:xfrm flipH="1" flipV="1">
            <a:off x="5612934" y="1701426"/>
            <a:ext cx="5645442" cy="4043928"/>
          </a:xfrm>
          <a:prstGeom prst="bentConnector3">
            <a:avLst>
              <a:gd name="adj1" fmla="val -8765"/>
            </a:avLst>
          </a:prstGeom>
          <a:ln>
            <a:tailEnd type="triangle"/>
          </a:ln>
        </p:spPr>
        <p:style>
          <a:lnRef idx="2">
            <a:schemeClr val="dk1"/>
          </a:lnRef>
          <a:fillRef idx="0">
            <a:schemeClr val="dk1"/>
          </a:fillRef>
          <a:effectRef idx="1">
            <a:schemeClr val="dk1"/>
          </a:effectRef>
          <a:fontRef idx="minor">
            <a:schemeClr val="tx1"/>
          </a:fontRef>
        </p:style>
      </p:cxnSp>
      <p:sp>
        <p:nvSpPr>
          <p:cNvPr id="54" name="TextBox 53">
            <a:extLst>
              <a:ext uri="{FF2B5EF4-FFF2-40B4-BE49-F238E27FC236}">
                <a16:creationId xmlns:a16="http://schemas.microsoft.com/office/drawing/2014/main" id="{19FC367A-BEE1-1D08-94E1-4D4D38EE08CD}"/>
              </a:ext>
            </a:extLst>
          </p:cNvPr>
          <p:cNvSpPr txBox="1"/>
          <p:nvPr/>
        </p:nvSpPr>
        <p:spPr>
          <a:xfrm>
            <a:off x="9537314" y="4285695"/>
            <a:ext cx="1527786"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sz="900" b="0" i="0" u="none" strike="noStrike" dirty="0">
                <a:solidFill>
                  <a:srgbClr val="000000"/>
                </a:solidFill>
                <a:effectLst/>
              </a:rPr>
              <a:t>If the conflict is resolved </a:t>
            </a:r>
          </a:p>
          <a:p>
            <a:r>
              <a:rPr lang="en-SG" sz="900" b="0" i="0" u="none" strike="noStrike" dirty="0">
                <a:solidFill>
                  <a:srgbClr val="000000"/>
                </a:solidFill>
                <a:effectLst/>
              </a:rPr>
              <a:t>(CR = TRUE) AND CTD ≤ </a:t>
            </a:r>
            <a:r>
              <a:rPr lang="el-GR" sz="900" b="0" i="0" u="none" strike="noStrike" dirty="0">
                <a:solidFill>
                  <a:srgbClr val="000000"/>
                </a:solidFill>
                <a:effectLst/>
              </a:rPr>
              <a:t>δ</a:t>
            </a:r>
            <a:r>
              <a:rPr lang="en-US" sz="900" b="0" i="0" u="none" strike="noStrike" dirty="0">
                <a:solidFill>
                  <a:srgbClr val="000000"/>
                </a:solidFill>
                <a:effectLst/>
              </a:rPr>
              <a:t> within k steps, then </a:t>
            </a:r>
            <a:r>
              <a:rPr lang="en-SG" sz="900" b="0" i="0" u="none" strike="noStrike" dirty="0">
                <a:solidFill>
                  <a:srgbClr val="000000"/>
                </a:solidFill>
                <a:effectLst/>
              </a:rPr>
              <a:t>CR WAS SUCCESFULL</a:t>
            </a:r>
          </a:p>
        </p:txBody>
      </p:sp>
      <p:sp>
        <p:nvSpPr>
          <p:cNvPr id="55" name="TextBox 54">
            <a:extLst>
              <a:ext uri="{FF2B5EF4-FFF2-40B4-BE49-F238E27FC236}">
                <a16:creationId xmlns:a16="http://schemas.microsoft.com/office/drawing/2014/main" id="{86740E69-6111-A72C-3B5E-86AE1BF83408}"/>
              </a:ext>
            </a:extLst>
          </p:cNvPr>
          <p:cNvSpPr txBox="1"/>
          <p:nvPr/>
        </p:nvSpPr>
        <p:spPr>
          <a:xfrm>
            <a:off x="8672987" y="1452578"/>
            <a:ext cx="3618770" cy="230832"/>
          </a:xfrm>
          <a:prstGeom prst="rect">
            <a:avLst/>
          </a:prstGeom>
          <a:noFill/>
        </p:spPr>
        <p:txBody>
          <a:bodyPr wrap="square">
            <a:spAutoFit/>
          </a:bodyPr>
          <a:lstStyle/>
          <a:p>
            <a:pPr algn="ctr"/>
            <a:r>
              <a:rPr lang="en-US" sz="900" b="1" dirty="0"/>
              <a:t>Store correction: LLM outputs a delta-token </a:t>
            </a:r>
            <a:r>
              <a:rPr lang="el-GR" sz="900" b="1" dirty="0"/>
              <a:t>Δ</a:t>
            </a:r>
            <a:r>
              <a:rPr lang="en-US" sz="900" b="1" dirty="0"/>
              <a:t>m</a:t>
            </a:r>
            <a:endParaRPr lang="en-US" sz="900" dirty="0"/>
          </a:p>
        </p:txBody>
      </p:sp>
      <p:sp>
        <p:nvSpPr>
          <p:cNvPr id="56" name="Rounded Rectangle 55">
            <a:extLst>
              <a:ext uri="{FF2B5EF4-FFF2-40B4-BE49-F238E27FC236}">
                <a16:creationId xmlns:a16="http://schemas.microsoft.com/office/drawing/2014/main" id="{2C8A907C-E979-8D36-0C15-49C305DDAE16}"/>
              </a:ext>
            </a:extLst>
          </p:cNvPr>
          <p:cNvSpPr/>
          <p:nvPr/>
        </p:nvSpPr>
        <p:spPr>
          <a:xfrm>
            <a:off x="11091680" y="3436186"/>
            <a:ext cx="1047769" cy="629587"/>
          </a:xfrm>
          <a:prstGeom prst="roundRect">
            <a:avLst/>
          </a:prstGeom>
          <a:solidFill>
            <a:srgbClr val="64BC71"/>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25000" dirty="0">
                <a:solidFill>
                  <a:schemeClr val="tx1"/>
                </a:solidFill>
              </a:rPr>
              <a:t>LLM Call</a:t>
            </a:r>
          </a:p>
        </p:txBody>
      </p:sp>
      <p:sp>
        <p:nvSpPr>
          <p:cNvPr id="57" name="TextBox 56">
            <a:extLst>
              <a:ext uri="{FF2B5EF4-FFF2-40B4-BE49-F238E27FC236}">
                <a16:creationId xmlns:a16="http://schemas.microsoft.com/office/drawing/2014/main" id="{1FD8FDC1-DA85-FD08-143A-7360610BD513}"/>
              </a:ext>
            </a:extLst>
          </p:cNvPr>
          <p:cNvSpPr txBox="1"/>
          <p:nvPr/>
        </p:nvSpPr>
        <p:spPr>
          <a:xfrm>
            <a:off x="4673882" y="536299"/>
            <a:ext cx="1723136" cy="246221"/>
          </a:xfrm>
          <a:prstGeom prst="rect">
            <a:avLst/>
          </a:prstGeom>
          <a:noFill/>
        </p:spPr>
        <p:txBody>
          <a:bodyPr wrap="square" rtlCol="0">
            <a:spAutoFit/>
          </a:bodyPr>
          <a:lstStyle/>
          <a:p>
            <a:pPr algn="ctr"/>
            <a:r>
              <a:rPr lang="en-US" sz="1000" b="1" dirty="0"/>
              <a:t>Decision Engine</a:t>
            </a:r>
          </a:p>
        </p:txBody>
      </p:sp>
      <p:sp>
        <p:nvSpPr>
          <p:cNvPr id="58" name="TextBox 57">
            <a:extLst>
              <a:ext uri="{FF2B5EF4-FFF2-40B4-BE49-F238E27FC236}">
                <a16:creationId xmlns:a16="http://schemas.microsoft.com/office/drawing/2014/main" id="{C261E62B-341F-2164-DBCA-13997CFB4545}"/>
              </a:ext>
            </a:extLst>
          </p:cNvPr>
          <p:cNvSpPr txBox="1"/>
          <p:nvPr/>
        </p:nvSpPr>
        <p:spPr>
          <a:xfrm>
            <a:off x="11401456" y="2652929"/>
            <a:ext cx="693947" cy="230832"/>
          </a:xfrm>
          <a:prstGeom prst="rect">
            <a:avLst/>
          </a:prstGeom>
          <a:noFill/>
        </p:spPr>
        <p:txBody>
          <a:bodyPr wrap="square">
            <a:spAutoFit/>
          </a:bodyPr>
          <a:lstStyle/>
          <a:p>
            <a:r>
              <a:rPr lang="el-GR" sz="900" b="1" dirty="0"/>
              <a:t>Δ</a:t>
            </a:r>
            <a:r>
              <a:rPr lang="en-US" sz="900" b="1" dirty="0"/>
              <a:t>m</a:t>
            </a:r>
            <a:endParaRPr lang="en-US" sz="900" dirty="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B276E0F-02A6-A8DA-CA23-505FC8630A1A}"/>
                  </a:ext>
                </a:extLst>
              </p:cNvPr>
              <p:cNvSpPr txBox="1"/>
              <p:nvPr/>
            </p:nvSpPr>
            <p:spPr>
              <a:xfrm>
                <a:off x="1823625" y="1800536"/>
                <a:ext cx="1889929" cy="784830"/>
              </a:xfrm>
              <a:prstGeom prst="rect">
                <a:avLst/>
              </a:prstGeom>
              <a:noFill/>
            </p:spPr>
            <p:txBody>
              <a:bodyPr wrap="square" rtlCol="0">
                <a:spAutoFit/>
              </a:bodyPr>
              <a:lstStyle/>
              <a:p>
                <a:pPr algn="ctr"/>
                <a:r>
                  <a:rPr lang="en-US" sz="900" dirty="0"/>
                  <a:t>(Time To Conflict Point – consider long tail events too, </a:t>
                </a:r>
                <a14:m>
                  <m:oMath xmlns:m="http://schemas.openxmlformats.org/officeDocument/2006/math">
                    <m:r>
                      <a:rPr lang="en-US" sz="900" i="1" smtClean="0">
                        <a:solidFill>
                          <a:schemeClr val="tx1"/>
                        </a:solidFill>
                        <a:latin typeface="Cambria Math" panose="02040503050406030204" pitchFamily="18" charset="0"/>
                        <a:ea typeface="Cambria Math" panose="02040503050406030204" pitchFamily="18" charset="0"/>
                      </a:rPr>
                      <m:t>𝛽</m:t>
                    </m:r>
                    <m:r>
                      <a:rPr lang="en-US" sz="900" b="0" i="1" smtClean="0">
                        <a:solidFill>
                          <a:schemeClr val="tx1"/>
                        </a:solidFill>
                        <a:latin typeface="Cambria Math" panose="02040503050406030204" pitchFamily="18" charset="0"/>
                        <a:ea typeface="Cambria Math" panose="02040503050406030204" pitchFamily="18" charset="0"/>
                      </a:rPr>
                      <m:t> </m:t>
                    </m:r>
                    <m:r>
                      <a:rPr lang="en-US" sz="900" b="0" i="1" smtClean="0">
                        <a:solidFill>
                          <a:schemeClr val="tx1"/>
                        </a:solidFill>
                        <a:latin typeface="Cambria Math" panose="02040503050406030204" pitchFamily="18" charset="0"/>
                        <a:ea typeface="Cambria Math" panose="02040503050406030204" pitchFamily="18" charset="0"/>
                      </a:rPr>
                      <m:t>𝑖𝑠</m:t>
                    </m:r>
                    <m:r>
                      <a:rPr lang="en-US" sz="900" b="0" i="1" smtClean="0">
                        <a:solidFill>
                          <a:schemeClr val="tx1"/>
                        </a:solidFill>
                        <a:latin typeface="Cambria Math" panose="02040503050406030204" pitchFamily="18" charset="0"/>
                        <a:ea typeface="Cambria Math" panose="02040503050406030204" pitchFamily="18" charset="0"/>
                      </a:rPr>
                      <m:t> </m:t>
                    </m:r>
                    <m:r>
                      <a:rPr lang="en-US" sz="900" b="0" i="1" smtClean="0">
                        <a:solidFill>
                          <a:schemeClr val="tx1"/>
                        </a:solidFill>
                        <a:latin typeface="Cambria Math" panose="02040503050406030204" pitchFamily="18" charset="0"/>
                        <a:ea typeface="Cambria Math" panose="02040503050406030204" pitchFamily="18" charset="0"/>
                      </a:rPr>
                      <m:t>𝑎𝑑𝑎𝑝𝑡𝑖𝑣𝑒</m:t>
                    </m:r>
                    <m:r>
                      <a:rPr lang="en-US" sz="900" b="0" i="1" smtClean="0">
                        <a:solidFill>
                          <a:schemeClr val="tx1"/>
                        </a:solidFill>
                        <a:latin typeface="Cambria Math" panose="02040503050406030204" pitchFamily="18" charset="0"/>
                        <a:ea typeface="Cambria Math" panose="02040503050406030204" pitchFamily="18" charset="0"/>
                      </a:rPr>
                      <m:t> </m:t>
                    </m:r>
                    <m:r>
                      <a:rPr lang="en-US" sz="900" b="0" i="1" smtClean="0">
                        <a:solidFill>
                          <a:schemeClr val="tx1"/>
                        </a:solidFill>
                        <a:latin typeface="Cambria Math" panose="02040503050406030204" pitchFamily="18" charset="0"/>
                        <a:ea typeface="Cambria Math" panose="02040503050406030204" pitchFamily="18" charset="0"/>
                      </a:rPr>
                      <m:t>𝑡h𝑟𝑒𝑠𝑜𝑙𝑑</m:t>
                    </m:r>
                  </m:oMath>
                </a14:m>
                <a:r>
                  <a:rPr lang="en-US" sz="900" dirty="0"/>
                  <a:t> – </a:t>
                </a:r>
                <a:r>
                  <a:rPr lang="en-US" sz="900" b="1" dirty="0"/>
                  <a:t>(relaxed initially and then increased to 90</a:t>
                </a:r>
                <a:r>
                  <a:rPr lang="en-US" sz="900" b="1" baseline="30000" dirty="0"/>
                  <a:t>th</a:t>
                </a:r>
                <a:r>
                  <a:rPr lang="en-US" sz="900" b="1" dirty="0"/>
                  <a:t> percentile)</a:t>
                </a:r>
              </a:p>
            </p:txBody>
          </p:sp>
        </mc:Choice>
        <mc:Fallback xmlns="">
          <p:sp>
            <p:nvSpPr>
              <p:cNvPr id="59" name="TextBox 58">
                <a:extLst>
                  <a:ext uri="{FF2B5EF4-FFF2-40B4-BE49-F238E27FC236}">
                    <a16:creationId xmlns:a16="http://schemas.microsoft.com/office/drawing/2014/main" id="{0B276E0F-02A6-A8DA-CA23-505FC8630A1A}"/>
                  </a:ext>
                </a:extLst>
              </p:cNvPr>
              <p:cNvSpPr txBox="1">
                <a:spLocks noRot="1" noChangeAspect="1" noMove="1" noResize="1" noEditPoints="1" noAdjustHandles="1" noChangeArrowheads="1" noChangeShapeType="1" noTextEdit="1"/>
              </p:cNvSpPr>
              <p:nvPr/>
            </p:nvSpPr>
            <p:spPr>
              <a:xfrm>
                <a:off x="1823625" y="1800536"/>
                <a:ext cx="1889929" cy="784830"/>
              </a:xfrm>
              <a:prstGeom prst="rect">
                <a:avLst/>
              </a:prstGeom>
              <a:blipFill>
                <a:blip r:embed="rId15"/>
                <a:stretch>
                  <a:fillRect b="-1587"/>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DABDBD84-5CB2-94E9-C230-38E91A9EE84E}"/>
              </a:ext>
            </a:extLst>
          </p:cNvPr>
          <p:cNvSpPr txBox="1"/>
          <p:nvPr/>
        </p:nvSpPr>
        <p:spPr>
          <a:xfrm>
            <a:off x="2954669" y="3763966"/>
            <a:ext cx="1294305" cy="369332"/>
          </a:xfrm>
          <a:prstGeom prst="rect">
            <a:avLst/>
          </a:prstGeom>
          <a:noFill/>
        </p:spPr>
        <p:txBody>
          <a:bodyPr wrap="square">
            <a:spAutoFit/>
          </a:bodyPr>
          <a:lstStyle/>
          <a:p>
            <a:pPr algn="ctr"/>
            <a:r>
              <a:rPr lang="en-US" sz="900" dirty="0"/>
              <a:t>Self attention for – Mixing the signal </a:t>
            </a:r>
          </a:p>
        </p:txBody>
      </p:sp>
      <p:pic>
        <p:nvPicPr>
          <p:cNvPr id="62" name="Picture 61" descr="A black background with a black square&#10;&#10;AI-generated content may be incorrect.">
            <a:extLst>
              <a:ext uri="{FF2B5EF4-FFF2-40B4-BE49-F238E27FC236}">
                <a16:creationId xmlns:a16="http://schemas.microsoft.com/office/drawing/2014/main" id="{C1830DA6-2C18-F5D4-3B47-85B75A64B78D}"/>
              </a:ext>
            </a:extLst>
          </p:cNvPr>
          <p:cNvPicPr>
            <a:picLocks noChangeAspect="1"/>
          </p:cNvPicPr>
          <p:nvPr/>
        </p:nvPicPr>
        <p:blipFill>
          <a:blip r:embed="rId16"/>
          <a:stretch>
            <a:fillRect/>
          </a:stretch>
        </p:blipFill>
        <p:spPr>
          <a:xfrm flipH="1" flipV="1">
            <a:off x="900148" y="2767482"/>
            <a:ext cx="200065" cy="200065"/>
          </a:xfrm>
          <a:prstGeom prst="rect">
            <a:avLst/>
          </a:prstGeom>
        </p:spPr>
      </p:pic>
      <p:pic>
        <p:nvPicPr>
          <p:cNvPr id="64" name="Picture 63" descr="A black background with a black square&#10;&#10;AI-generated content may be incorrect.">
            <a:extLst>
              <a:ext uri="{FF2B5EF4-FFF2-40B4-BE49-F238E27FC236}">
                <a16:creationId xmlns:a16="http://schemas.microsoft.com/office/drawing/2014/main" id="{6E9A110B-9F6F-3760-89F9-37377ADE509C}"/>
              </a:ext>
            </a:extLst>
          </p:cNvPr>
          <p:cNvPicPr>
            <a:picLocks noChangeAspect="1"/>
          </p:cNvPicPr>
          <p:nvPr/>
        </p:nvPicPr>
        <p:blipFill>
          <a:blip r:embed="rId17"/>
          <a:stretch>
            <a:fillRect/>
          </a:stretch>
        </p:blipFill>
        <p:spPr>
          <a:xfrm>
            <a:off x="1146825" y="2605249"/>
            <a:ext cx="516183" cy="516183"/>
          </a:xfrm>
          <a:prstGeom prst="rect">
            <a:avLst/>
          </a:prstGeom>
        </p:spPr>
      </p:pic>
      <p:sp>
        <p:nvSpPr>
          <p:cNvPr id="81" name="TextBox 80">
            <a:extLst>
              <a:ext uri="{FF2B5EF4-FFF2-40B4-BE49-F238E27FC236}">
                <a16:creationId xmlns:a16="http://schemas.microsoft.com/office/drawing/2014/main" id="{7DE00D96-4670-9438-4EBB-C6BB68E9AC40}"/>
              </a:ext>
            </a:extLst>
          </p:cNvPr>
          <p:cNvSpPr txBox="1"/>
          <p:nvPr/>
        </p:nvSpPr>
        <p:spPr>
          <a:xfrm>
            <a:off x="7023202" y="1837685"/>
            <a:ext cx="3323540" cy="646331"/>
          </a:xfrm>
          <a:prstGeom prst="rect">
            <a:avLst/>
          </a:prstGeom>
          <a:noFill/>
        </p:spPr>
        <p:txBody>
          <a:bodyPr wrap="square" rtlCol="0">
            <a:spAutoFit/>
          </a:bodyPr>
          <a:lstStyle/>
          <a:p>
            <a:r>
              <a:rPr lang="en-SG" sz="900" b="1" dirty="0"/>
              <a:t>Prompt the LLM</a:t>
            </a:r>
            <a:r>
              <a:rPr lang="en-SG" sz="900" dirty="0"/>
              <a:t> to yield, in JSON</a:t>
            </a:r>
            <a:r>
              <a:rPr lang="en-SG" sz="900" b="1" dirty="0"/>
              <a:t>, a two-phase manoeuvre </a:t>
            </a:r>
            <a:r>
              <a:rPr lang="en-SG" sz="900" b="1" dirty="0">
                <a:solidFill>
                  <a:srgbClr val="C00000"/>
                </a:solidFill>
              </a:rPr>
              <a:t>that first resolves the conflict, then returns the aircraft to its planned route</a:t>
            </a:r>
            <a:r>
              <a:rPr lang="en-SG" sz="900" dirty="0"/>
              <a:t>. Execute LLM-derived High-level action for phase 1. And then initiate phase 2</a:t>
            </a:r>
          </a:p>
        </p:txBody>
      </p:sp>
      <p:sp>
        <p:nvSpPr>
          <p:cNvPr id="82" name="TextBox 81">
            <a:extLst>
              <a:ext uri="{FF2B5EF4-FFF2-40B4-BE49-F238E27FC236}">
                <a16:creationId xmlns:a16="http://schemas.microsoft.com/office/drawing/2014/main" id="{6515C806-1175-B707-ACD5-B03B13AF15CB}"/>
              </a:ext>
            </a:extLst>
          </p:cNvPr>
          <p:cNvSpPr txBox="1"/>
          <p:nvPr/>
        </p:nvSpPr>
        <p:spPr>
          <a:xfrm>
            <a:off x="10071507" y="5540194"/>
            <a:ext cx="13680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SG" sz="900" b="1" i="0" u="none" strike="noStrike" dirty="0">
                <a:solidFill>
                  <a:srgbClr val="000000"/>
                </a:solidFill>
                <a:effectLst/>
              </a:rPr>
              <a:t>If after k steps of phase 1, CTD is still increasing</a:t>
            </a:r>
            <a:r>
              <a:rPr lang="en-SG" sz="900" i="0" u="none" strike="noStrike" dirty="0">
                <a:solidFill>
                  <a:srgbClr val="000000"/>
                </a:solidFill>
                <a:effectLst/>
              </a:rPr>
              <a:t> then CR was unsuccessful</a:t>
            </a:r>
          </a:p>
        </p:txBody>
      </p:sp>
      <p:cxnSp>
        <p:nvCxnSpPr>
          <p:cNvPr id="85" name="Straight Arrow Connector 84">
            <a:extLst>
              <a:ext uri="{FF2B5EF4-FFF2-40B4-BE49-F238E27FC236}">
                <a16:creationId xmlns:a16="http://schemas.microsoft.com/office/drawing/2014/main" id="{53C83120-CC99-8493-9975-CEAF11285459}"/>
              </a:ext>
            </a:extLst>
          </p:cNvPr>
          <p:cNvCxnSpPr>
            <a:cxnSpLocks/>
            <a:stCxn id="54" idx="0"/>
          </p:cNvCxnSpPr>
          <p:nvPr/>
        </p:nvCxnSpPr>
        <p:spPr>
          <a:xfrm flipV="1">
            <a:off x="10301207" y="1683410"/>
            <a:ext cx="4694" cy="26022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8" name="Straight Arrow Connector 87">
            <a:extLst>
              <a:ext uri="{FF2B5EF4-FFF2-40B4-BE49-F238E27FC236}">
                <a16:creationId xmlns:a16="http://schemas.microsoft.com/office/drawing/2014/main" id="{137E0EC6-DE8B-4028-54A3-D73CDCD5BEE6}"/>
              </a:ext>
            </a:extLst>
          </p:cNvPr>
          <p:cNvCxnSpPr>
            <a:cxnSpLocks/>
          </p:cNvCxnSpPr>
          <p:nvPr/>
        </p:nvCxnSpPr>
        <p:spPr>
          <a:xfrm>
            <a:off x="9537314" y="5509714"/>
            <a:ext cx="420870" cy="3757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1" name="TextBox 100">
            <a:extLst>
              <a:ext uri="{FF2B5EF4-FFF2-40B4-BE49-F238E27FC236}">
                <a16:creationId xmlns:a16="http://schemas.microsoft.com/office/drawing/2014/main" id="{809A2868-A2EF-0803-E31B-338179B2455A}"/>
              </a:ext>
            </a:extLst>
          </p:cNvPr>
          <p:cNvSpPr txBox="1"/>
          <p:nvPr/>
        </p:nvSpPr>
        <p:spPr>
          <a:xfrm>
            <a:off x="6831016" y="5798943"/>
            <a:ext cx="1373233" cy="369332"/>
          </a:xfrm>
          <a:prstGeom prst="rect">
            <a:avLst/>
          </a:prstGeom>
          <a:noFill/>
        </p:spPr>
        <p:txBody>
          <a:bodyPr wrap="square" rtlCol="0">
            <a:spAutoFit/>
          </a:bodyPr>
          <a:lstStyle/>
          <a:p>
            <a:pPr algn="ctr"/>
            <a:r>
              <a:rPr lang="en-US" sz="900" dirty="0"/>
              <a:t>The KL coefficient relaxes gradually</a:t>
            </a:r>
          </a:p>
        </p:txBody>
      </p:sp>
      <p:sp>
        <p:nvSpPr>
          <p:cNvPr id="107" name="TextBox 106">
            <a:extLst>
              <a:ext uri="{FF2B5EF4-FFF2-40B4-BE49-F238E27FC236}">
                <a16:creationId xmlns:a16="http://schemas.microsoft.com/office/drawing/2014/main" id="{C159F33B-64E6-DE61-ACBE-6B5A0617A5A5}"/>
              </a:ext>
            </a:extLst>
          </p:cNvPr>
          <p:cNvSpPr txBox="1"/>
          <p:nvPr/>
        </p:nvSpPr>
        <p:spPr>
          <a:xfrm>
            <a:off x="5529718" y="6273113"/>
            <a:ext cx="1132562" cy="307777"/>
          </a:xfrm>
          <a:prstGeom prst="rect">
            <a:avLst/>
          </a:prstGeom>
          <a:solidFill>
            <a:schemeClr val="accent6">
              <a:lumMod val="20000"/>
              <a:lumOff val="80000"/>
            </a:schemeClr>
          </a:solidFill>
        </p:spPr>
        <p:txBody>
          <a:bodyPr wrap="square" rtlCol="0">
            <a:spAutoFit/>
          </a:bodyPr>
          <a:lstStyle/>
          <a:p>
            <a:pPr algn="ctr"/>
            <a:r>
              <a:rPr lang="en-US" sz="1400" b="1" dirty="0">
                <a:ln w="0"/>
                <a:effectLst>
                  <a:outerShdw blurRad="38100" dist="19050" dir="2700000" algn="tl" rotWithShape="0">
                    <a:schemeClr val="dk1">
                      <a:alpha val="40000"/>
                    </a:schemeClr>
                  </a:outerShdw>
                </a:effectLst>
              </a:rPr>
              <a:t>Loss </a:t>
            </a:r>
            <a:r>
              <a:rPr lang="en-US" sz="1400" b="1" baseline="-25000" dirty="0">
                <a:ln w="0"/>
                <a:effectLst>
                  <a:outerShdw blurRad="38100" dist="19050" dir="2700000" algn="tl" rotWithShape="0">
                    <a:schemeClr val="dk1">
                      <a:alpha val="40000"/>
                    </a:schemeClr>
                  </a:outerShdw>
                </a:effectLst>
              </a:rPr>
              <a:t>Total</a:t>
            </a:r>
            <a:endParaRPr lang="en-US" sz="1400" b="1" dirty="0">
              <a:ln w="0"/>
              <a:effectLst>
                <a:outerShdw blurRad="38100" dist="19050" dir="2700000" algn="tl" rotWithShape="0">
                  <a:schemeClr val="dk1">
                    <a:alpha val="40000"/>
                  </a:schemeClr>
                </a:outerShdw>
              </a:effectLst>
            </a:endParaRPr>
          </a:p>
        </p:txBody>
      </p:sp>
      <p:sp>
        <p:nvSpPr>
          <p:cNvPr id="102" name="Rounded Rectangle 101">
            <a:extLst>
              <a:ext uri="{FF2B5EF4-FFF2-40B4-BE49-F238E27FC236}">
                <a16:creationId xmlns:a16="http://schemas.microsoft.com/office/drawing/2014/main" id="{DCDF9E11-D99E-A708-5D7F-98D4E23C873E}"/>
              </a:ext>
            </a:extLst>
          </p:cNvPr>
          <p:cNvSpPr/>
          <p:nvPr/>
        </p:nvSpPr>
        <p:spPr>
          <a:xfrm>
            <a:off x="5432930" y="5753738"/>
            <a:ext cx="1317600" cy="439200"/>
          </a:xfrm>
          <a:prstGeom prst="roundRect">
            <a:avLst/>
          </a:prstGeom>
          <a:solidFill>
            <a:srgbClr val="446E3F">
              <a:alpha val="16863"/>
            </a:srgbClr>
          </a:solidFill>
          <a:ln w="25400" cap="flat" cmpd="sng" algn="ctr">
            <a:solidFill>
              <a:schemeClr val="accent2"/>
            </a:solidFill>
            <a:prstDash val="sys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KL Divergence loss</a:t>
            </a:r>
          </a:p>
        </p:txBody>
      </p:sp>
      <p:sp>
        <p:nvSpPr>
          <p:cNvPr id="109" name="TextBox 108">
            <a:extLst>
              <a:ext uri="{FF2B5EF4-FFF2-40B4-BE49-F238E27FC236}">
                <a16:creationId xmlns:a16="http://schemas.microsoft.com/office/drawing/2014/main" id="{F4AE3FC5-27BA-CF59-F2CE-19918483C217}"/>
              </a:ext>
            </a:extLst>
          </p:cNvPr>
          <p:cNvSpPr txBox="1"/>
          <p:nvPr/>
        </p:nvSpPr>
        <p:spPr>
          <a:xfrm rot="19487274">
            <a:off x="9336110" y="5084716"/>
            <a:ext cx="1124262" cy="230832"/>
          </a:xfrm>
          <a:prstGeom prst="rect">
            <a:avLst/>
          </a:prstGeom>
          <a:noFill/>
        </p:spPr>
        <p:txBody>
          <a:bodyPr wrap="square" rtlCol="0">
            <a:spAutoFit/>
          </a:bodyPr>
          <a:lstStyle/>
          <a:p>
            <a:pPr algn="ctr"/>
            <a:r>
              <a:rPr lang="en-US" sz="900" dirty="0"/>
              <a:t>Successful</a:t>
            </a:r>
          </a:p>
        </p:txBody>
      </p:sp>
      <p:sp>
        <p:nvSpPr>
          <p:cNvPr id="110" name="TextBox 109">
            <a:extLst>
              <a:ext uri="{FF2B5EF4-FFF2-40B4-BE49-F238E27FC236}">
                <a16:creationId xmlns:a16="http://schemas.microsoft.com/office/drawing/2014/main" id="{55F14ECF-E10C-5426-74B2-49D4045C44D7}"/>
              </a:ext>
            </a:extLst>
          </p:cNvPr>
          <p:cNvSpPr txBox="1"/>
          <p:nvPr/>
        </p:nvSpPr>
        <p:spPr>
          <a:xfrm rot="2550435">
            <a:off x="9256153" y="5513609"/>
            <a:ext cx="1124262" cy="230832"/>
          </a:xfrm>
          <a:prstGeom prst="rect">
            <a:avLst/>
          </a:prstGeom>
          <a:noFill/>
        </p:spPr>
        <p:txBody>
          <a:bodyPr wrap="square" rtlCol="0">
            <a:spAutoFit/>
          </a:bodyPr>
          <a:lstStyle/>
          <a:p>
            <a:pPr algn="ctr"/>
            <a:r>
              <a:rPr lang="en-US" sz="900" dirty="0"/>
              <a:t>Failed call</a:t>
            </a:r>
          </a:p>
        </p:txBody>
      </p:sp>
      <p:cxnSp>
        <p:nvCxnSpPr>
          <p:cNvPr id="143" name="Elbow Connector 142">
            <a:extLst>
              <a:ext uri="{FF2B5EF4-FFF2-40B4-BE49-F238E27FC236}">
                <a16:creationId xmlns:a16="http://schemas.microsoft.com/office/drawing/2014/main" id="{9AD9573E-E280-0878-0F04-CA621DF10C33}"/>
              </a:ext>
            </a:extLst>
          </p:cNvPr>
          <p:cNvCxnSpPr>
            <a:cxnSpLocks/>
            <a:stCxn id="11" idx="2"/>
            <a:endCxn id="19" idx="1"/>
          </p:cNvCxnSpPr>
          <p:nvPr/>
        </p:nvCxnSpPr>
        <p:spPr>
          <a:xfrm rot="16200000" flipH="1">
            <a:off x="1194675" y="3376169"/>
            <a:ext cx="1821386" cy="2103806"/>
          </a:xfrm>
          <a:prstGeom prst="bentConnector2">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600F2CFF-08EC-B314-864A-08EB768598C9}"/>
                  </a:ext>
                </a:extLst>
              </p:cNvPr>
              <p:cNvSpPr txBox="1"/>
              <p:nvPr/>
            </p:nvSpPr>
            <p:spPr>
              <a:xfrm>
                <a:off x="3279143" y="2921939"/>
                <a:ext cx="984531" cy="230832"/>
              </a:xfrm>
              <a:prstGeom prst="rect">
                <a:avLst/>
              </a:prstGeom>
              <a:noFill/>
            </p:spPr>
            <p:txBody>
              <a:bodyPr wrap="square" rtlCol="0">
                <a:spAutoFit/>
              </a:bodyPr>
              <a:lstStyle/>
              <a:p>
                <a:pPr algn="ctr"/>
                <a:r>
                  <a:rPr lang="en-US" sz="900" dirty="0">
                    <a:solidFill>
                      <a:schemeClr val="accent2"/>
                    </a:solidFill>
                  </a:rPr>
                  <a:t>Yes &gt; </a:t>
                </a:r>
                <a14:m>
                  <m:oMath xmlns:m="http://schemas.openxmlformats.org/officeDocument/2006/math">
                    <m:r>
                      <a:rPr lang="en-US" sz="900" i="1" smtClean="0">
                        <a:solidFill>
                          <a:schemeClr val="accent2"/>
                        </a:solidFill>
                        <a:latin typeface="Cambria Math" panose="02040503050406030204" pitchFamily="18" charset="0"/>
                        <a:ea typeface="Cambria Math" panose="02040503050406030204" pitchFamily="18" charset="0"/>
                      </a:rPr>
                      <m:t>𝛽</m:t>
                    </m:r>
                  </m:oMath>
                </a14:m>
                <a:endParaRPr lang="en-US" sz="900" dirty="0">
                  <a:solidFill>
                    <a:schemeClr val="accent2"/>
                  </a:solidFill>
                </a:endParaRPr>
              </a:p>
            </p:txBody>
          </p:sp>
        </mc:Choice>
        <mc:Fallback xmlns="">
          <p:sp>
            <p:nvSpPr>
              <p:cNvPr id="144" name="TextBox 143">
                <a:extLst>
                  <a:ext uri="{FF2B5EF4-FFF2-40B4-BE49-F238E27FC236}">
                    <a16:creationId xmlns:a16="http://schemas.microsoft.com/office/drawing/2014/main" id="{600F2CFF-08EC-B314-864A-08EB768598C9}"/>
                  </a:ext>
                </a:extLst>
              </p:cNvPr>
              <p:cNvSpPr txBox="1">
                <a:spLocks noRot="1" noChangeAspect="1" noMove="1" noResize="1" noEditPoints="1" noAdjustHandles="1" noChangeArrowheads="1" noChangeShapeType="1" noTextEdit="1"/>
              </p:cNvSpPr>
              <p:nvPr/>
            </p:nvSpPr>
            <p:spPr>
              <a:xfrm>
                <a:off x="3279143" y="2921939"/>
                <a:ext cx="984531" cy="230832"/>
              </a:xfrm>
              <a:prstGeom prst="rect">
                <a:avLst/>
              </a:prstGeom>
              <a:blipFill>
                <a:blip r:embed="rId18"/>
                <a:stretch>
                  <a:fillRect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CBBC4419-33FE-6427-63AD-617E63F5110F}"/>
                  </a:ext>
                </a:extLst>
              </p:cNvPr>
              <p:cNvSpPr txBox="1"/>
              <p:nvPr/>
            </p:nvSpPr>
            <p:spPr>
              <a:xfrm>
                <a:off x="1824735" y="5077023"/>
                <a:ext cx="984531" cy="230832"/>
              </a:xfrm>
              <a:prstGeom prst="rect">
                <a:avLst/>
              </a:prstGeom>
              <a:noFill/>
            </p:spPr>
            <p:txBody>
              <a:bodyPr wrap="square" rtlCol="0">
                <a:spAutoFit/>
              </a:bodyPr>
              <a:lstStyle/>
              <a:p>
                <a:pPr algn="ctr"/>
                <a:r>
                  <a:rPr lang="en-US" sz="900" b="1" dirty="0"/>
                  <a:t>No &lt; </a:t>
                </a:r>
                <a14:m>
                  <m:oMath xmlns:m="http://schemas.openxmlformats.org/officeDocument/2006/math">
                    <m:r>
                      <a:rPr lang="en-US" sz="900" b="1" i="1" smtClean="0">
                        <a:latin typeface="Cambria Math" panose="02040503050406030204" pitchFamily="18" charset="0"/>
                        <a:ea typeface="Cambria Math" panose="02040503050406030204" pitchFamily="18" charset="0"/>
                      </a:rPr>
                      <m:t>𝜷</m:t>
                    </m:r>
                  </m:oMath>
                </a14:m>
                <a:endParaRPr lang="en-US" sz="900" b="1" dirty="0"/>
              </a:p>
            </p:txBody>
          </p:sp>
        </mc:Choice>
        <mc:Fallback xmlns="">
          <p:sp>
            <p:nvSpPr>
              <p:cNvPr id="145" name="TextBox 144">
                <a:extLst>
                  <a:ext uri="{FF2B5EF4-FFF2-40B4-BE49-F238E27FC236}">
                    <a16:creationId xmlns:a16="http://schemas.microsoft.com/office/drawing/2014/main" id="{0C177348-09BE-E2D7-E41C-3A4CB84F2D4F}"/>
                  </a:ext>
                </a:extLst>
              </p:cNvPr>
              <p:cNvSpPr txBox="1">
                <a:spLocks noRot="1" noChangeAspect="1" noMove="1" noResize="1" noEditPoints="1" noAdjustHandles="1" noChangeArrowheads="1" noChangeShapeType="1" noTextEdit="1"/>
              </p:cNvSpPr>
              <p:nvPr/>
            </p:nvSpPr>
            <p:spPr>
              <a:xfrm>
                <a:off x="1824735" y="5077023"/>
                <a:ext cx="984531" cy="230832"/>
              </a:xfrm>
              <a:prstGeom prst="rect">
                <a:avLst/>
              </a:prstGeom>
              <a:blipFill>
                <a:blip r:embed="rId19"/>
                <a:stretch>
                  <a:fillRect b="-5000"/>
                </a:stretch>
              </a:blipFill>
            </p:spPr>
            <p:txBody>
              <a:bodyPr/>
              <a:lstStyle/>
              <a:p>
                <a:r>
                  <a:rPr lang="en-US">
                    <a:noFill/>
                  </a:rPr>
                  <a:t> </a:t>
                </a:r>
              </a:p>
            </p:txBody>
          </p:sp>
        </mc:Fallback>
      </mc:AlternateContent>
      <p:cxnSp>
        <p:nvCxnSpPr>
          <p:cNvPr id="151" name="Elbow Connector 150">
            <a:extLst>
              <a:ext uri="{FF2B5EF4-FFF2-40B4-BE49-F238E27FC236}">
                <a16:creationId xmlns:a16="http://schemas.microsoft.com/office/drawing/2014/main" id="{8744782A-FDF1-3E03-11C2-5E7FF591B3D1}"/>
              </a:ext>
            </a:extLst>
          </p:cNvPr>
          <p:cNvCxnSpPr>
            <a:stCxn id="26" idx="2"/>
            <a:endCxn id="40" idx="0"/>
          </p:cNvCxnSpPr>
          <p:nvPr/>
        </p:nvCxnSpPr>
        <p:spPr>
          <a:xfrm rot="5400000">
            <a:off x="4905188" y="888270"/>
            <a:ext cx="1068273" cy="5678043"/>
          </a:xfrm>
          <a:prstGeom prst="bent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6" name="Elbow Connector 155">
            <a:extLst>
              <a:ext uri="{FF2B5EF4-FFF2-40B4-BE49-F238E27FC236}">
                <a16:creationId xmlns:a16="http://schemas.microsoft.com/office/drawing/2014/main" id="{D059D9B0-EE33-579F-7494-56C8596046AD}"/>
              </a:ext>
            </a:extLst>
          </p:cNvPr>
          <p:cNvCxnSpPr>
            <a:cxnSpLocks/>
            <a:stCxn id="30" idx="2"/>
            <a:endCxn id="19" idx="0"/>
          </p:cNvCxnSpPr>
          <p:nvPr/>
        </p:nvCxnSpPr>
        <p:spPr>
          <a:xfrm rot="16200000" flipH="1">
            <a:off x="3384493" y="4793750"/>
            <a:ext cx="313991" cy="3801"/>
          </a:xfrm>
          <a:prstGeom prst="bentConnector3">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1" name="TextBox 160">
            <a:extLst>
              <a:ext uri="{FF2B5EF4-FFF2-40B4-BE49-F238E27FC236}">
                <a16:creationId xmlns:a16="http://schemas.microsoft.com/office/drawing/2014/main" id="{D1BB4092-F946-51B2-09EE-72C22307E9CE}"/>
              </a:ext>
            </a:extLst>
          </p:cNvPr>
          <p:cNvSpPr txBox="1"/>
          <p:nvPr/>
        </p:nvSpPr>
        <p:spPr>
          <a:xfrm>
            <a:off x="8101733" y="5131179"/>
            <a:ext cx="1124262" cy="461665"/>
          </a:xfrm>
          <a:prstGeom prst="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900" dirty="0">
                <a:solidFill>
                  <a:schemeClr val="tx1"/>
                </a:solidFill>
              </a:rPr>
              <a:t>Check LLM invocation flag</a:t>
            </a:r>
          </a:p>
        </p:txBody>
      </p:sp>
      <p:pic>
        <p:nvPicPr>
          <p:cNvPr id="42" name="Graphic 41" descr="Arrow Right with solid fill">
            <a:extLst>
              <a:ext uri="{FF2B5EF4-FFF2-40B4-BE49-F238E27FC236}">
                <a16:creationId xmlns:a16="http://schemas.microsoft.com/office/drawing/2014/main" id="{6AFCA05F-5A8C-9BF0-3DD7-F9338CFA42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81134" y="5142782"/>
            <a:ext cx="374336" cy="448417"/>
          </a:xfrm>
          <a:prstGeom prst="rect">
            <a:avLst/>
          </a:prstGeom>
        </p:spPr>
      </p:pic>
      <p:pic>
        <p:nvPicPr>
          <p:cNvPr id="45" name="Graphic 44" descr="Arrow Right with solid fill">
            <a:extLst>
              <a:ext uri="{FF2B5EF4-FFF2-40B4-BE49-F238E27FC236}">
                <a16:creationId xmlns:a16="http://schemas.microsoft.com/office/drawing/2014/main" id="{301F11C9-0814-624F-D47F-3260E07C87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3457" y="5143118"/>
            <a:ext cx="303857" cy="448417"/>
          </a:xfrm>
          <a:prstGeom prst="rect">
            <a:avLst/>
          </a:prstGeom>
        </p:spPr>
      </p:pic>
      <p:sp>
        <p:nvSpPr>
          <p:cNvPr id="51" name="TextBox 50">
            <a:extLst>
              <a:ext uri="{FF2B5EF4-FFF2-40B4-BE49-F238E27FC236}">
                <a16:creationId xmlns:a16="http://schemas.microsoft.com/office/drawing/2014/main" id="{DD2E9B33-86C7-D743-1EF3-41C0B168F749}"/>
              </a:ext>
            </a:extLst>
          </p:cNvPr>
          <p:cNvSpPr txBox="1"/>
          <p:nvPr/>
        </p:nvSpPr>
        <p:spPr>
          <a:xfrm>
            <a:off x="9130137" y="5111861"/>
            <a:ext cx="486809" cy="230832"/>
          </a:xfrm>
          <a:prstGeom prst="rect">
            <a:avLst/>
          </a:prstGeom>
          <a:noFill/>
        </p:spPr>
        <p:txBody>
          <a:bodyPr wrap="square">
            <a:spAutoFit/>
          </a:bodyPr>
          <a:lstStyle/>
          <a:p>
            <a:pPr algn="ctr"/>
            <a:r>
              <a:rPr lang="en-US" sz="900" dirty="0"/>
              <a:t>Yes</a:t>
            </a:r>
          </a:p>
        </p:txBody>
      </p:sp>
      <p:cxnSp>
        <p:nvCxnSpPr>
          <p:cNvPr id="67" name="Elbow Connector 66">
            <a:extLst>
              <a:ext uri="{FF2B5EF4-FFF2-40B4-BE49-F238E27FC236}">
                <a16:creationId xmlns:a16="http://schemas.microsoft.com/office/drawing/2014/main" id="{6B9E5601-5C40-6EF3-1F72-B35D27F23D16}"/>
              </a:ext>
            </a:extLst>
          </p:cNvPr>
          <p:cNvCxnSpPr>
            <a:cxnSpLocks/>
            <a:stCxn id="26" idx="2"/>
            <a:endCxn id="19" idx="2"/>
          </p:cNvCxnSpPr>
          <p:nvPr/>
        </p:nvCxnSpPr>
        <p:spPr>
          <a:xfrm rot="5400000">
            <a:off x="4645003" y="2091541"/>
            <a:ext cx="2531728" cy="4734956"/>
          </a:xfrm>
          <a:prstGeom prst="bentConnector3">
            <a:avLst>
              <a:gd name="adj1" fmla="val 138007"/>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TextBox 70">
            <a:extLst>
              <a:ext uri="{FF2B5EF4-FFF2-40B4-BE49-F238E27FC236}">
                <a16:creationId xmlns:a16="http://schemas.microsoft.com/office/drawing/2014/main" id="{8B025C4F-9BAE-C7D5-4BF2-0734FAB7190B}"/>
              </a:ext>
            </a:extLst>
          </p:cNvPr>
          <p:cNvSpPr txBox="1"/>
          <p:nvPr/>
        </p:nvSpPr>
        <p:spPr>
          <a:xfrm>
            <a:off x="8257432" y="4029840"/>
            <a:ext cx="1317939" cy="1061829"/>
          </a:xfrm>
          <a:prstGeom prst="rect">
            <a:avLst/>
          </a:prstGeom>
          <a:noFill/>
        </p:spPr>
        <p:txBody>
          <a:bodyPr wrap="square" rtlCol="0">
            <a:spAutoFit/>
          </a:bodyPr>
          <a:lstStyle/>
          <a:p>
            <a:r>
              <a:rPr lang="en-US" sz="900" b="1" dirty="0">
                <a:solidFill>
                  <a:srgbClr val="C00000"/>
                </a:solidFill>
              </a:rPr>
              <a:t>Once the agent reaches within a threshold (CTD ≤ </a:t>
            </a:r>
            <a:r>
              <a:rPr lang="el-GR" sz="900" b="1" dirty="0">
                <a:solidFill>
                  <a:srgbClr val="C00000"/>
                </a:solidFill>
              </a:rPr>
              <a:t>δ</a:t>
            </a:r>
            <a:r>
              <a:rPr lang="en-US" sz="900" b="1" dirty="0">
                <a:solidFill>
                  <a:srgbClr val="C00000"/>
                </a:solidFill>
              </a:rPr>
              <a:t>)</a:t>
            </a:r>
          </a:p>
          <a:p>
            <a:r>
              <a:rPr lang="en-US" sz="900" b="1" dirty="0"/>
              <a:t>Then continue with PPO policy. </a:t>
            </a:r>
            <a:br>
              <a:rPr lang="en-US" sz="900" b="1" dirty="0"/>
            </a:br>
            <a:br>
              <a:rPr lang="en-US" sz="900" b="1" dirty="0"/>
            </a:br>
            <a:r>
              <a:rPr lang="en-US" sz="900" b="1" dirty="0"/>
              <a:t>Mark CR Flag = TRUE</a:t>
            </a:r>
          </a:p>
        </p:txBody>
      </p:sp>
      <p:cxnSp>
        <p:nvCxnSpPr>
          <p:cNvPr id="44" name="Curved Connector 43">
            <a:extLst>
              <a:ext uri="{FF2B5EF4-FFF2-40B4-BE49-F238E27FC236}">
                <a16:creationId xmlns:a16="http://schemas.microsoft.com/office/drawing/2014/main" id="{874B7C17-688B-52D5-4F32-B7F87B5FA9F6}"/>
              </a:ext>
            </a:extLst>
          </p:cNvPr>
          <p:cNvCxnSpPr>
            <a:cxnSpLocks/>
            <a:stCxn id="30" idx="3"/>
            <a:endCxn id="30" idx="1"/>
          </p:cNvCxnSpPr>
          <p:nvPr/>
        </p:nvCxnSpPr>
        <p:spPr>
          <a:xfrm flipH="1">
            <a:off x="2977457" y="4383551"/>
            <a:ext cx="1124262" cy="12700"/>
          </a:xfrm>
          <a:prstGeom prst="curvedConnector5">
            <a:avLst>
              <a:gd name="adj1" fmla="val -33573"/>
              <a:gd name="adj2" fmla="val -5646724"/>
              <a:gd name="adj3" fmla="val 124116"/>
            </a:avLst>
          </a:prstGeom>
          <a:ln>
            <a:tailEnd type="triangle"/>
          </a:ln>
        </p:spPr>
        <p:style>
          <a:lnRef idx="2">
            <a:schemeClr val="accent2"/>
          </a:lnRef>
          <a:fillRef idx="0">
            <a:schemeClr val="accent2"/>
          </a:fillRef>
          <a:effectRef idx="1">
            <a:schemeClr val="accent2"/>
          </a:effectRef>
          <a:fontRef idx="minor">
            <a:schemeClr val="tx1"/>
          </a:fontRef>
        </p:style>
      </p:cxnSp>
      <p:sp>
        <p:nvSpPr>
          <p:cNvPr id="61" name="TextBox 60">
            <a:extLst>
              <a:ext uri="{FF2B5EF4-FFF2-40B4-BE49-F238E27FC236}">
                <a16:creationId xmlns:a16="http://schemas.microsoft.com/office/drawing/2014/main" id="{F5FD0659-94B1-CEC2-71CC-1B5748E8EBB1}"/>
              </a:ext>
            </a:extLst>
          </p:cNvPr>
          <p:cNvSpPr txBox="1"/>
          <p:nvPr/>
        </p:nvSpPr>
        <p:spPr>
          <a:xfrm>
            <a:off x="2155230" y="3306214"/>
            <a:ext cx="3128248" cy="369332"/>
          </a:xfrm>
          <a:prstGeom prst="rect">
            <a:avLst/>
          </a:prstGeom>
          <a:noFill/>
        </p:spPr>
        <p:txBody>
          <a:bodyPr wrap="square">
            <a:spAutoFit/>
          </a:bodyPr>
          <a:lstStyle/>
          <a:p>
            <a:pPr algn="ctr"/>
            <a:r>
              <a:rPr lang="en-US" sz="900" b="1" dirty="0"/>
              <a:t>“T” Latent loops of self-attention (2-3) before fixating on the same embedding </a:t>
            </a:r>
            <a:r>
              <a:rPr lang="en-US" sz="900" b="1" dirty="0">
                <a:solidFill>
                  <a:srgbClr val="C00000"/>
                </a:solidFill>
              </a:rPr>
              <a:t>(iterative refinement)</a:t>
            </a:r>
          </a:p>
        </p:txBody>
      </p:sp>
      <p:pic>
        <p:nvPicPr>
          <p:cNvPr id="103" name="Graphic 102" descr="Badge Follow with solid fill">
            <a:extLst>
              <a:ext uri="{FF2B5EF4-FFF2-40B4-BE49-F238E27FC236}">
                <a16:creationId xmlns:a16="http://schemas.microsoft.com/office/drawing/2014/main" id="{F2FA606E-51AF-42C3-61D5-6A83BACA722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5919753" y="5524339"/>
            <a:ext cx="344606" cy="344606"/>
          </a:xfrm>
          <a:prstGeom prst="rect">
            <a:avLst/>
          </a:prstGeom>
        </p:spPr>
      </p:pic>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DC409BF-C4E4-F575-EDF4-2E5C688CBFDB}"/>
                  </a:ext>
                </a:extLst>
              </p:cNvPr>
              <p:cNvSpPr txBox="1"/>
              <p:nvPr/>
            </p:nvSpPr>
            <p:spPr>
              <a:xfrm>
                <a:off x="5202933" y="6242335"/>
                <a:ext cx="3002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m:t>
                      </m:r>
                    </m:oMath>
                  </m:oMathPara>
                </a14:m>
                <a:endParaRPr lang="en-US" sz="1800" dirty="0"/>
              </a:p>
            </p:txBody>
          </p:sp>
        </mc:Choice>
        <mc:Fallback xmlns="">
          <p:sp>
            <p:nvSpPr>
              <p:cNvPr id="66" name="TextBox 65">
                <a:extLst>
                  <a:ext uri="{FF2B5EF4-FFF2-40B4-BE49-F238E27FC236}">
                    <a16:creationId xmlns:a16="http://schemas.microsoft.com/office/drawing/2014/main" id="{4DC409BF-C4E4-F575-EDF4-2E5C688CBFDB}"/>
                  </a:ext>
                </a:extLst>
              </p:cNvPr>
              <p:cNvSpPr txBox="1">
                <a:spLocks noRot="1" noChangeAspect="1" noMove="1" noResize="1" noEditPoints="1" noAdjustHandles="1" noChangeArrowheads="1" noChangeShapeType="1" noTextEdit="1"/>
              </p:cNvSpPr>
              <p:nvPr/>
            </p:nvSpPr>
            <p:spPr>
              <a:xfrm>
                <a:off x="5202933" y="6242335"/>
                <a:ext cx="300217" cy="369332"/>
              </a:xfrm>
              <a:prstGeom prst="rect">
                <a:avLst/>
              </a:prstGeom>
              <a:blipFill>
                <a:blip r:embed="rId20"/>
                <a:stretch>
                  <a:fillRect r="-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0D81B82E-C535-1C0C-9EBD-FD12E58BC478}"/>
                  </a:ext>
                </a:extLst>
              </p:cNvPr>
              <p:cNvSpPr txBox="1"/>
              <p:nvPr/>
            </p:nvSpPr>
            <p:spPr>
              <a:xfrm>
                <a:off x="1474863" y="4136488"/>
                <a:ext cx="984531" cy="230832"/>
              </a:xfrm>
              <a:prstGeom prst="rect">
                <a:avLst/>
              </a:prstGeom>
              <a:noFill/>
            </p:spPr>
            <p:txBody>
              <a:bodyPr wrap="square" rtlCol="0">
                <a:spAutoFit/>
              </a:bodyPr>
              <a:lstStyle/>
              <a:p>
                <a:pPr algn="ctr"/>
                <a:r>
                  <a:rPr lang="en-US" sz="900" dirty="0">
                    <a:solidFill>
                      <a:schemeClr val="accent2"/>
                    </a:solidFill>
                  </a:rPr>
                  <a:t>Yes &gt; </a:t>
                </a:r>
                <a14:m>
                  <m:oMath xmlns:m="http://schemas.openxmlformats.org/officeDocument/2006/math">
                    <m:r>
                      <a:rPr lang="en-US" sz="900" i="1" smtClean="0">
                        <a:solidFill>
                          <a:schemeClr val="accent2"/>
                        </a:solidFill>
                        <a:latin typeface="Cambria Math" panose="02040503050406030204" pitchFamily="18" charset="0"/>
                        <a:ea typeface="Cambria Math" panose="02040503050406030204" pitchFamily="18" charset="0"/>
                      </a:rPr>
                      <m:t>𝛽</m:t>
                    </m:r>
                  </m:oMath>
                </a14:m>
                <a:endParaRPr lang="en-US" sz="900" dirty="0">
                  <a:solidFill>
                    <a:schemeClr val="accent2"/>
                  </a:solidFill>
                </a:endParaRPr>
              </a:p>
            </p:txBody>
          </p:sp>
        </mc:Choice>
        <mc:Fallback xmlns="">
          <p:sp>
            <p:nvSpPr>
              <p:cNvPr id="68" name="TextBox 67">
                <a:extLst>
                  <a:ext uri="{FF2B5EF4-FFF2-40B4-BE49-F238E27FC236}">
                    <a16:creationId xmlns:a16="http://schemas.microsoft.com/office/drawing/2014/main" id="{0D81B82E-C535-1C0C-9EBD-FD12E58BC478}"/>
                  </a:ext>
                </a:extLst>
              </p:cNvPr>
              <p:cNvSpPr txBox="1">
                <a:spLocks noRot="1" noChangeAspect="1" noMove="1" noResize="1" noEditPoints="1" noAdjustHandles="1" noChangeArrowheads="1" noChangeShapeType="1" noTextEdit="1"/>
              </p:cNvSpPr>
              <p:nvPr/>
            </p:nvSpPr>
            <p:spPr>
              <a:xfrm>
                <a:off x="1474863" y="4136488"/>
                <a:ext cx="984531" cy="230832"/>
              </a:xfrm>
              <a:prstGeom prst="rect">
                <a:avLst/>
              </a:prstGeom>
              <a:blipFill>
                <a:blip r:embed="rId21"/>
                <a:stretch>
                  <a:fillRect b="-1052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D3782E1A-5BA7-5AD9-AD3F-FD407C8C1729}"/>
              </a:ext>
            </a:extLst>
          </p:cNvPr>
          <p:cNvSpPr txBox="1"/>
          <p:nvPr/>
        </p:nvSpPr>
        <p:spPr>
          <a:xfrm>
            <a:off x="8179928" y="3320770"/>
            <a:ext cx="1366644" cy="230832"/>
          </a:xfrm>
          <a:prstGeom prst="rect">
            <a:avLst/>
          </a:prstGeom>
          <a:noFill/>
        </p:spPr>
        <p:txBody>
          <a:bodyPr wrap="square" rtlCol="0">
            <a:spAutoFit/>
          </a:bodyPr>
          <a:lstStyle/>
          <a:p>
            <a:pPr algn="ctr"/>
            <a:r>
              <a:rPr lang="en-US" sz="900" b="1" dirty="0">
                <a:solidFill>
                  <a:srgbClr val="C00000"/>
                </a:solidFill>
              </a:rPr>
              <a:t>When phase 1 is over</a:t>
            </a:r>
          </a:p>
        </p:txBody>
      </p:sp>
    </p:spTree>
    <p:extLst>
      <p:ext uri="{BB962C8B-B14F-4D97-AF65-F5344CB8AC3E}">
        <p14:creationId xmlns:p14="http://schemas.microsoft.com/office/powerpoint/2010/main" val="1452850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003621-6F2A-6519-D521-C3E254404F2C}"/>
                  </a:ext>
                </a:extLst>
              </p:cNvPr>
              <p:cNvSpPr>
                <a:spLocks noGrp="1"/>
              </p:cNvSpPr>
              <p:nvPr>
                <p:ph idx="1"/>
              </p:nvPr>
            </p:nvSpPr>
            <p:spPr>
              <a:xfrm>
                <a:off x="838200" y="385763"/>
                <a:ext cx="10515600" cy="5791200"/>
              </a:xfrm>
            </p:spPr>
            <p:txBody>
              <a:bodyPr>
                <a:normAutofit/>
              </a:bodyPr>
              <a:lstStyle/>
              <a:p>
                <a:pPr marL="0" indent="0" algn="ctr">
                  <a:buNone/>
                </a:pPr>
                <a:r>
                  <a:rPr lang="en-SG" b="1" dirty="0"/>
                  <a:t>Architectural Rationales</a:t>
                </a:r>
              </a:p>
              <a:p>
                <a:pPr marL="0" indent="0" algn="ctr">
                  <a:buNone/>
                </a:pPr>
                <a:endParaRPr lang="en-SG" sz="1600" b="1" dirty="0"/>
              </a:p>
              <a:p>
                <a:pPr marL="0" indent="0">
                  <a:lnSpc>
                    <a:spcPct val="150000"/>
                  </a:lnSpc>
                  <a:buNone/>
                </a:pPr>
                <a:endParaRPr lang="en-SG" sz="1600" dirty="0"/>
              </a:p>
              <a:p>
                <a:pPr>
                  <a:lnSpc>
                    <a:spcPct val="150000"/>
                  </a:lnSpc>
                </a:pPr>
                <a:r>
                  <a:rPr lang="en-SG" sz="1600" dirty="0"/>
                  <a:t>With </a:t>
                </a:r>
                <a:r>
                  <a:rPr lang="en-SG" sz="1600" b="1" dirty="0"/>
                  <a:t>single-step LLM-</a:t>
                </a:r>
                <a:r>
                  <a:rPr lang="en-SG" sz="1600" b="1" baseline="-25000" dirty="0"/>
                  <a:t>Action</a:t>
                </a:r>
                <a:r>
                  <a:rPr lang="en-SG" sz="1600" dirty="0"/>
                  <a:t>, we’d need to call the LLM every timestep during a crisis to keep steering. That’s </a:t>
                </a:r>
                <a:r>
                  <a:rPr lang="en-SG" sz="1600" b="1" dirty="0"/>
                  <a:t>costly and introduces latency moreover single step advise is noisy, the next step can undo the LLM-</a:t>
                </a:r>
                <a:r>
                  <a:rPr lang="en-SG" sz="1600" b="1" baseline="-25000" dirty="0"/>
                  <a:t>Action</a:t>
                </a:r>
                <a:r>
                  <a:rPr lang="en-SG" sz="1600" b="1" dirty="0"/>
                  <a:t>.</a:t>
                </a:r>
                <a:r>
                  <a:rPr lang="en-SG" sz="1600" dirty="0"/>
                  <a:t> A multi-step plan bundles guidance, so you only call the LLM once per event (unless it fails), and the student can execute several steps before needing further advice.</a:t>
                </a:r>
              </a:p>
              <a:p>
                <a:pPr>
                  <a:lnSpc>
                    <a:spcPct val="150000"/>
                  </a:lnSpc>
                </a:pPr>
                <a:r>
                  <a:rPr lang="en-SG" sz="1600" b="1" dirty="0"/>
                  <a:t>Early gating through </a:t>
                </a:r>
                <a14:m>
                  <m:oMath xmlns:m="http://schemas.openxmlformats.org/officeDocument/2006/math">
                    <m:r>
                      <a:rPr lang="en-SG" sz="1600" b="1" i="1">
                        <a:latin typeface="Cambria Math" panose="02040503050406030204" pitchFamily="18" charset="0"/>
                        <a:ea typeface="Cambria Math" panose="02040503050406030204" pitchFamily="18" charset="0"/>
                      </a:rPr>
                      <m:t>𝜷</m:t>
                    </m:r>
                  </m:oMath>
                </a14:m>
                <a:r>
                  <a:rPr lang="en-SG" sz="1600" b="1" dirty="0"/>
                  <a:t> means the LLM is invoked only in the tail / high-risk regime. The student gets guidance exactly when it matters </a:t>
                </a:r>
                <a:r>
                  <a:rPr lang="en-SG" sz="1600" dirty="0"/>
                  <a:t>— rather than the LLM shaping behaviour everywhere and diluting its signal.</a:t>
                </a:r>
              </a:p>
              <a:p>
                <a:pPr>
                  <a:lnSpc>
                    <a:spcPct val="150000"/>
                  </a:lnSpc>
                </a:pPr>
                <a:r>
                  <a:rPr lang="en-SG" sz="1600" dirty="0"/>
                  <a:t>Passing that through </a:t>
                </a:r>
                <a:r>
                  <a:rPr lang="en-SG" sz="1600" b="1" dirty="0"/>
                  <a:t>self-attention</a:t>
                </a:r>
                <a:r>
                  <a:rPr lang="en-SG" sz="1600" dirty="0"/>
                  <a:t> multiple times (2–3 </a:t>
                </a:r>
                <a:r>
                  <a:rPr lang="en-SG" sz="1600" b="1" dirty="0"/>
                  <a:t>loops) lets the model internally sharpen or reconcile conflicts in that intent + state mix before committing to an action.</a:t>
                </a:r>
                <a:endParaRPr lang="en-SG" sz="1600" dirty="0"/>
              </a:p>
              <a:p>
                <a:pPr>
                  <a:lnSpc>
                    <a:spcPct val="150000"/>
                  </a:lnSpc>
                </a:pPr>
                <a:endParaRPr lang="en-SG" sz="1600" dirty="0"/>
              </a:p>
              <a:p>
                <a:pPr>
                  <a:lnSpc>
                    <a:spcPct val="150000"/>
                  </a:lnSpc>
                </a:pPr>
                <a:endParaRPr lang="en-SG" sz="1600" dirty="0"/>
              </a:p>
              <a:p>
                <a:endParaRPr lang="en-US" dirty="0"/>
              </a:p>
            </p:txBody>
          </p:sp>
        </mc:Choice>
        <mc:Fallback xmlns="">
          <p:sp>
            <p:nvSpPr>
              <p:cNvPr id="3" name="Content Placeholder 2">
                <a:extLst>
                  <a:ext uri="{FF2B5EF4-FFF2-40B4-BE49-F238E27FC236}">
                    <a16:creationId xmlns:a16="http://schemas.microsoft.com/office/drawing/2014/main" id="{34003621-6F2A-6519-D521-C3E254404F2C}"/>
                  </a:ext>
                </a:extLst>
              </p:cNvPr>
              <p:cNvSpPr>
                <a:spLocks noGrp="1" noRot="1" noChangeAspect="1" noMove="1" noResize="1" noEditPoints="1" noAdjustHandles="1" noChangeArrowheads="1" noChangeShapeType="1" noTextEdit="1"/>
              </p:cNvSpPr>
              <p:nvPr>
                <p:ph idx="1"/>
              </p:nvPr>
            </p:nvSpPr>
            <p:spPr>
              <a:xfrm>
                <a:off x="838200" y="385763"/>
                <a:ext cx="10515600" cy="5791200"/>
              </a:xfrm>
              <a:blipFill>
                <a:blip r:embed="rId2"/>
                <a:stretch>
                  <a:fillRect l="-362" t="-1751"/>
                </a:stretch>
              </a:blipFill>
            </p:spPr>
            <p:txBody>
              <a:bodyPr/>
              <a:lstStyle/>
              <a:p>
                <a:r>
                  <a:rPr lang="en-US">
                    <a:noFill/>
                  </a:rPr>
                  <a:t> </a:t>
                </a:r>
              </a:p>
            </p:txBody>
          </p:sp>
        </mc:Fallback>
      </mc:AlternateContent>
    </p:spTree>
    <p:extLst>
      <p:ext uri="{BB962C8B-B14F-4D97-AF65-F5344CB8AC3E}">
        <p14:creationId xmlns:p14="http://schemas.microsoft.com/office/powerpoint/2010/main" val="23524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45F70-058B-F784-BA29-B00D18C5D5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5D8160-3C98-19EC-8CF9-9A50EE19A242}"/>
              </a:ext>
            </a:extLst>
          </p:cNvPr>
          <p:cNvSpPr>
            <a:spLocks noGrp="1"/>
          </p:cNvSpPr>
          <p:nvPr>
            <p:ph idx="1"/>
          </p:nvPr>
        </p:nvSpPr>
        <p:spPr>
          <a:xfrm>
            <a:off x="838200" y="416689"/>
            <a:ext cx="10515600" cy="5760274"/>
          </a:xfrm>
        </p:spPr>
        <p:txBody>
          <a:bodyPr>
            <a:normAutofit fontScale="92500" lnSpcReduction="10000"/>
          </a:bodyPr>
          <a:lstStyle/>
          <a:p>
            <a:pPr marL="0" indent="0" algn="ctr">
              <a:buNone/>
            </a:pPr>
            <a:r>
              <a:rPr lang="en-SG" b="1" dirty="0"/>
              <a:t>Experiment Design:</a:t>
            </a:r>
            <a:endParaRPr lang="en-SG" sz="1600" dirty="0"/>
          </a:p>
          <a:p>
            <a:pPr marL="0" indent="0">
              <a:buNone/>
            </a:pPr>
            <a:r>
              <a:rPr lang="en-SG" sz="1600" b="1" dirty="0"/>
              <a:t>Three Objectives:</a:t>
            </a:r>
          </a:p>
          <a:p>
            <a:pPr>
              <a:lnSpc>
                <a:spcPct val="100000"/>
              </a:lnSpc>
            </a:pPr>
            <a:r>
              <a:rPr lang="en-SG" sz="1400" dirty="0"/>
              <a:t>Evaluate whether sparse long-tail event injections + targeted LLM guidance improve robustness.</a:t>
            </a:r>
          </a:p>
          <a:p>
            <a:pPr>
              <a:lnSpc>
                <a:spcPct val="100000"/>
              </a:lnSpc>
            </a:pPr>
            <a:r>
              <a:rPr lang="en-SG" sz="1400" dirty="0"/>
              <a:t>Measure efficiency: how much LLM intervention is actually needed (calls per episode) to achieve gains.</a:t>
            </a:r>
          </a:p>
          <a:p>
            <a:pPr>
              <a:lnSpc>
                <a:spcPct val="100000"/>
              </a:lnSpc>
            </a:pPr>
            <a:r>
              <a:rPr lang="en-SG" sz="1400" dirty="0"/>
              <a:t>Ablate the contribution of prompt richness and scenario difficulty.</a:t>
            </a:r>
          </a:p>
          <a:p>
            <a:pPr marL="0" indent="0">
              <a:lnSpc>
                <a:spcPct val="100000"/>
              </a:lnSpc>
              <a:buNone/>
            </a:pPr>
            <a:endParaRPr lang="en-SG" sz="1400" dirty="0"/>
          </a:p>
          <a:p>
            <a:pPr marL="0" indent="0">
              <a:lnSpc>
                <a:spcPct val="100000"/>
              </a:lnSpc>
              <a:buNone/>
            </a:pPr>
            <a:r>
              <a:rPr lang="en-SG" sz="1600" b="1" dirty="0"/>
              <a:t>Axes of Variation:</a:t>
            </a:r>
          </a:p>
          <a:p>
            <a:pPr marL="342900" indent="-342900">
              <a:lnSpc>
                <a:spcPct val="100000"/>
              </a:lnSpc>
              <a:buFont typeface="+mj-lt"/>
              <a:buAutoNum type="arabicPeriod"/>
            </a:pPr>
            <a:r>
              <a:rPr lang="en-SG" sz="1400" dirty="0"/>
              <a:t>Prompt Levels (inspired by </a:t>
            </a:r>
            <a:r>
              <a:rPr lang="en-SG" sz="1400" dirty="0" err="1"/>
              <a:t>iLLM</a:t>
            </a:r>
            <a:r>
              <a:rPr lang="en-SG" sz="1400" dirty="0"/>
              <a:t>-TSC):</a:t>
            </a:r>
          </a:p>
          <a:p>
            <a:pPr lvl="1">
              <a:lnSpc>
                <a:spcPct val="100000"/>
              </a:lnSpc>
            </a:pPr>
            <a:r>
              <a:rPr lang="en-SG" sz="1400" b="1" dirty="0"/>
              <a:t>Level 1 (Basic): </a:t>
            </a:r>
            <a:r>
              <a:rPr lang="en-SG" sz="1400" dirty="0"/>
              <a:t>Only essential high-level instruction (e.g., “Maintain safe separation”).</a:t>
            </a:r>
          </a:p>
          <a:p>
            <a:pPr lvl="1">
              <a:lnSpc>
                <a:spcPct val="100000"/>
              </a:lnSpc>
            </a:pPr>
            <a:r>
              <a:rPr lang="en-SG" sz="1400" b="1" dirty="0"/>
              <a:t>Level 2 (Contextual): </a:t>
            </a:r>
            <a:r>
              <a:rPr lang="en-SG" sz="1400" dirty="0"/>
              <a:t>+ domain constraints (weather presence, no-go zones, emergency priority flags).</a:t>
            </a:r>
          </a:p>
          <a:p>
            <a:pPr lvl="1">
              <a:lnSpc>
                <a:spcPct val="100000"/>
              </a:lnSpc>
            </a:pPr>
            <a:r>
              <a:rPr lang="en-SG" sz="1400" b="1" dirty="0"/>
              <a:t>Level 3 (Full):</a:t>
            </a:r>
            <a:r>
              <a:rPr lang="en-SG" sz="1400" dirty="0"/>
              <a:t> + retrieved similar past cases, explicit termination criteria, controller preferences (e.g., minimize deviation).</a:t>
            </a:r>
          </a:p>
          <a:p>
            <a:pPr marL="457200" lvl="1" indent="0">
              <a:lnSpc>
                <a:spcPct val="100000"/>
              </a:lnSpc>
              <a:buNone/>
            </a:pPr>
            <a:endParaRPr lang="en-SG" sz="1400" dirty="0"/>
          </a:p>
          <a:p>
            <a:pPr marL="342900" indent="-342900">
              <a:lnSpc>
                <a:spcPct val="100000"/>
              </a:lnSpc>
              <a:buFont typeface="+mj-lt"/>
              <a:buAutoNum type="arabicPeriod"/>
              <a:defRPr/>
            </a:pPr>
            <a:r>
              <a:rPr lang="en-SG" sz="1400" dirty="0">
                <a:solidFill>
                  <a:prstClr val="black"/>
                </a:solidFill>
              </a:rPr>
              <a:t>Scenario Tiers (inspired by </a:t>
            </a:r>
            <a:r>
              <a:rPr lang="en-SG" sz="1400" dirty="0" err="1">
                <a:solidFill>
                  <a:prstClr val="black"/>
                </a:solidFill>
              </a:rPr>
              <a:t>TeLL</a:t>
            </a:r>
            <a:r>
              <a:rPr lang="en-SG" sz="1400" dirty="0">
                <a:solidFill>
                  <a:prstClr val="black"/>
                </a:solidFill>
              </a:rPr>
              <a:t>-Drive’s complexity hierarchy):</a:t>
            </a:r>
            <a:endParaRPr lang="en-SG" sz="1400" dirty="0"/>
          </a:p>
          <a:p>
            <a:pPr lvl="1">
              <a:lnSpc>
                <a:spcPct val="100000"/>
              </a:lnSpc>
              <a:defRPr/>
            </a:pPr>
            <a:r>
              <a:rPr kumimoji="0" lang="en-SG" sz="1400" b="1" i="0" u="none" strike="noStrike" kern="1200" cap="none" spc="0" normalizeH="0" baseline="0" noProof="0" dirty="0">
                <a:ln>
                  <a:noFill/>
                </a:ln>
                <a:solidFill>
                  <a:prstClr val="black"/>
                </a:solidFill>
                <a:effectLst/>
                <a:uLnTx/>
                <a:uFillTx/>
                <a:latin typeface="Aptos" panose="02110004020202020204"/>
                <a:ea typeface="+mn-ea"/>
                <a:cs typeface="+mn-cs"/>
              </a:rPr>
              <a:t>Simple conflict: </a:t>
            </a:r>
            <a:r>
              <a:rPr kumimoji="0" lang="en-SG" sz="1400" b="0" i="0" u="none" strike="noStrike" kern="1200" cap="none" spc="0" normalizeH="0" baseline="0" noProof="0" dirty="0">
                <a:ln>
                  <a:noFill/>
                </a:ln>
                <a:solidFill>
                  <a:prstClr val="black"/>
                </a:solidFill>
                <a:effectLst/>
                <a:uLnTx/>
                <a:uFillTx/>
                <a:latin typeface="Aptos" panose="02110004020202020204"/>
                <a:ea typeface="+mn-ea"/>
                <a:cs typeface="+mn-cs"/>
              </a:rPr>
              <a:t>Two-aircraft crossing without external disturbances.</a:t>
            </a:r>
          </a:p>
          <a:p>
            <a:pPr lvl="1">
              <a:lnSpc>
                <a:spcPct val="100000"/>
              </a:lnSpc>
              <a:defRPr/>
            </a:pPr>
            <a:r>
              <a:rPr kumimoji="0" lang="en-SG" sz="1400" b="1" i="0" u="none" strike="noStrike" kern="1200" cap="none" spc="0" normalizeH="0" baseline="0" noProof="0" dirty="0">
                <a:ln>
                  <a:noFill/>
                </a:ln>
                <a:solidFill>
                  <a:prstClr val="black"/>
                </a:solidFill>
                <a:effectLst/>
                <a:uLnTx/>
                <a:uFillTx/>
                <a:latin typeface="Aptos" panose="02110004020202020204"/>
                <a:ea typeface="+mn-ea"/>
                <a:cs typeface="+mn-cs"/>
              </a:rPr>
              <a:t>Compound stress:</a:t>
            </a:r>
            <a:r>
              <a:rPr kumimoji="0" lang="en-SG" sz="1400" b="0" i="0" u="none" strike="noStrike" kern="1200" cap="none" spc="0" normalizeH="0" baseline="0" noProof="0" dirty="0">
                <a:ln>
                  <a:noFill/>
                </a:ln>
                <a:solidFill>
                  <a:prstClr val="black"/>
                </a:solidFill>
                <a:effectLst/>
                <a:uLnTx/>
                <a:uFillTx/>
                <a:latin typeface="Aptos" panose="02110004020202020204"/>
                <a:ea typeface="+mn-ea"/>
                <a:cs typeface="+mn-cs"/>
              </a:rPr>
              <a:t> Chain conflicts with a nearby thunderstorm cell or degraded comms.</a:t>
            </a:r>
          </a:p>
          <a:p>
            <a:pPr lvl="1">
              <a:lnSpc>
                <a:spcPct val="100000"/>
              </a:lnSpc>
              <a:defRPr/>
            </a:pPr>
            <a:r>
              <a:rPr kumimoji="0" lang="en-SG" sz="1400" b="1" i="1"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High-stakes blended long-tail</a:t>
            </a:r>
            <a:r>
              <a:rPr kumimoji="0" lang="en-SG" sz="1400" b="0" i="1"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 Emergency priority flight + navigation failure + dynamic no-go zone (e.g., sudden airspace closure)</a:t>
            </a:r>
            <a:r>
              <a:rPr kumimoji="0" lang="en-SG" sz="14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a:t>
            </a:r>
          </a:p>
          <a:p>
            <a:pPr marL="342900" indent="-342900">
              <a:lnSpc>
                <a:spcPct val="100000"/>
              </a:lnSpc>
              <a:buFont typeface="+mj-lt"/>
              <a:buAutoNum type="arabicPeriod"/>
              <a:defRPr/>
            </a:pPr>
            <a:r>
              <a:rPr lang="en-SG" sz="1400" dirty="0">
                <a:solidFill>
                  <a:prstClr val="black"/>
                </a:solidFill>
              </a:rPr>
              <a:t>Injection-rate sweep:</a:t>
            </a:r>
            <a:endParaRPr kumimoji="0" lang="en-SG" sz="1400" b="0" i="0" u="none" strike="noStrike" kern="1200" cap="none" spc="0" normalizeH="0" baseline="0" noProof="0" dirty="0">
              <a:ln>
                <a:noFill/>
              </a:ln>
              <a:solidFill>
                <a:prstClr val="black"/>
              </a:solidFill>
              <a:effectLst/>
              <a:uLnTx/>
              <a:uFillTx/>
              <a:latin typeface="Aptos" panose="02110004020202020204"/>
              <a:ea typeface="+mn-ea"/>
              <a:cs typeface="+mn-cs"/>
            </a:endParaRPr>
          </a:p>
          <a:p>
            <a:pPr lvl="1">
              <a:lnSpc>
                <a:spcPct val="100000"/>
              </a:lnSpc>
              <a:defRPr/>
            </a:pPr>
            <a:r>
              <a:rPr lang="en-SG" sz="1400" b="1" dirty="0">
                <a:solidFill>
                  <a:prstClr val="black"/>
                </a:solidFill>
                <a:latin typeface="Aptos" panose="02110004020202020204"/>
              </a:rPr>
              <a:t>Setup: Train several agents with varying percentages of long-tail injections (1 %, 3 %, 5 %, 10 %).</a:t>
            </a:r>
          </a:p>
          <a:p>
            <a:pPr lvl="1">
              <a:lnSpc>
                <a:spcPct val="100000"/>
              </a:lnSpc>
              <a:defRPr/>
            </a:pPr>
            <a:r>
              <a:rPr lang="en-SG" sz="1400" dirty="0">
                <a:solidFill>
                  <a:prstClr val="black"/>
                </a:solidFill>
                <a:latin typeface="Aptos" panose="02110004020202020204"/>
              </a:rPr>
              <a:t>Goal: Show that we can hit the same conformance bar while steadily improving crisis handling</a:t>
            </a:r>
          </a:p>
        </p:txBody>
      </p:sp>
    </p:spTree>
    <p:extLst>
      <p:ext uri="{BB962C8B-B14F-4D97-AF65-F5344CB8AC3E}">
        <p14:creationId xmlns:p14="http://schemas.microsoft.com/office/powerpoint/2010/main" val="995623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9AFB3-2692-A945-31C0-E0FFF833F3DF}"/>
            </a:ext>
          </a:extLst>
        </p:cNvPr>
        <p:cNvGrpSpPr/>
        <p:nvPr/>
      </p:nvGrpSpPr>
      <p:grpSpPr>
        <a:xfrm>
          <a:off x="0" y="0"/>
          <a:ext cx="0" cy="0"/>
          <a:chOff x="0" y="0"/>
          <a:chExt cx="0" cy="0"/>
        </a:xfrm>
      </p:grpSpPr>
      <p:sp>
        <p:nvSpPr>
          <p:cNvPr id="84" name="Rounded Rectangle 83">
            <a:extLst>
              <a:ext uri="{FF2B5EF4-FFF2-40B4-BE49-F238E27FC236}">
                <a16:creationId xmlns:a16="http://schemas.microsoft.com/office/drawing/2014/main" id="{8DDA913C-073F-99F1-8F65-99769B6A14C1}"/>
              </a:ext>
            </a:extLst>
          </p:cNvPr>
          <p:cNvSpPr/>
          <p:nvPr/>
        </p:nvSpPr>
        <p:spPr>
          <a:xfrm>
            <a:off x="2016690" y="115746"/>
            <a:ext cx="4896119" cy="3224501"/>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81449DC0-6CF4-C4E5-654C-D7065A0D9D87}"/>
              </a:ext>
            </a:extLst>
          </p:cNvPr>
          <p:cNvSpPr/>
          <p:nvPr/>
        </p:nvSpPr>
        <p:spPr>
          <a:xfrm>
            <a:off x="7350278" y="5029439"/>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Entropy loss</a:t>
            </a:r>
            <a:endParaRPr lang="en-US" sz="1100" dirty="0">
              <a:solidFill>
                <a:schemeClr val="tx1"/>
              </a:solidFill>
            </a:endParaRPr>
          </a:p>
        </p:txBody>
      </p:sp>
      <p:sp>
        <p:nvSpPr>
          <p:cNvPr id="48" name="Rounded Rectangle 47">
            <a:extLst>
              <a:ext uri="{FF2B5EF4-FFF2-40B4-BE49-F238E27FC236}">
                <a16:creationId xmlns:a16="http://schemas.microsoft.com/office/drawing/2014/main" id="{B0703246-D6E8-6B5A-7D22-6C3965E67EBF}"/>
              </a:ext>
            </a:extLst>
          </p:cNvPr>
          <p:cNvSpPr/>
          <p:nvPr/>
        </p:nvSpPr>
        <p:spPr>
          <a:xfrm>
            <a:off x="7355387" y="4501484"/>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Value-Function Loss</a:t>
            </a:r>
          </a:p>
        </p:txBody>
      </p:sp>
      <p:sp>
        <p:nvSpPr>
          <p:cNvPr id="5" name="Rounded Rectangle 4">
            <a:extLst>
              <a:ext uri="{FF2B5EF4-FFF2-40B4-BE49-F238E27FC236}">
                <a16:creationId xmlns:a16="http://schemas.microsoft.com/office/drawing/2014/main" id="{EDF43462-44DD-785A-0970-4CC3042D00A1}"/>
              </a:ext>
            </a:extLst>
          </p:cNvPr>
          <p:cNvSpPr/>
          <p:nvPr/>
        </p:nvSpPr>
        <p:spPr>
          <a:xfrm>
            <a:off x="2450721" y="2338161"/>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Calculate TTCP</a:t>
            </a:r>
          </a:p>
        </p:txBody>
      </p:sp>
      <p:pic>
        <p:nvPicPr>
          <p:cNvPr id="6" name="Picture 5" descr="A black background with a black square&#10;&#10;AI-generated content may be incorrect.">
            <a:extLst>
              <a:ext uri="{FF2B5EF4-FFF2-40B4-BE49-F238E27FC236}">
                <a16:creationId xmlns:a16="http://schemas.microsoft.com/office/drawing/2014/main" id="{5BD4F66B-048C-E030-6B72-5101BFBE84F5}"/>
              </a:ext>
            </a:extLst>
          </p:cNvPr>
          <p:cNvPicPr>
            <a:picLocks noChangeAspect="1"/>
          </p:cNvPicPr>
          <p:nvPr/>
        </p:nvPicPr>
        <p:blipFill>
          <a:blip r:embed="rId3"/>
          <a:stretch>
            <a:fillRect/>
          </a:stretch>
        </p:blipFill>
        <p:spPr>
          <a:xfrm>
            <a:off x="207436" y="2386104"/>
            <a:ext cx="629587" cy="629587"/>
          </a:xfrm>
          <a:prstGeom prst="rect">
            <a:avLst/>
          </a:prstGeom>
        </p:spPr>
      </p:pic>
      <p:sp>
        <p:nvSpPr>
          <p:cNvPr id="7" name="TextBox 6">
            <a:extLst>
              <a:ext uri="{FF2B5EF4-FFF2-40B4-BE49-F238E27FC236}">
                <a16:creationId xmlns:a16="http://schemas.microsoft.com/office/drawing/2014/main" id="{60452C2D-01C9-C108-B9B5-0FFF96BCBD18}"/>
              </a:ext>
            </a:extLst>
          </p:cNvPr>
          <p:cNvSpPr txBox="1"/>
          <p:nvPr/>
        </p:nvSpPr>
        <p:spPr>
          <a:xfrm>
            <a:off x="102221" y="2917831"/>
            <a:ext cx="835448" cy="400110"/>
          </a:xfrm>
          <a:prstGeom prst="rect">
            <a:avLst/>
          </a:prstGeom>
          <a:noFill/>
        </p:spPr>
        <p:txBody>
          <a:bodyPr wrap="square" rtlCol="0">
            <a:spAutoFit/>
          </a:bodyPr>
          <a:lstStyle/>
          <a:p>
            <a:pPr algn="ctr"/>
            <a:r>
              <a:rPr lang="en-US" sz="1000" dirty="0"/>
              <a:t>State information</a:t>
            </a:r>
          </a:p>
        </p:txBody>
      </p:sp>
      <p:sp>
        <p:nvSpPr>
          <p:cNvPr id="8" name="TextBox 7">
            <a:extLst>
              <a:ext uri="{FF2B5EF4-FFF2-40B4-BE49-F238E27FC236}">
                <a16:creationId xmlns:a16="http://schemas.microsoft.com/office/drawing/2014/main" id="{DF1729AF-7571-FFC9-F4F5-007FE819C9BF}"/>
              </a:ext>
            </a:extLst>
          </p:cNvPr>
          <p:cNvSpPr txBox="1"/>
          <p:nvPr/>
        </p:nvSpPr>
        <p:spPr>
          <a:xfrm>
            <a:off x="2120141" y="1493791"/>
            <a:ext cx="1889929" cy="769441"/>
          </a:xfrm>
          <a:prstGeom prst="rect">
            <a:avLst/>
          </a:prstGeom>
          <a:noFill/>
        </p:spPr>
        <p:txBody>
          <a:bodyPr wrap="square" rtlCol="0">
            <a:spAutoFit/>
          </a:bodyPr>
          <a:lstStyle/>
          <a:p>
            <a:pPr algn="ctr"/>
            <a:r>
              <a:rPr lang="en-US" sz="1100" dirty="0"/>
              <a:t>The decision engine computes the time to conflict and the severity of the conflict</a:t>
            </a:r>
          </a:p>
        </p:txBody>
      </p:sp>
      <p:pic>
        <p:nvPicPr>
          <p:cNvPr id="11" name="Picture 10" descr="A computer server and a yellow object&#10;&#10;AI-generated content may be incorrect.">
            <a:extLst>
              <a:ext uri="{FF2B5EF4-FFF2-40B4-BE49-F238E27FC236}">
                <a16:creationId xmlns:a16="http://schemas.microsoft.com/office/drawing/2014/main" id="{18961661-0B5C-29F9-001E-6224B752775F}"/>
              </a:ext>
            </a:extLst>
          </p:cNvPr>
          <p:cNvPicPr>
            <a:picLocks noChangeAspect="1"/>
          </p:cNvPicPr>
          <p:nvPr/>
        </p:nvPicPr>
        <p:blipFill>
          <a:blip r:embed="rId4"/>
          <a:stretch>
            <a:fillRect/>
          </a:stretch>
        </p:blipFill>
        <p:spPr>
          <a:xfrm>
            <a:off x="4936181" y="1251400"/>
            <a:ext cx="519545" cy="519545"/>
          </a:xfrm>
          <a:prstGeom prst="rect">
            <a:avLst/>
          </a:prstGeom>
        </p:spPr>
      </p:pic>
      <p:sp>
        <p:nvSpPr>
          <p:cNvPr id="12" name="TextBox 11">
            <a:extLst>
              <a:ext uri="{FF2B5EF4-FFF2-40B4-BE49-F238E27FC236}">
                <a16:creationId xmlns:a16="http://schemas.microsoft.com/office/drawing/2014/main" id="{09C7025E-5696-1B1A-788B-7A0954059C92}"/>
              </a:ext>
            </a:extLst>
          </p:cNvPr>
          <p:cNvSpPr txBox="1"/>
          <p:nvPr/>
        </p:nvSpPr>
        <p:spPr>
          <a:xfrm>
            <a:off x="4561054" y="1045967"/>
            <a:ext cx="1124262" cy="246221"/>
          </a:xfrm>
          <a:prstGeom prst="rect">
            <a:avLst/>
          </a:prstGeom>
          <a:noFill/>
        </p:spPr>
        <p:txBody>
          <a:bodyPr wrap="square" rtlCol="0">
            <a:spAutoFit/>
          </a:bodyPr>
          <a:lstStyle/>
          <a:p>
            <a:pPr algn="ctr"/>
            <a:r>
              <a:rPr lang="en-US" sz="1000" dirty="0"/>
              <a:t>Memory context</a:t>
            </a:r>
          </a:p>
        </p:txBody>
      </p:sp>
      <p:pic>
        <p:nvPicPr>
          <p:cNvPr id="13" name="Graphic 12" descr="Arrow Right with solid fill">
            <a:extLst>
              <a:ext uri="{FF2B5EF4-FFF2-40B4-BE49-F238E27FC236}">
                <a16:creationId xmlns:a16="http://schemas.microsoft.com/office/drawing/2014/main" id="{8A9D8210-D19A-4616-4288-49D8CE65A5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5058477" y="1755380"/>
            <a:ext cx="374336" cy="448417"/>
          </a:xfrm>
          <a:prstGeom prst="rect">
            <a:avLst/>
          </a:prstGeom>
        </p:spPr>
      </p:pic>
      <p:sp>
        <p:nvSpPr>
          <p:cNvPr id="14" name="TextBox 13">
            <a:extLst>
              <a:ext uri="{FF2B5EF4-FFF2-40B4-BE49-F238E27FC236}">
                <a16:creationId xmlns:a16="http://schemas.microsoft.com/office/drawing/2014/main" id="{BB2DE975-619C-C359-30C9-2FDC6A68F192}"/>
              </a:ext>
            </a:extLst>
          </p:cNvPr>
          <p:cNvSpPr txBox="1"/>
          <p:nvPr/>
        </p:nvSpPr>
        <p:spPr>
          <a:xfrm>
            <a:off x="3629164" y="384536"/>
            <a:ext cx="3084197" cy="600164"/>
          </a:xfrm>
          <a:prstGeom prst="rect">
            <a:avLst/>
          </a:prstGeom>
          <a:noFill/>
        </p:spPr>
        <p:txBody>
          <a:bodyPr wrap="square" rtlCol="0">
            <a:spAutoFit/>
          </a:bodyPr>
          <a:lstStyle/>
          <a:p>
            <a:pPr algn="ctr"/>
            <a:r>
              <a:rPr lang="en-US" sz="1100" dirty="0"/>
              <a:t>The LLM retrieves similar context/conflicts from the past using cosine similarity and creates a new prompt. Keeps only recent entries</a:t>
            </a:r>
          </a:p>
        </p:txBody>
      </p:sp>
      <p:pic>
        <p:nvPicPr>
          <p:cNvPr id="15" name="Graphic 14" descr="Arrow Right with solid fill">
            <a:extLst>
              <a:ext uri="{FF2B5EF4-FFF2-40B4-BE49-F238E27FC236}">
                <a16:creationId xmlns:a16="http://schemas.microsoft.com/office/drawing/2014/main" id="{0CBCC39C-67DE-A477-9AE3-D697B192A4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91735" y="2387685"/>
            <a:ext cx="374336" cy="448417"/>
          </a:xfrm>
          <a:prstGeom prst="rect">
            <a:avLst/>
          </a:prstGeom>
        </p:spPr>
      </p:pic>
      <p:sp>
        <p:nvSpPr>
          <p:cNvPr id="16" name="Rounded Rectangle 15">
            <a:extLst>
              <a:ext uri="{FF2B5EF4-FFF2-40B4-BE49-F238E27FC236}">
                <a16:creationId xmlns:a16="http://schemas.microsoft.com/office/drawing/2014/main" id="{A71DF718-0CD4-AAE5-B1BA-61A0FB7C9628}"/>
              </a:ext>
            </a:extLst>
          </p:cNvPr>
          <p:cNvSpPr/>
          <p:nvPr/>
        </p:nvSpPr>
        <p:spPr>
          <a:xfrm>
            <a:off x="4310286" y="2274204"/>
            <a:ext cx="1721955"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new Prompt (P):</a:t>
            </a:r>
          </a:p>
          <a:p>
            <a:pPr algn="ctr"/>
            <a:r>
              <a:rPr lang="en-US" sz="1200" dirty="0">
                <a:solidFill>
                  <a:schemeClr val="tx1"/>
                </a:solidFill>
              </a:rPr>
              <a:t>[FACTS], [PAST CASE], [RULES]</a:t>
            </a:r>
          </a:p>
        </p:txBody>
      </p:sp>
      <p:pic>
        <p:nvPicPr>
          <p:cNvPr id="17" name="Picture 16" descr="A blue head with lines and symbols&#10;&#10;AI-generated content may be incorrect.">
            <a:extLst>
              <a:ext uri="{FF2B5EF4-FFF2-40B4-BE49-F238E27FC236}">
                <a16:creationId xmlns:a16="http://schemas.microsoft.com/office/drawing/2014/main" id="{42AEC245-F47B-8AA8-3B3F-B1851F5BB294}"/>
              </a:ext>
            </a:extLst>
          </p:cNvPr>
          <p:cNvPicPr>
            <a:picLocks noChangeAspect="1"/>
          </p:cNvPicPr>
          <p:nvPr/>
        </p:nvPicPr>
        <p:blipFill>
          <a:blip r:embed="rId7"/>
          <a:stretch>
            <a:fillRect/>
          </a:stretch>
        </p:blipFill>
        <p:spPr>
          <a:xfrm>
            <a:off x="4490989" y="4268867"/>
            <a:ext cx="772236" cy="772236"/>
          </a:xfrm>
          <a:prstGeom prst="rect">
            <a:avLst/>
          </a:prstGeom>
        </p:spPr>
      </p:pic>
      <p:pic>
        <p:nvPicPr>
          <p:cNvPr id="18" name="Graphic 17" descr="Arrow Right with solid fill">
            <a:extLst>
              <a:ext uri="{FF2B5EF4-FFF2-40B4-BE49-F238E27FC236}">
                <a16:creationId xmlns:a16="http://schemas.microsoft.com/office/drawing/2014/main" id="{339FB97C-E6E2-55F8-0C1F-989472DFA6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275828">
            <a:off x="5171078" y="4082748"/>
            <a:ext cx="721221" cy="721221"/>
          </a:xfrm>
          <a:prstGeom prst="rect">
            <a:avLst/>
          </a:prstGeom>
        </p:spPr>
      </p:pic>
      <p:pic>
        <p:nvPicPr>
          <p:cNvPr id="19" name="Graphic 18" descr="Arrow Right with solid fill">
            <a:extLst>
              <a:ext uri="{FF2B5EF4-FFF2-40B4-BE49-F238E27FC236}">
                <a16:creationId xmlns:a16="http://schemas.microsoft.com/office/drawing/2014/main" id="{63502E0D-3027-A53A-DBF1-ABD80EA2C5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3696">
            <a:off x="5150792" y="4401450"/>
            <a:ext cx="721221" cy="721221"/>
          </a:xfrm>
          <a:prstGeom prst="rect">
            <a:avLst/>
          </a:prstGeom>
        </p:spPr>
      </p:pic>
      <p:sp>
        <p:nvSpPr>
          <p:cNvPr id="20" name="TextBox 19">
            <a:extLst>
              <a:ext uri="{FF2B5EF4-FFF2-40B4-BE49-F238E27FC236}">
                <a16:creationId xmlns:a16="http://schemas.microsoft.com/office/drawing/2014/main" id="{1AF4EA79-938C-74A5-7FBD-8DA30CFE1E77}"/>
              </a:ext>
            </a:extLst>
          </p:cNvPr>
          <p:cNvSpPr txBox="1"/>
          <p:nvPr/>
        </p:nvSpPr>
        <p:spPr>
          <a:xfrm>
            <a:off x="5834243" y="4144031"/>
            <a:ext cx="1124262" cy="553998"/>
          </a:xfrm>
          <a:prstGeom prst="rect">
            <a:avLst/>
          </a:prstGeom>
          <a:noFill/>
        </p:spPr>
        <p:txBody>
          <a:bodyPr wrap="square" rtlCol="0">
            <a:spAutoFit/>
          </a:bodyPr>
          <a:lstStyle/>
          <a:p>
            <a:pPr algn="ctr"/>
            <a:r>
              <a:rPr lang="en-US" sz="1000" dirty="0"/>
              <a:t>Actor Network – Probability over actions </a:t>
            </a:r>
          </a:p>
        </p:txBody>
      </p:sp>
      <p:sp>
        <p:nvSpPr>
          <p:cNvPr id="21" name="TextBox 20">
            <a:extLst>
              <a:ext uri="{FF2B5EF4-FFF2-40B4-BE49-F238E27FC236}">
                <a16:creationId xmlns:a16="http://schemas.microsoft.com/office/drawing/2014/main" id="{60834551-1E67-A565-7DF7-D73701D6EA99}"/>
              </a:ext>
            </a:extLst>
          </p:cNvPr>
          <p:cNvSpPr txBox="1"/>
          <p:nvPr/>
        </p:nvSpPr>
        <p:spPr>
          <a:xfrm>
            <a:off x="5788547" y="4827538"/>
            <a:ext cx="1124262" cy="553998"/>
          </a:xfrm>
          <a:prstGeom prst="rect">
            <a:avLst/>
          </a:prstGeom>
          <a:noFill/>
        </p:spPr>
        <p:txBody>
          <a:bodyPr wrap="square" rtlCol="0">
            <a:spAutoFit/>
          </a:bodyPr>
          <a:lstStyle/>
          <a:p>
            <a:pPr algn="ctr"/>
            <a:r>
              <a:rPr lang="en-US" sz="1000" dirty="0"/>
              <a:t>Critic Network – expected return over the action</a:t>
            </a:r>
          </a:p>
        </p:txBody>
      </p:sp>
      <p:pic>
        <p:nvPicPr>
          <p:cNvPr id="23" name="Graphic 22" descr="Arrow Right with solid fill">
            <a:extLst>
              <a:ext uri="{FF2B5EF4-FFF2-40B4-BE49-F238E27FC236}">
                <a16:creationId xmlns:a16="http://schemas.microsoft.com/office/drawing/2014/main" id="{EA788D2C-6E96-719A-0797-514068BCBA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9298" y="2338161"/>
            <a:ext cx="1192040" cy="448417"/>
          </a:xfrm>
          <a:prstGeom prst="rect">
            <a:avLst/>
          </a:prstGeom>
        </p:spPr>
      </p:pic>
      <p:sp>
        <p:nvSpPr>
          <p:cNvPr id="25" name="TextBox 24">
            <a:extLst>
              <a:ext uri="{FF2B5EF4-FFF2-40B4-BE49-F238E27FC236}">
                <a16:creationId xmlns:a16="http://schemas.microsoft.com/office/drawing/2014/main" id="{9621B36A-B29D-9F2D-3063-8FFFB640CD07}"/>
              </a:ext>
            </a:extLst>
          </p:cNvPr>
          <p:cNvSpPr txBox="1"/>
          <p:nvPr/>
        </p:nvSpPr>
        <p:spPr>
          <a:xfrm>
            <a:off x="5994756" y="2597197"/>
            <a:ext cx="1577003" cy="430887"/>
          </a:xfrm>
          <a:prstGeom prst="rect">
            <a:avLst/>
          </a:prstGeom>
          <a:noFill/>
        </p:spPr>
        <p:txBody>
          <a:bodyPr wrap="square" rtlCol="0">
            <a:spAutoFit/>
          </a:bodyPr>
          <a:lstStyle/>
          <a:p>
            <a:pPr algn="ctr"/>
            <a:r>
              <a:rPr lang="en-US" sz="1100" dirty="0"/>
              <a:t>outputs one high-level </a:t>
            </a:r>
            <a:r>
              <a:rPr lang="en-US" sz="1100" dirty="0" err="1"/>
              <a:t>manoeuvre</a:t>
            </a:r>
            <a:r>
              <a:rPr lang="en-US" sz="1100" dirty="0"/>
              <a:t> token</a:t>
            </a:r>
          </a:p>
        </p:txBody>
      </p:sp>
      <p:sp>
        <p:nvSpPr>
          <p:cNvPr id="26" name="Rounded Rectangle 25">
            <a:extLst>
              <a:ext uri="{FF2B5EF4-FFF2-40B4-BE49-F238E27FC236}">
                <a16:creationId xmlns:a16="http://schemas.microsoft.com/office/drawing/2014/main" id="{ADAADF79-B5D2-C40F-4454-C1AFC1812646}"/>
              </a:ext>
            </a:extLst>
          </p:cNvPr>
          <p:cNvSpPr/>
          <p:nvPr/>
        </p:nvSpPr>
        <p:spPr>
          <a:xfrm>
            <a:off x="7538395" y="2274203"/>
            <a:ext cx="1449817" cy="629587"/>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Recommended Action A</a:t>
            </a:r>
            <a:r>
              <a:rPr lang="en-US" sz="1200" baseline="-25000" dirty="0">
                <a:solidFill>
                  <a:schemeClr val="tx1"/>
                </a:solidFill>
              </a:rPr>
              <a:t>LLM</a:t>
            </a:r>
          </a:p>
        </p:txBody>
      </p:sp>
      <p:cxnSp>
        <p:nvCxnSpPr>
          <p:cNvPr id="31" name="Elbow Connector 30">
            <a:extLst>
              <a:ext uri="{FF2B5EF4-FFF2-40B4-BE49-F238E27FC236}">
                <a16:creationId xmlns:a16="http://schemas.microsoft.com/office/drawing/2014/main" id="{6D6E5B2F-67F6-9534-CA70-A07F88444A6C}"/>
              </a:ext>
            </a:extLst>
          </p:cNvPr>
          <p:cNvCxnSpPr>
            <a:cxnSpLocks/>
            <a:stCxn id="41" idx="2"/>
            <a:endCxn id="10" idx="3"/>
          </p:cNvCxnSpPr>
          <p:nvPr/>
        </p:nvCxnSpPr>
        <p:spPr>
          <a:xfrm rot="16200000" flipH="1">
            <a:off x="1060445" y="3920368"/>
            <a:ext cx="594542" cy="93654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3" name="Elbow Connector 32">
            <a:extLst>
              <a:ext uri="{FF2B5EF4-FFF2-40B4-BE49-F238E27FC236}">
                <a16:creationId xmlns:a16="http://schemas.microsoft.com/office/drawing/2014/main" id="{A2A91A4D-4A36-E567-0E2C-52FA647C890F}"/>
              </a:ext>
            </a:extLst>
          </p:cNvPr>
          <p:cNvCxnSpPr>
            <a:cxnSpLocks/>
            <a:stCxn id="26" idx="2"/>
            <a:endCxn id="10" idx="0"/>
          </p:cNvCxnSpPr>
          <p:nvPr/>
        </p:nvCxnSpPr>
        <p:spPr>
          <a:xfrm rot="5400000">
            <a:off x="4271350" y="576192"/>
            <a:ext cx="1664357" cy="6319553"/>
          </a:xfrm>
          <a:prstGeom prst="bentConnector3">
            <a:avLst>
              <a:gd name="adj1" fmla="val 55229"/>
            </a:avLst>
          </a:prstGeom>
          <a:ln>
            <a:tailEnd type="triangle"/>
          </a:ln>
        </p:spPr>
        <p:style>
          <a:lnRef idx="2">
            <a:schemeClr val="dk1"/>
          </a:lnRef>
          <a:fillRef idx="0">
            <a:schemeClr val="dk1"/>
          </a:fillRef>
          <a:effectRef idx="1">
            <a:schemeClr val="dk1"/>
          </a:effectRef>
          <a:fontRef idx="minor">
            <a:schemeClr val="tx1"/>
          </a:fontRef>
        </p:style>
      </p:cxnSp>
      <p:sp>
        <p:nvSpPr>
          <p:cNvPr id="38" name="Rounded Rectangle 37">
            <a:extLst>
              <a:ext uri="{FF2B5EF4-FFF2-40B4-BE49-F238E27FC236}">
                <a16:creationId xmlns:a16="http://schemas.microsoft.com/office/drawing/2014/main" id="{5A1B661F-9F49-A2D2-261D-612C01B223C0}"/>
              </a:ext>
            </a:extLst>
          </p:cNvPr>
          <p:cNvSpPr/>
          <p:nvPr/>
        </p:nvSpPr>
        <p:spPr>
          <a:xfrm>
            <a:off x="7344622" y="3929371"/>
            <a:ext cx="1317939" cy="437881"/>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PPO surrogate loss</a:t>
            </a:r>
          </a:p>
        </p:txBody>
      </p:sp>
      <p:sp>
        <p:nvSpPr>
          <p:cNvPr id="39" name="Rounded Rectangle 38">
            <a:extLst>
              <a:ext uri="{FF2B5EF4-FFF2-40B4-BE49-F238E27FC236}">
                <a16:creationId xmlns:a16="http://schemas.microsoft.com/office/drawing/2014/main" id="{DCA4CCB7-3280-EEC5-D14D-B8F24F73BB79}"/>
              </a:ext>
            </a:extLst>
          </p:cNvPr>
          <p:cNvSpPr/>
          <p:nvPr/>
        </p:nvSpPr>
        <p:spPr>
          <a:xfrm>
            <a:off x="2750461" y="4430806"/>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Self Attention</a:t>
            </a:r>
          </a:p>
        </p:txBody>
      </p:sp>
      <p:sp>
        <p:nvSpPr>
          <p:cNvPr id="40" name="TextBox 39">
            <a:extLst>
              <a:ext uri="{FF2B5EF4-FFF2-40B4-BE49-F238E27FC236}">
                <a16:creationId xmlns:a16="http://schemas.microsoft.com/office/drawing/2014/main" id="{1D41FEA2-1FD6-4B87-64DF-5E40488BB695}"/>
              </a:ext>
            </a:extLst>
          </p:cNvPr>
          <p:cNvSpPr txBox="1"/>
          <p:nvPr/>
        </p:nvSpPr>
        <p:spPr>
          <a:xfrm>
            <a:off x="4310286" y="3606971"/>
            <a:ext cx="4104990" cy="276999"/>
          </a:xfrm>
          <a:prstGeom prst="rect">
            <a:avLst/>
          </a:prstGeom>
          <a:noFill/>
        </p:spPr>
        <p:txBody>
          <a:bodyPr wrap="square" rtlCol="0">
            <a:spAutoFit/>
          </a:bodyPr>
          <a:lstStyle/>
          <a:p>
            <a:pPr algn="ctr"/>
            <a:r>
              <a:rPr lang="en-US" sz="1200" b="1" dirty="0"/>
              <a:t>The teachers action gets mapped into a vector a</a:t>
            </a:r>
            <a:r>
              <a:rPr lang="en-US" sz="1200" b="1" baseline="-25000" dirty="0"/>
              <a:t>t</a:t>
            </a:r>
          </a:p>
        </p:txBody>
      </p:sp>
      <p:sp>
        <p:nvSpPr>
          <p:cNvPr id="41" name="TextBox 40">
            <a:extLst>
              <a:ext uri="{FF2B5EF4-FFF2-40B4-BE49-F238E27FC236}">
                <a16:creationId xmlns:a16="http://schemas.microsoft.com/office/drawing/2014/main" id="{5BD69BBE-4B91-5422-EC12-9F6684CB6F3F}"/>
              </a:ext>
            </a:extLst>
          </p:cNvPr>
          <p:cNvSpPr txBox="1"/>
          <p:nvPr/>
        </p:nvSpPr>
        <p:spPr>
          <a:xfrm>
            <a:off x="219886" y="3260372"/>
            <a:ext cx="1339117" cy="830997"/>
          </a:xfrm>
          <a:prstGeom prst="rect">
            <a:avLst/>
          </a:prstGeom>
          <a:noFill/>
        </p:spPr>
        <p:txBody>
          <a:bodyPr wrap="square" rtlCol="0">
            <a:spAutoFit/>
          </a:bodyPr>
          <a:lstStyle/>
          <a:p>
            <a:pPr algn="ctr"/>
            <a:r>
              <a:rPr lang="en-US" sz="1200" b="1" dirty="0"/>
              <a:t>The state representation gets mapped into a vector h </a:t>
            </a:r>
            <a:r>
              <a:rPr lang="en-US" sz="1200" b="1" baseline="30000" dirty="0" err="1"/>
              <a:t>s</a:t>
            </a:r>
            <a:r>
              <a:rPr lang="en-US" sz="1200" b="1" baseline="-25000" dirty="0" err="1"/>
              <a:t>t</a:t>
            </a:r>
            <a:r>
              <a:rPr lang="en-US" sz="1200" b="1" baseline="-25000" dirty="0"/>
              <a:t> </a:t>
            </a:r>
          </a:p>
        </p:txBody>
      </p:sp>
      <p:pic>
        <p:nvPicPr>
          <p:cNvPr id="49" name="Graphic 48" descr="Arrow Right with solid fill">
            <a:extLst>
              <a:ext uri="{FF2B5EF4-FFF2-40B4-BE49-F238E27FC236}">
                <a16:creationId xmlns:a16="http://schemas.microsoft.com/office/drawing/2014/main" id="{B6602FDC-6077-6194-4AC0-D0CF656FEA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78903" y="4451926"/>
            <a:ext cx="374336" cy="448417"/>
          </a:xfrm>
          <a:prstGeom prst="rect">
            <a:avLst/>
          </a:prstGeom>
        </p:spPr>
      </p:pic>
      <p:sp>
        <p:nvSpPr>
          <p:cNvPr id="50" name="TextBox 49">
            <a:extLst>
              <a:ext uri="{FF2B5EF4-FFF2-40B4-BE49-F238E27FC236}">
                <a16:creationId xmlns:a16="http://schemas.microsoft.com/office/drawing/2014/main" id="{D6214170-42C9-BCBB-AED9-A9BCF1A30027}"/>
              </a:ext>
            </a:extLst>
          </p:cNvPr>
          <p:cNvSpPr txBox="1"/>
          <p:nvPr/>
        </p:nvSpPr>
        <p:spPr>
          <a:xfrm>
            <a:off x="3643349" y="4700526"/>
            <a:ext cx="1124262" cy="261610"/>
          </a:xfrm>
          <a:prstGeom prst="rect">
            <a:avLst/>
          </a:prstGeom>
          <a:noFill/>
        </p:spPr>
        <p:txBody>
          <a:bodyPr wrap="square" rtlCol="0">
            <a:spAutoFit/>
          </a:bodyPr>
          <a:lstStyle/>
          <a:p>
            <a:pPr algn="ctr"/>
            <a:r>
              <a:rPr lang="en-US" sz="1100" b="1" dirty="0" err="1"/>
              <a:t>h</a:t>
            </a:r>
            <a:r>
              <a:rPr lang="en-US" sz="1100" b="1" baseline="-25000" dirty="0" err="1"/>
              <a:t>t</a:t>
            </a:r>
            <a:endParaRPr lang="en-US" sz="1100" b="1" dirty="0"/>
          </a:p>
        </p:txBody>
      </p:sp>
      <p:pic>
        <p:nvPicPr>
          <p:cNvPr id="51" name="Graphic 50" descr="Badge Follow with solid fill">
            <a:extLst>
              <a:ext uri="{FF2B5EF4-FFF2-40B4-BE49-F238E27FC236}">
                <a16:creationId xmlns:a16="http://schemas.microsoft.com/office/drawing/2014/main" id="{80261B2C-955D-4D7B-E261-20118BCFA84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38449" y="4281001"/>
            <a:ext cx="344606" cy="346028"/>
          </a:xfrm>
          <a:prstGeom prst="rect">
            <a:avLst/>
          </a:prstGeom>
        </p:spPr>
      </p:pic>
      <p:pic>
        <p:nvPicPr>
          <p:cNvPr id="53" name="Graphic 52" descr="Arrow Right with solid fill">
            <a:extLst>
              <a:ext uri="{FF2B5EF4-FFF2-40B4-BE49-F238E27FC236}">
                <a16:creationId xmlns:a16="http://schemas.microsoft.com/office/drawing/2014/main" id="{660ED538-5A4B-03BD-4E52-8F2FD7085E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4340" y="2399954"/>
            <a:ext cx="374336" cy="448417"/>
          </a:xfrm>
          <a:prstGeom prst="rect">
            <a:avLst/>
          </a:prstGeom>
        </p:spPr>
      </p:pic>
      <p:sp>
        <p:nvSpPr>
          <p:cNvPr id="54" name="TextBox 53">
            <a:extLst>
              <a:ext uri="{FF2B5EF4-FFF2-40B4-BE49-F238E27FC236}">
                <a16:creationId xmlns:a16="http://schemas.microsoft.com/office/drawing/2014/main" id="{7155CCDA-C1DB-B793-0E95-A0E14F17CDB7}"/>
              </a:ext>
            </a:extLst>
          </p:cNvPr>
          <p:cNvSpPr txBox="1"/>
          <p:nvPr/>
        </p:nvSpPr>
        <p:spPr>
          <a:xfrm>
            <a:off x="6046267" y="5602893"/>
            <a:ext cx="1377892" cy="400110"/>
          </a:xfrm>
          <a:prstGeom prst="rect">
            <a:avLst/>
          </a:prstGeom>
          <a:noFill/>
        </p:spPr>
        <p:txBody>
          <a:bodyPr wrap="square" rtlCol="0">
            <a:spAutoFit/>
          </a:bodyPr>
          <a:lstStyle/>
          <a:p>
            <a:pPr algn="ctr"/>
            <a:r>
              <a:rPr lang="en-US" sz="1000" dirty="0"/>
              <a:t>The KL coefficient relaxes gradually</a:t>
            </a:r>
          </a:p>
        </p:txBody>
      </p:sp>
      <p:sp>
        <p:nvSpPr>
          <p:cNvPr id="55" name="Right Brace 54">
            <a:extLst>
              <a:ext uri="{FF2B5EF4-FFF2-40B4-BE49-F238E27FC236}">
                <a16:creationId xmlns:a16="http://schemas.microsoft.com/office/drawing/2014/main" id="{1FB73F5A-DA86-97C5-73E7-3B6EAD9C42E1}"/>
              </a:ext>
            </a:extLst>
          </p:cNvPr>
          <p:cNvSpPr/>
          <p:nvPr/>
        </p:nvSpPr>
        <p:spPr>
          <a:xfrm>
            <a:off x="8722889" y="4367252"/>
            <a:ext cx="319381" cy="884776"/>
          </a:xfrm>
          <a:prstGeom prst="rightBrace">
            <a:avLst>
              <a:gd name="adj1" fmla="val 8333"/>
              <a:gd name="adj2" fmla="val 10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56" name="TextBox 55">
            <a:extLst>
              <a:ext uri="{FF2B5EF4-FFF2-40B4-BE49-F238E27FC236}">
                <a16:creationId xmlns:a16="http://schemas.microsoft.com/office/drawing/2014/main" id="{B10D5283-11FF-06EF-03BF-3FDDA23DE90F}"/>
              </a:ext>
            </a:extLst>
          </p:cNvPr>
          <p:cNvSpPr txBox="1"/>
          <p:nvPr/>
        </p:nvSpPr>
        <p:spPr>
          <a:xfrm>
            <a:off x="8965736" y="5113636"/>
            <a:ext cx="680509" cy="461665"/>
          </a:xfrm>
          <a:prstGeom prst="rect">
            <a:avLst/>
          </a:prstGeom>
          <a:noFill/>
        </p:spPr>
        <p:txBody>
          <a:bodyPr wrap="square" rtlCol="0">
            <a:spAutoFit/>
          </a:bodyPr>
          <a:lstStyle/>
          <a:p>
            <a:pPr algn="ctr"/>
            <a:r>
              <a:rPr lang="en-US" sz="1200" b="1" dirty="0"/>
              <a:t>Action</a:t>
            </a:r>
            <a:br>
              <a:rPr lang="en-US" sz="1200" b="1" dirty="0"/>
            </a:br>
            <a:r>
              <a:rPr lang="en-US" sz="1200" b="1" dirty="0"/>
              <a:t>A</a:t>
            </a:r>
            <a:r>
              <a:rPr lang="en-US" sz="1200" b="1" baseline="-25000" dirty="0"/>
              <a:t>t</a:t>
            </a:r>
          </a:p>
        </p:txBody>
      </p:sp>
      <p:sp>
        <p:nvSpPr>
          <p:cNvPr id="3" name="TextBox 2">
            <a:extLst>
              <a:ext uri="{FF2B5EF4-FFF2-40B4-BE49-F238E27FC236}">
                <a16:creationId xmlns:a16="http://schemas.microsoft.com/office/drawing/2014/main" id="{E76ABDFD-BCA2-45C3-BBBF-5AE3F3F9199E}"/>
              </a:ext>
            </a:extLst>
          </p:cNvPr>
          <p:cNvSpPr txBox="1"/>
          <p:nvPr/>
        </p:nvSpPr>
        <p:spPr>
          <a:xfrm>
            <a:off x="700635"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pic>
        <p:nvPicPr>
          <p:cNvPr id="10" name="Picture 9" descr="A black background with a black square&#10;&#10;AI-generated content may be incorrect.">
            <a:extLst>
              <a:ext uri="{FF2B5EF4-FFF2-40B4-BE49-F238E27FC236}">
                <a16:creationId xmlns:a16="http://schemas.microsoft.com/office/drawing/2014/main" id="{8FEAC2BF-4679-4CA7-37A5-A3BEE583359A}"/>
              </a:ext>
            </a:extLst>
          </p:cNvPr>
          <p:cNvPicPr>
            <a:picLocks noChangeAspect="1"/>
          </p:cNvPicPr>
          <p:nvPr/>
        </p:nvPicPr>
        <p:blipFill>
          <a:blip r:embed="rId10"/>
          <a:stretch>
            <a:fillRect/>
          </a:stretch>
        </p:blipFill>
        <p:spPr>
          <a:xfrm flipH="1">
            <a:off x="1825988" y="4568147"/>
            <a:ext cx="235527" cy="235527"/>
          </a:xfrm>
          <a:prstGeom prst="rect">
            <a:avLst/>
          </a:prstGeom>
        </p:spPr>
      </p:pic>
      <p:cxnSp>
        <p:nvCxnSpPr>
          <p:cNvPr id="34" name="Straight Arrow Connector 33">
            <a:extLst>
              <a:ext uri="{FF2B5EF4-FFF2-40B4-BE49-F238E27FC236}">
                <a16:creationId xmlns:a16="http://schemas.microsoft.com/office/drawing/2014/main" id="{E972B31E-7439-7C6C-D892-AD411BA572A5}"/>
              </a:ext>
            </a:extLst>
          </p:cNvPr>
          <p:cNvCxnSpPr>
            <a:cxnSpLocks/>
            <a:stCxn id="10" idx="1"/>
            <a:endCxn id="39" idx="1"/>
          </p:cNvCxnSpPr>
          <p:nvPr/>
        </p:nvCxnSpPr>
        <p:spPr>
          <a:xfrm>
            <a:off x="2061515" y="4685911"/>
            <a:ext cx="6889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E2607016-1994-A168-5E9A-8B3EC1DB7CE0}"/>
              </a:ext>
            </a:extLst>
          </p:cNvPr>
          <p:cNvSpPr txBox="1"/>
          <p:nvPr/>
        </p:nvSpPr>
        <p:spPr>
          <a:xfrm>
            <a:off x="1196382" y="4760841"/>
            <a:ext cx="1449235" cy="784830"/>
          </a:xfrm>
          <a:prstGeom prst="rect">
            <a:avLst/>
          </a:prstGeom>
          <a:noFill/>
        </p:spPr>
        <p:txBody>
          <a:bodyPr wrap="square" rtlCol="0">
            <a:spAutoFit/>
          </a:bodyPr>
          <a:lstStyle/>
          <a:p>
            <a:pPr algn="ctr"/>
            <a:r>
              <a:rPr lang="en-US" sz="1100" dirty="0"/>
              <a:t>Concatenation of state vector </a:t>
            </a:r>
            <a:r>
              <a:rPr lang="en-US" sz="1100" b="1" dirty="0"/>
              <a:t>(h </a:t>
            </a:r>
            <a:r>
              <a:rPr lang="en-US" sz="1100" b="1" baseline="30000" dirty="0" err="1"/>
              <a:t>s</a:t>
            </a:r>
            <a:r>
              <a:rPr lang="en-US" sz="1100" b="1" baseline="-25000" dirty="0" err="1"/>
              <a:t>t</a:t>
            </a:r>
            <a:r>
              <a:rPr lang="en-US" sz="1100" b="1" baseline="-25000" dirty="0"/>
              <a:t> </a:t>
            </a:r>
            <a:r>
              <a:rPr lang="en-US" sz="1100" b="1" dirty="0"/>
              <a:t>) </a:t>
            </a:r>
            <a:r>
              <a:rPr lang="en-US" sz="1100" dirty="0"/>
              <a:t>and LLM action</a:t>
            </a:r>
            <a:r>
              <a:rPr lang="en-US" sz="1100" b="1" dirty="0"/>
              <a:t>(a</a:t>
            </a:r>
            <a:r>
              <a:rPr lang="en-US" sz="1100" b="1" baseline="-25000" dirty="0"/>
              <a:t>t</a:t>
            </a:r>
            <a:r>
              <a:rPr lang="en-US" sz="1100" b="1" dirty="0"/>
              <a:t>)</a:t>
            </a:r>
            <a:r>
              <a:rPr lang="en-US" sz="1100" dirty="0"/>
              <a:t> to get vector (</a:t>
            </a:r>
            <a:r>
              <a:rPr lang="en-US" sz="1100" b="1" dirty="0" err="1"/>
              <a:t>h</a:t>
            </a:r>
            <a:r>
              <a:rPr lang="en-US" sz="1100" b="1" baseline="-25000" dirty="0" err="1"/>
              <a:t>t</a:t>
            </a:r>
            <a:r>
              <a:rPr lang="en-US" sz="1100" dirty="0"/>
              <a:t>)</a:t>
            </a:r>
          </a:p>
        </p:txBody>
      </p:sp>
      <p:pic>
        <p:nvPicPr>
          <p:cNvPr id="57" name="Graphic 56" descr="Badge Follow with solid fill">
            <a:extLst>
              <a:ext uri="{FF2B5EF4-FFF2-40B4-BE49-F238E27FC236}">
                <a16:creationId xmlns:a16="http://schemas.microsoft.com/office/drawing/2014/main" id="{B510ED50-D7F6-51AE-FC22-B95E115D9A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42945" y="4842586"/>
            <a:ext cx="344606" cy="344606"/>
          </a:xfrm>
          <a:prstGeom prst="rect">
            <a:avLst/>
          </a:prstGeom>
        </p:spPr>
      </p:pic>
      <p:sp>
        <p:nvSpPr>
          <p:cNvPr id="58" name="Rounded Rectangle 57">
            <a:extLst>
              <a:ext uri="{FF2B5EF4-FFF2-40B4-BE49-F238E27FC236}">
                <a16:creationId xmlns:a16="http://schemas.microsoft.com/office/drawing/2014/main" id="{6206E206-00A6-4104-6D64-48D44E3D346A}"/>
              </a:ext>
            </a:extLst>
          </p:cNvPr>
          <p:cNvSpPr/>
          <p:nvPr/>
        </p:nvSpPr>
        <p:spPr>
          <a:xfrm>
            <a:off x="7344622" y="5583348"/>
            <a:ext cx="1317600" cy="439200"/>
          </a:xfrm>
          <a:prstGeom prst="roundRect">
            <a:avLst/>
          </a:prstGeom>
          <a:solidFill>
            <a:srgbClr val="446E3F">
              <a:alpha val="16863"/>
            </a:srgbClr>
          </a:solidFill>
          <a:ln w="12700" cap="flat" cmpd="sng" algn="ctr">
            <a:solidFill>
              <a:schemeClr val="accent1"/>
            </a:solidFill>
            <a:prstDash val="lgDash"/>
            <a:miter lim="800000"/>
            <a:extLst>
              <a:ext uri="{C807C97D-BFC1-408E-A445-0C87EB9F89A2}">
                <ask:lineSketchStyleProps xmlns:ask="http://schemas.microsoft.com/office/drawing/2018/sketchyshapes" sd="1219033472">
                  <a:custGeom>
                    <a:avLst/>
                    <a:gdLst>
                      <a:gd name="connsiteX0" fmla="*/ 0 w 1317939"/>
                      <a:gd name="connsiteY0" fmla="*/ 72982 h 437881"/>
                      <a:gd name="connsiteX1" fmla="*/ 72982 w 1317939"/>
                      <a:gd name="connsiteY1" fmla="*/ 0 h 437881"/>
                      <a:gd name="connsiteX2" fmla="*/ 658970 w 1317939"/>
                      <a:gd name="connsiteY2" fmla="*/ 0 h 437881"/>
                      <a:gd name="connsiteX3" fmla="*/ 1244957 w 1317939"/>
                      <a:gd name="connsiteY3" fmla="*/ 0 h 437881"/>
                      <a:gd name="connsiteX4" fmla="*/ 1317939 w 1317939"/>
                      <a:gd name="connsiteY4" fmla="*/ 72982 h 437881"/>
                      <a:gd name="connsiteX5" fmla="*/ 1317939 w 1317939"/>
                      <a:gd name="connsiteY5" fmla="*/ 364899 h 437881"/>
                      <a:gd name="connsiteX6" fmla="*/ 1244957 w 1317939"/>
                      <a:gd name="connsiteY6" fmla="*/ 437881 h 437881"/>
                      <a:gd name="connsiteX7" fmla="*/ 647250 w 1317939"/>
                      <a:gd name="connsiteY7" fmla="*/ 437881 h 437881"/>
                      <a:gd name="connsiteX8" fmla="*/ 72982 w 1317939"/>
                      <a:gd name="connsiteY8" fmla="*/ 437881 h 437881"/>
                      <a:gd name="connsiteX9" fmla="*/ 0 w 1317939"/>
                      <a:gd name="connsiteY9" fmla="*/ 364899 h 437881"/>
                      <a:gd name="connsiteX10" fmla="*/ 0 w 1317939"/>
                      <a:gd name="connsiteY10" fmla="*/ 72982 h 43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939" h="437881" fill="none" extrusionOk="0">
                        <a:moveTo>
                          <a:pt x="0" y="72982"/>
                        </a:moveTo>
                        <a:cubicBezTo>
                          <a:pt x="2495" y="35731"/>
                          <a:pt x="36478" y="-3330"/>
                          <a:pt x="72982" y="0"/>
                        </a:cubicBezTo>
                        <a:cubicBezTo>
                          <a:pt x="194475" y="-2230"/>
                          <a:pt x="504605" y="62557"/>
                          <a:pt x="658970" y="0"/>
                        </a:cubicBezTo>
                        <a:cubicBezTo>
                          <a:pt x="813335" y="-62557"/>
                          <a:pt x="1028241" y="46093"/>
                          <a:pt x="1244957" y="0"/>
                        </a:cubicBezTo>
                        <a:cubicBezTo>
                          <a:pt x="1280435" y="-9844"/>
                          <a:pt x="1318263" y="28287"/>
                          <a:pt x="1317939" y="72982"/>
                        </a:cubicBezTo>
                        <a:cubicBezTo>
                          <a:pt x="1345857" y="210849"/>
                          <a:pt x="1300786" y="237915"/>
                          <a:pt x="1317939" y="364899"/>
                        </a:cubicBezTo>
                        <a:cubicBezTo>
                          <a:pt x="1308514" y="405594"/>
                          <a:pt x="1290711" y="428062"/>
                          <a:pt x="1244957" y="437881"/>
                        </a:cubicBezTo>
                        <a:cubicBezTo>
                          <a:pt x="1007652" y="484831"/>
                          <a:pt x="805332" y="429189"/>
                          <a:pt x="647250" y="437881"/>
                        </a:cubicBezTo>
                        <a:cubicBezTo>
                          <a:pt x="489168" y="446573"/>
                          <a:pt x="283855" y="389992"/>
                          <a:pt x="72982" y="437881"/>
                        </a:cubicBezTo>
                        <a:cubicBezTo>
                          <a:pt x="32447" y="431734"/>
                          <a:pt x="6642" y="406591"/>
                          <a:pt x="0" y="364899"/>
                        </a:cubicBezTo>
                        <a:cubicBezTo>
                          <a:pt x="-4847" y="235232"/>
                          <a:pt x="17910" y="153731"/>
                          <a:pt x="0" y="72982"/>
                        </a:cubicBezTo>
                        <a:close/>
                      </a:path>
                      <a:path w="1317939" h="437881" stroke="0" extrusionOk="0">
                        <a:moveTo>
                          <a:pt x="0" y="72982"/>
                        </a:moveTo>
                        <a:cubicBezTo>
                          <a:pt x="-8022" y="27727"/>
                          <a:pt x="21582" y="4163"/>
                          <a:pt x="72982" y="0"/>
                        </a:cubicBezTo>
                        <a:cubicBezTo>
                          <a:pt x="362370" y="-17701"/>
                          <a:pt x="557029" y="68401"/>
                          <a:pt x="682409" y="0"/>
                        </a:cubicBezTo>
                        <a:cubicBezTo>
                          <a:pt x="807789" y="-68401"/>
                          <a:pt x="1039318" y="35133"/>
                          <a:pt x="1244957" y="0"/>
                        </a:cubicBezTo>
                        <a:cubicBezTo>
                          <a:pt x="1284128" y="-621"/>
                          <a:pt x="1325602" y="36336"/>
                          <a:pt x="1317939" y="72982"/>
                        </a:cubicBezTo>
                        <a:cubicBezTo>
                          <a:pt x="1342082" y="211484"/>
                          <a:pt x="1309848" y="280261"/>
                          <a:pt x="1317939" y="364899"/>
                        </a:cubicBezTo>
                        <a:cubicBezTo>
                          <a:pt x="1323728" y="395786"/>
                          <a:pt x="1277963" y="444297"/>
                          <a:pt x="1244957" y="437881"/>
                        </a:cubicBezTo>
                        <a:cubicBezTo>
                          <a:pt x="1056981" y="480030"/>
                          <a:pt x="891570" y="395637"/>
                          <a:pt x="658970" y="437881"/>
                        </a:cubicBezTo>
                        <a:cubicBezTo>
                          <a:pt x="426370" y="480125"/>
                          <a:pt x="255213" y="389590"/>
                          <a:pt x="72982" y="437881"/>
                        </a:cubicBezTo>
                        <a:cubicBezTo>
                          <a:pt x="23707" y="437368"/>
                          <a:pt x="2651" y="397936"/>
                          <a:pt x="0" y="364899"/>
                        </a:cubicBezTo>
                        <a:cubicBezTo>
                          <a:pt x="-28107" y="249873"/>
                          <a:pt x="284" y="155358"/>
                          <a:pt x="0" y="72982"/>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KL Divergence loss</a:t>
            </a:r>
          </a:p>
        </p:txBody>
      </p:sp>
      <p:pic>
        <p:nvPicPr>
          <p:cNvPr id="59" name="Graphic 58" descr="Badge Follow with solid fill">
            <a:extLst>
              <a:ext uri="{FF2B5EF4-FFF2-40B4-BE49-F238E27FC236}">
                <a16:creationId xmlns:a16="http://schemas.microsoft.com/office/drawing/2014/main" id="{6906DD3B-6296-5D08-DA55-3B253D88B6A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38449" y="5364806"/>
            <a:ext cx="344606" cy="344606"/>
          </a:xfrm>
          <a:prstGeom prst="rect">
            <a:avLst/>
          </a:prstGeom>
        </p:spPr>
      </p:pic>
      <p:pic>
        <p:nvPicPr>
          <p:cNvPr id="60" name="Graphic 59" descr="Arrow Right with solid fill">
            <a:extLst>
              <a:ext uri="{FF2B5EF4-FFF2-40B4-BE49-F238E27FC236}">
                <a16:creationId xmlns:a16="http://schemas.microsoft.com/office/drawing/2014/main" id="{B087DC9B-F117-8805-87DF-5F90713210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61645" y="4880328"/>
            <a:ext cx="374336" cy="448417"/>
          </a:xfrm>
          <a:prstGeom prst="rect">
            <a:avLst/>
          </a:prstGeom>
        </p:spPr>
      </p:pic>
      <p:pic>
        <p:nvPicPr>
          <p:cNvPr id="62" name="Graphic 61" descr="Arrow Right with solid fill">
            <a:extLst>
              <a:ext uri="{FF2B5EF4-FFF2-40B4-BE49-F238E27FC236}">
                <a16:creationId xmlns:a16="http://schemas.microsoft.com/office/drawing/2014/main" id="{9D476223-CF7E-AFFF-3155-23DC012E8A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9477" y="4186592"/>
            <a:ext cx="374336" cy="448417"/>
          </a:xfrm>
          <a:prstGeom prst="rect">
            <a:avLst/>
          </a:prstGeom>
        </p:spPr>
      </p:pic>
      <p:cxnSp>
        <p:nvCxnSpPr>
          <p:cNvPr id="63" name="Straight Arrow Connector 62">
            <a:extLst>
              <a:ext uri="{FF2B5EF4-FFF2-40B4-BE49-F238E27FC236}">
                <a16:creationId xmlns:a16="http://schemas.microsoft.com/office/drawing/2014/main" id="{EA7265A5-D1E1-3D11-B182-258DCB0E08F6}"/>
              </a:ext>
            </a:extLst>
          </p:cNvPr>
          <p:cNvCxnSpPr>
            <a:cxnSpLocks/>
          </p:cNvCxnSpPr>
          <p:nvPr/>
        </p:nvCxnSpPr>
        <p:spPr>
          <a:xfrm>
            <a:off x="9534356" y="5352740"/>
            <a:ext cx="2064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Elbow Connector 73">
            <a:extLst>
              <a:ext uri="{FF2B5EF4-FFF2-40B4-BE49-F238E27FC236}">
                <a16:creationId xmlns:a16="http://schemas.microsoft.com/office/drawing/2014/main" id="{8D364EFC-D337-BFBA-D0F9-D6669BFC7EE4}"/>
              </a:ext>
            </a:extLst>
          </p:cNvPr>
          <p:cNvCxnSpPr>
            <a:cxnSpLocks/>
            <a:stCxn id="46" idx="0"/>
            <a:endCxn id="11" idx="3"/>
          </p:cNvCxnSpPr>
          <p:nvPr/>
        </p:nvCxnSpPr>
        <p:spPr>
          <a:xfrm rot="16200000" flipV="1">
            <a:off x="6399799" y="567100"/>
            <a:ext cx="3280120" cy="516826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80" name="TextBox 79">
            <a:extLst>
              <a:ext uri="{FF2B5EF4-FFF2-40B4-BE49-F238E27FC236}">
                <a16:creationId xmlns:a16="http://schemas.microsoft.com/office/drawing/2014/main" id="{187BAD26-9D42-B367-8C12-C6E121171AAC}"/>
              </a:ext>
            </a:extLst>
          </p:cNvPr>
          <p:cNvSpPr txBox="1"/>
          <p:nvPr/>
        </p:nvSpPr>
        <p:spPr>
          <a:xfrm>
            <a:off x="7639472" y="690654"/>
            <a:ext cx="3842267" cy="769441"/>
          </a:xfrm>
          <a:prstGeom prst="rect">
            <a:avLst/>
          </a:prstGeom>
          <a:noFill/>
        </p:spPr>
        <p:txBody>
          <a:bodyPr wrap="square">
            <a:spAutoFit/>
          </a:bodyPr>
          <a:lstStyle/>
          <a:p>
            <a:pPr algn="ctr"/>
            <a:r>
              <a:rPr lang="en-US" sz="1100" b="1" dirty="0"/>
              <a:t>Store correction: LLM outputs a delta-token </a:t>
            </a:r>
            <a:r>
              <a:rPr lang="el-GR" sz="1100" b="1" dirty="0"/>
              <a:t>Δ</a:t>
            </a:r>
            <a:r>
              <a:rPr lang="en-US" sz="1100" b="1" dirty="0"/>
              <a:t>m.</a:t>
            </a:r>
            <a:br>
              <a:rPr lang="en-US" sz="1100" b="1" dirty="0"/>
            </a:br>
            <a:br>
              <a:rPr lang="en-US" sz="1100" b="1" dirty="0"/>
            </a:br>
            <a:r>
              <a:rPr lang="en-US" sz="1100" dirty="0"/>
              <a:t> Embed </a:t>
            </a:r>
            <a:r>
              <a:rPr lang="el-GR" sz="1100" dirty="0"/>
              <a:t>Δ</a:t>
            </a:r>
            <a:r>
              <a:rPr lang="en-US" sz="1100" dirty="0"/>
              <a:t>m to </a:t>
            </a:r>
            <a:r>
              <a:rPr lang="el-GR" sz="1100" dirty="0"/>
              <a:t>Δ</a:t>
            </a:r>
            <a:r>
              <a:rPr lang="en-US" sz="1100" dirty="0"/>
              <a:t>e using and save </a:t>
            </a:r>
            <a:br>
              <a:rPr lang="en-US" sz="1100" dirty="0"/>
            </a:br>
            <a:r>
              <a:rPr lang="en-US" sz="1100" dirty="0"/>
              <a:t>(</a:t>
            </a:r>
            <a:r>
              <a:rPr lang="en-US" sz="1100" dirty="0" err="1"/>
              <a:t>z</a:t>
            </a:r>
            <a:r>
              <a:rPr lang="en-US" sz="1100" baseline="-25000" dirty="0" err="1"/>
              <a:t>t</a:t>
            </a:r>
            <a:r>
              <a:rPr lang="en-US" sz="1100" dirty="0"/>
              <a:t>, </a:t>
            </a:r>
            <a:r>
              <a:rPr lang="en-US" sz="1100" dirty="0" err="1"/>
              <a:t>s</a:t>
            </a:r>
            <a:r>
              <a:rPr lang="en-US" sz="1100" baseline="-25000" dirty="0" err="1"/>
              <a:t>t</a:t>
            </a:r>
            <a:r>
              <a:rPr lang="en-US" sz="1100" dirty="0"/>
              <a:t>, </a:t>
            </a:r>
            <a:r>
              <a:rPr lang="el-GR" sz="1100" dirty="0"/>
              <a:t>Δ</a:t>
            </a:r>
            <a:r>
              <a:rPr lang="en-US" sz="1100" dirty="0"/>
              <a:t>e, “correction”) back into Memory.</a:t>
            </a:r>
          </a:p>
        </p:txBody>
      </p:sp>
      <p:sp>
        <p:nvSpPr>
          <p:cNvPr id="85" name="TextBox 84">
            <a:extLst>
              <a:ext uri="{FF2B5EF4-FFF2-40B4-BE49-F238E27FC236}">
                <a16:creationId xmlns:a16="http://schemas.microsoft.com/office/drawing/2014/main" id="{52C0AFCE-D329-1211-E8B5-A0213744043D}"/>
              </a:ext>
            </a:extLst>
          </p:cNvPr>
          <p:cNvSpPr txBox="1"/>
          <p:nvPr/>
        </p:nvSpPr>
        <p:spPr>
          <a:xfrm>
            <a:off x="3492955" y="119215"/>
            <a:ext cx="1723136" cy="307777"/>
          </a:xfrm>
          <a:prstGeom prst="rect">
            <a:avLst/>
          </a:prstGeom>
          <a:noFill/>
        </p:spPr>
        <p:txBody>
          <a:bodyPr wrap="square" rtlCol="0">
            <a:spAutoFit/>
          </a:bodyPr>
          <a:lstStyle/>
          <a:p>
            <a:pPr algn="ctr"/>
            <a:r>
              <a:rPr lang="en-US" sz="1400" b="1" dirty="0"/>
              <a:t>Decision Engine</a:t>
            </a:r>
          </a:p>
        </p:txBody>
      </p:sp>
      <p:sp>
        <p:nvSpPr>
          <p:cNvPr id="88" name="TextBox 87">
            <a:extLst>
              <a:ext uri="{FF2B5EF4-FFF2-40B4-BE49-F238E27FC236}">
                <a16:creationId xmlns:a16="http://schemas.microsoft.com/office/drawing/2014/main" id="{F0DA5FF5-FE8C-BE2D-EAB5-62A6B9E9EFFD}"/>
              </a:ext>
            </a:extLst>
          </p:cNvPr>
          <p:cNvSpPr txBox="1"/>
          <p:nvPr/>
        </p:nvSpPr>
        <p:spPr>
          <a:xfrm>
            <a:off x="10620199" y="3133275"/>
            <a:ext cx="1082142" cy="1015663"/>
          </a:xfrm>
          <a:prstGeom prst="rect">
            <a:avLst/>
          </a:prstGeom>
          <a:noFill/>
        </p:spPr>
        <p:txBody>
          <a:bodyPr wrap="square">
            <a:spAutoFit/>
          </a:bodyPr>
          <a:lstStyle/>
          <a:p>
            <a:r>
              <a:rPr lang="el-GR" sz="1000" b="1" dirty="0"/>
              <a:t>Δ</a:t>
            </a:r>
            <a:r>
              <a:rPr lang="en-US" sz="1000" b="1" dirty="0"/>
              <a:t>m if needed (</a:t>
            </a:r>
            <a:r>
              <a:rPr lang="en-US" sz="1000" b="1" dirty="0" err="1"/>
              <a:t>L</a:t>
            </a:r>
            <a:r>
              <a:rPr lang="en-US" sz="1000" b="1" baseline="-25000" dirty="0" err="1"/>
              <a:t>eval</a:t>
            </a:r>
            <a:r>
              <a:rPr lang="en-US" sz="1000" b="1" dirty="0"/>
              <a:t> exceeds a threshold can be an adaptive percentile score)</a:t>
            </a:r>
          </a:p>
        </p:txBody>
      </p:sp>
      <p:sp>
        <p:nvSpPr>
          <p:cNvPr id="91" name="TextBox 90">
            <a:extLst>
              <a:ext uri="{FF2B5EF4-FFF2-40B4-BE49-F238E27FC236}">
                <a16:creationId xmlns:a16="http://schemas.microsoft.com/office/drawing/2014/main" id="{BEAF22B3-9550-ECB2-BE7C-21DF30D00363}"/>
              </a:ext>
            </a:extLst>
          </p:cNvPr>
          <p:cNvSpPr txBox="1"/>
          <p:nvPr/>
        </p:nvSpPr>
        <p:spPr>
          <a:xfrm>
            <a:off x="2061314" y="2854785"/>
            <a:ext cx="1889929" cy="261610"/>
          </a:xfrm>
          <a:prstGeom prst="rect">
            <a:avLst/>
          </a:prstGeom>
          <a:noFill/>
        </p:spPr>
        <p:txBody>
          <a:bodyPr wrap="square" rtlCol="0">
            <a:spAutoFit/>
          </a:bodyPr>
          <a:lstStyle/>
          <a:p>
            <a:pPr algn="ctr"/>
            <a:r>
              <a:rPr lang="en-US" sz="1100" dirty="0"/>
              <a:t>(Time To Conflict Point)</a:t>
            </a:r>
          </a:p>
        </p:txBody>
      </p:sp>
      <p:sp>
        <p:nvSpPr>
          <p:cNvPr id="93" name="TextBox 92">
            <a:extLst>
              <a:ext uri="{FF2B5EF4-FFF2-40B4-BE49-F238E27FC236}">
                <a16:creationId xmlns:a16="http://schemas.microsoft.com/office/drawing/2014/main" id="{246D3850-5BBD-C9E8-9E70-94C08406027F}"/>
              </a:ext>
            </a:extLst>
          </p:cNvPr>
          <p:cNvSpPr txBox="1"/>
          <p:nvPr/>
        </p:nvSpPr>
        <p:spPr>
          <a:xfrm>
            <a:off x="2545755" y="4992586"/>
            <a:ext cx="1733945" cy="1061829"/>
          </a:xfrm>
          <a:prstGeom prst="rect">
            <a:avLst/>
          </a:prstGeom>
          <a:noFill/>
        </p:spPr>
        <p:txBody>
          <a:bodyPr wrap="square">
            <a:spAutoFit/>
          </a:bodyPr>
          <a:lstStyle/>
          <a:p>
            <a:pPr algn="ctr"/>
            <a:r>
              <a:rPr lang="en-US" sz="1050" dirty="0"/>
              <a:t>Self attention for –Mixing the signal</a:t>
            </a:r>
            <a:br>
              <a:rPr lang="en-US" sz="1050" dirty="0"/>
            </a:br>
            <a:br>
              <a:rPr lang="en-US" sz="1050" dirty="0"/>
            </a:br>
            <a:r>
              <a:rPr lang="en-US" sz="1050" dirty="0"/>
              <a:t> (Trust the teacher more in some contexts, rely on raw state in others)</a:t>
            </a:r>
          </a:p>
        </p:txBody>
      </p:sp>
      <p:pic>
        <p:nvPicPr>
          <p:cNvPr id="2" name="Picture 1" descr="A black background with a black square&#10;&#10;AI-generated content may be incorrect.">
            <a:extLst>
              <a:ext uri="{FF2B5EF4-FFF2-40B4-BE49-F238E27FC236}">
                <a16:creationId xmlns:a16="http://schemas.microsoft.com/office/drawing/2014/main" id="{E4031F38-A988-F3C8-B11A-634B8C324330}"/>
              </a:ext>
            </a:extLst>
          </p:cNvPr>
          <p:cNvPicPr>
            <a:picLocks noChangeAspect="1"/>
          </p:cNvPicPr>
          <p:nvPr/>
        </p:nvPicPr>
        <p:blipFill>
          <a:blip r:embed="rId11"/>
          <a:stretch>
            <a:fillRect/>
          </a:stretch>
        </p:blipFill>
        <p:spPr>
          <a:xfrm flipH="1" flipV="1">
            <a:off x="889445" y="2605040"/>
            <a:ext cx="200065" cy="200065"/>
          </a:xfrm>
          <a:prstGeom prst="rect">
            <a:avLst/>
          </a:prstGeom>
        </p:spPr>
      </p:pic>
      <p:pic>
        <p:nvPicPr>
          <p:cNvPr id="4" name="Picture 3" descr="A black background with a black square&#10;&#10;AI-generated content may be incorrect.">
            <a:extLst>
              <a:ext uri="{FF2B5EF4-FFF2-40B4-BE49-F238E27FC236}">
                <a16:creationId xmlns:a16="http://schemas.microsoft.com/office/drawing/2014/main" id="{75ACD9DC-D4B3-1615-567F-E18F6D859600}"/>
              </a:ext>
            </a:extLst>
          </p:cNvPr>
          <p:cNvPicPr>
            <a:picLocks noChangeAspect="1"/>
          </p:cNvPicPr>
          <p:nvPr/>
        </p:nvPicPr>
        <p:blipFill>
          <a:blip r:embed="rId12"/>
          <a:stretch>
            <a:fillRect/>
          </a:stretch>
        </p:blipFill>
        <p:spPr>
          <a:xfrm>
            <a:off x="1136122" y="2442807"/>
            <a:ext cx="516183" cy="516183"/>
          </a:xfrm>
          <a:prstGeom prst="rect">
            <a:avLst/>
          </a:prstGeom>
        </p:spPr>
      </p:pic>
      <p:sp>
        <p:nvSpPr>
          <p:cNvPr id="27" name="TextBox 26">
            <a:extLst>
              <a:ext uri="{FF2B5EF4-FFF2-40B4-BE49-F238E27FC236}">
                <a16:creationId xmlns:a16="http://schemas.microsoft.com/office/drawing/2014/main" id="{DDC80ECD-97F0-CB28-D172-AB9A2AFE22D1}"/>
              </a:ext>
            </a:extLst>
          </p:cNvPr>
          <p:cNvSpPr txBox="1"/>
          <p:nvPr/>
        </p:nvSpPr>
        <p:spPr>
          <a:xfrm>
            <a:off x="1030206" y="2816312"/>
            <a:ext cx="867541" cy="400110"/>
          </a:xfrm>
          <a:prstGeom prst="rect">
            <a:avLst/>
          </a:prstGeom>
          <a:noFill/>
        </p:spPr>
        <p:txBody>
          <a:bodyPr wrap="square" rtlCol="0">
            <a:spAutoFit/>
          </a:bodyPr>
          <a:lstStyle/>
          <a:p>
            <a:pPr algn="ctr"/>
            <a:r>
              <a:rPr lang="en-US" sz="1000" dirty="0"/>
              <a:t>Long tail events</a:t>
            </a:r>
          </a:p>
        </p:txBody>
      </p:sp>
      <p:sp>
        <p:nvSpPr>
          <p:cNvPr id="37" name="Rounded Rectangle 36">
            <a:extLst>
              <a:ext uri="{FF2B5EF4-FFF2-40B4-BE49-F238E27FC236}">
                <a16:creationId xmlns:a16="http://schemas.microsoft.com/office/drawing/2014/main" id="{01957051-15EB-3A00-91DE-E57F76906762}"/>
              </a:ext>
            </a:extLst>
          </p:cNvPr>
          <p:cNvSpPr/>
          <p:nvPr/>
        </p:nvSpPr>
        <p:spPr>
          <a:xfrm>
            <a:off x="7358832" y="6142868"/>
            <a:ext cx="1317939" cy="437881"/>
          </a:xfrm>
          <a:prstGeom prst="roundRect">
            <a:avLst/>
          </a:prstGeom>
          <a:solidFill>
            <a:srgbClr val="446E3F">
              <a:alpha val="16863"/>
            </a:srgbClr>
          </a:solidFill>
          <a:ln w="12700" cap="flat" cmpd="sng" algn="ctr">
            <a:solidFill>
              <a:schemeClr val="accent1"/>
            </a:solidFill>
            <a:prstDash val="lgDash"/>
            <a:miter lim="800000"/>
            <a:extLst>
              <a:ext uri="{C807C97D-BFC1-408E-A445-0C87EB9F89A2}">
                <ask:lineSketchStyleProps xmlns:ask="http://schemas.microsoft.com/office/drawing/2018/sketchyshapes" sd="1219033472">
                  <a:custGeom>
                    <a:avLst/>
                    <a:gdLst>
                      <a:gd name="connsiteX0" fmla="*/ 0 w 1317939"/>
                      <a:gd name="connsiteY0" fmla="*/ 72982 h 437881"/>
                      <a:gd name="connsiteX1" fmla="*/ 72982 w 1317939"/>
                      <a:gd name="connsiteY1" fmla="*/ 0 h 437881"/>
                      <a:gd name="connsiteX2" fmla="*/ 658970 w 1317939"/>
                      <a:gd name="connsiteY2" fmla="*/ 0 h 437881"/>
                      <a:gd name="connsiteX3" fmla="*/ 1244957 w 1317939"/>
                      <a:gd name="connsiteY3" fmla="*/ 0 h 437881"/>
                      <a:gd name="connsiteX4" fmla="*/ 1317939 w 1317939"/>
                      <a:gd name="connsiteY4" fmla="*/ 72982 h 437881"/>
                      <a:gd name="connsiteX5" fmla="*/ 1317939 w 1317939"/>
                      <a:gd name="connsiteY5" fmla="*/ 364899 h 437881"/>
                      <a:gd name="connsiteX6" fmla="*/ 1244957 w 1317939"/>
                      <a:gd name="connsiteY6" fmla="*/ 437881 h 437881"/>
                      <a:gd name="connsiteX7" fmla="*/ 647250 w 1317939"/>
                      <a:gd name="connsiteY7" fmla="*/ 437881 h 437881"/>
                      <a:gd name="connsiteX8" fmla="*/ 72982 w 1317939"/>
                      <a:gd name="connsiteY8" fmla="*/ 437881 h 437881"/>
                      <a:gd name="connsiteX9" fmla="*/ 0 w 1317939"/>
                      <a:gd name="connsiteY9" fmla="*/ 364899 h 437881"/>
                      <a:gd name="connsiteX10" fmla="*/ 0 w 1317939"/>
                      <a:gd name="connsiteY10" fmla="*/ 72982 h 43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939" h="437881" fill="none" extrusionOk="0">
                        <a:moveTo>
                          <a:pt x="0" y="72982"/>
                        </a:moveTo>
                        <a:cubicBezTo>
                          <a:pt x="2495" y="35731"/>
                          <a:pt x="36478" y="-3330"/>
                          <a:pt x="72982" y="0"/>
                        </a:cubicBezTo>
                        <a:cubicBezTo>
                          <a:pt x="194475" y="-2230"/>
                          <a:pt x="504605" y="62557"/>
                          <a:pt x="658970" y="0"/>
                        </a:cubicBezTo>
                        <a:cubicBezTo>
                          <a:pt x="813335" y="-62557"/>
                          <a:pt x="1028241" y="46093"/>
                          <a:pt x="1244957" y="0"/>
                        </a:cubicBezTo>
                        <a:cubicBezTo>
                          <a:pt x="1280435" y="-9844"/>
                          <a:pt x="1318263" y="28287"/>
                          <a:pt x="1317939" y="72982"/>
                        </a:cubicBezTo>
                        <a:cubicBezTo>
                          <a:pt x="1345857" y="210849"/>
                          <a:pt x="1300786" y="237915"/>
                          <a:pt x="1317939" y="364899"/>
                        </a:cubicBezTo>
                        <a:cubicBezTo>
                          <a:pt x="1308514" y="405594"/>
                          <a:pt x="1290711" y="428062"/>
                          <a:pt x="1244957" y="437881"/>
                        </a:cubicBezTo>
                        <a:cubicBezTo>
                          <a:pt x="1007652" y="484831"/>
                          <a:pt x="805332" y="429189"/>
                          <a:pt x="647250" y="437881"/>
                        </a:cubicBezTo>
                        <a:cubicBezTo>
                          <a:pt x="489168" y="446573"/>
                          <a:pt x="283855" y="389992"/>
                          <a:pt x="72982" y="437881"/>
                        </a:cubicBezTo>
                        <a:cubicBezTo>
                          <a:pt x="32447" y="431734"/>
                          <a:pt x="6642" y="406591"/>
                          <a:pt x="0" y="364899"/>
                        </a:cubicBezTo>
                        <a:cubicBezTo>
                          <a:pt x="-4847" y="235232"/>
                          <a:pt x="17910" y="153731"/>
                          <a:pt x="0" y="72982"/>
                        </a:cubicBezTo>
                        <a:close/>
                      </a:path>
                      <a:path w="1317939" h="437881" stroke="0" extrusionOk="0">
                        <a:moveTo>
                          <a:pt x="0" y="72982"/>
                        </a:moveTo>
                        <a:cubicBezTo>
                          <a:pt x="-8022" y="27727"/>
                          <a:pt x="21582" y="4163"/>
                          <a:pt x="72982" y="0"/>
                        </a:cubicBezTo>
                        <a:cubicBezTo>
                          <a:pt x="362370" y="-17701"/>
                          <a:pt x="557029" y="68401"/>
                          <a:pt x="682409" y="0"/>
                        </a:cubicBezTo>
                        <a:cubicBezTo>
                          <a:pt x="807789" y="-68401"/>
                          <a:pt x="1039318" y="35133"/>
                          <a:pt x="1244957" y="0"/>
                        </a:cubicBezTo>
                        <a:cubicBezTo>
                          <a:pt x="1284128" y="-621"/>
                          <a:pt x="1325602" y="36336"/>
                          <a:pt x="1317939" y="72982"/>
                        </a:cubicBezTo>
                        <a:cubicBezTo>
                          <a:pt x="1342082" y="211484"/>
                          <a:pt x="1309848" y="280261"/>
                          <a:pt x="1317939" y="364899"/>
                        </a:cubicBezTo>
                        <a:cubicBezTo>
                          <a:pt x="1323728" y="395786"/>
                          <a:pt x="1277963" y="444297"/>
                          <a:pt x="1244957" y="437881"/>
                        </a:cubicBezTo>
                        <a:cubicBezTo>
                          <a:pt x="1056981" y="480030"/>
                          <a:pt x="891570" y="395637"/>
                          <a:pt x="658970" y="437881"/>
                        </a:cubicBezTo>
                        <a:cubicBezTo>
                          <a:pt x="426370" y="480125"/>
                          <a:pt x="255213" y="389590"/>
                          <a:pt x="72982" y="437881"/>
                        </a:cubicBezTo>
                        <a:cubicBezTo>
                          <a:pt x="23707" y="437368"/>
                          <a:pt x="2651" y="397936"/>
                          <a:pt x="0" y="364899"/>
                        </a:cubicBezTo>
                        <a:cubicBezTo>
                          <a:pt x="-28107" y="249873"/>
                          <a:pt x="284" y="155358"/>
                          <a:pt x="0" y="72982"/>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Similarity loss or Evaluation loss</a:t>
            </a:r>
          </a:p>
        </p:txBody>
      </p:sp>
      <p:pic>
        <p:nvPicPr>
          <p:cNvPr id="42" name="Graphic 41" descr="Badge Follow with solid fill">
            <a:extLst>
              <a:ext uri="{FF2B5EF4-FFF2-40B4-BE49-F238E27FC236}">
                <a16:creationId xmlns:a16="http://schemas.microsoft.com/office/drawing/2014/main" id="{6841AB1A-3AAC-3774-9CFA-A81B6602994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845498" y="5913293"/>
            <a:ext cx="344606" cy="344606"/>
          </a:xfrm>
          <a:prstGeom prst="rect">
            <a:avLst/>
          </a:prstGeom>
        </p:spPr>
      </p:pic>
      <p:sp>
        <p:nvSpPr>
          <p:cNvPr id="46" name="Rounded Rectangle 45">
            <a:extLst>
              <a:ext uri="{FF2B5EF4-FFF2-40B4-BE49-F238E27FC236}">
                <a16:creationId xmlns:a16="http://schemas.microsoft.com/office/drawing/2014/main" id="{18248841-308C-E760-2D87-B4C1D1FEF39D}"/>
              </a:ext>
            </a:extLst>
          </p:cNvPr>
          <p:cNvSpPr/>
          <p:nvPr/>
        </p:nvSpPr>
        <p:spPr>
          <a:xfrm>
            <a:off x="9740802" y="4791293"/>
            <a:ext cx="1766378" cy="1294303"/>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tx1"/>
              </a:solidFill>
            </a:endParaRPr>
          </a:p>
          <a:p>
            <a:pPr algn="ctr"/>
            <a:endParaRPr lang="en-US" sz="1000" b="1" dirty="0">
              <a:solidFill>
                <a:schemeClr val="tx1"/>
              </a:solidFill>
            </a:endParaRPr>
          </a:p>
          <a:p>
            <a:pPr algn="ctr"/>
            <a:r>
              <a:rPr lang="en-US" sz="1000" dirty="0">
                <a:solidFill>
                  <a:schemeClr val="tx1"/>
                </a:solidFill>
              </a:rPr>
              <a:t>Evaluates the LLM action and suggests </a:t>
            </a:r>
            <a:r>
              <a:rPr lang="el-GR" sz="1000" dirty="0">
                <a:solidFill>
                  <a:schemeClr val="tx1"/>
                </a:solidFill>
              </a:rPr>
              <a:t>Δ</a:t>
            </a:r>
            <a:r>
              <a:rPr lang="en-US" sz="1000" dirty="0">
                <a:solidFill>
                  <a:schemeClr val="tx1"/>
                </a:solidFill>
              </a:rPr>
              <a:t>m if needed.</a:t>
            </a:r>
          </a:p>
          <a:p>
            <a:pPr algn="ctr"/>
            <a:r>
              <a:rPr lang="en-US" sz="1000" dirty="0">
                <a:solidFill>
                  <a:schemeClr val="tx1"/>
                </a:solidFill>
              </a:rPr>
              <a:t>Updates the memory</a:t>
            </a:r>
          </a:p>
          <a:p>
            <a:pPr algn="ctr"/>
            <a:r>
              <a:rPr lang="en-US" sz="1000" dirty="0">
                <a:solidFill>
                  <a:schemeClr val="tx1"/>
                </a:solidFill>
              </a:rPr>
              <a:t> </a:t>
            </a:r>
          </a:p>
        </p:txBody>
      </p:sp>
      <p:sp>
        <p:nvSpPr>
          <p:cNvPr id="61" name="TextBox 60">
            <a:extLst>
              <a:ext uri="{FF2B5EF4-FFF2-40B4-BE49-F238E27FC236}">
                <a16:creationId xmlns:a16="http://schemas.microsoft.com/office/drawing/2014/main" id="{4A7613E9-68C0-0440-53A3-749F4646F472}"/>
              </a:ext>
            </a:extLst>
          </p:cNvPr>
          <p:cNvSpPr txBox="1"/>
          <p:nvPr/>
        </p:nvSpPr>
        <p:spPr>
          <a:xfrm>
            <a:off x="9848499" y="4823643"/>
            <a:ext cx="1543401" cy="307777"/>
          </a:xfrm>
          <a:prstGeom prst="rect">
            <a:avLst/>
          </a:prstGeom>
          <a:noFill/>
        </p:spPr>
        <p:txBody>
          <a:bodyPr wrap="square" rtlCol="0">
            <a:spAutoFit/>
          </a:bodyPr>
          <a:lstStyle/>
          <a:p>
            <a:r>
              <a:rPr lang="en-US" sz="1400" b="1" dirty="0"/>
              <a:t>Evaluator Engine</a:t>
            </a:r>
          </a:p>
        </p:txBody>
      </p:sp>
      <p:sp>
        <p:nvSpPr>
          <p:cNvPr id="9" name="Right Brace 8">
            <a:extLst>
              <a:ext uri="{FF2B5EF4-FFF2-40B4-BE49-F238E27FC236}">
                <a16:creationId xmlns:a16="http://schemas.microsoft.com/office/drawing/2014/main" id="{CC5D0D1F-3A43-48C6-4F2A-A55B14C09656}"/>
              </a:ext>
            </a:extLst>
          </p:cNvPr>
          <p:cNvSpPr/>
          <p:nvPr/>
        </p:nvSpPr>
        <p:spPr>
          <a:xfrm>
            <a:off x="8717243" y="5249039"/>
            <a:ext cx="341975" cy="1127305"/>
          </a:xfrm>
          <a:prstGeom prst="rightBrace">
            <a:avLst>
              <a:gd name="adj1" fmla="val 8333"/>
              <a:gd name="adj2" fmla="val 489"/>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6ABA0E0A-E29C-A27E-53C3-A721FAEF6A51}"/>
              </a:ext>
            </a:extLst>
          </p:cNvPr>
          <p:cNvSpPr txBox="1"/>
          <p:nvPr/>
        </p:nvSpPr>
        <p:spPr>
          <a:xfrm>
            <a:off x="8630077" y="6421499"/>
            <a:ext cx="1377892" cy="246221"/>
          </a:xfrm>
          <a:prstGeom prst="rect">
            <a:avLst/>
          </a:prstGeom>
          <a:noFill/>
        </p:spPr>
        <p:txBody>
          <a:bodyPr wrap="square" rtlCol="0">
            <a:spAutoFit/>
          </a:bodyPr>
          <a:lstStyle/>
          <a:p>
            <a:pPr algn="ctr"/>
            <a:r>
              <a:rPr lang="en-US" sz="1000" b="1" dirty="0"/>
              <a:t>KL loss and L </a:t>
            </a:r>
            <a:r>
              <a:rPr lang="en-US" sz="1000" b="1" baseline="-25000" dirty="0"/>
              <a:t>Eval </a:t>
            </a:r>
            <a:r>
              <a:rPr lang="en-US" sz="1000" b="1" dirty="0"/>
              <a:t> </a:t>
            </a:r>
          </a:p>
        </p:txBody>
      </p:sp>
    </p:spTree>
    <p:extLst>
      <p:ext uri="{BB962C8B-B14F-4D97-AF65-F5344CB8AC3E}">
        <p14:creationId xmlns:p14="http://schemas.microsoft.com/office/powerpoint/2010/main" val="1592595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2FD9AA3-3525-1004-C709-306A7443EDA7}"/>
              </a:ext>
            </a:extLst>
          </p:cNvPr>
          <p:cNvSpPr/>
          <p:nvPr/>
        </p:nvSpPr>
        <p:spPr>
          <a:xfrm>
            <a:off x="1329341" y="423083"/>
            <a:ext cx="10218239" cy="3192633"/>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black background with a black square&#10;&#10;AI-generated content may be incorrect.">
            <a:extLst>
              <a:ext uri="{FF2B5EF4-FFF2-40B4-BE49-F238E27FC236}">
                <a16:creationId xmlns:a16="http://schemas.microsoft.com/office/drawing/2014/main" id="{5B344384-4BC3-AAB3-92F3-C402BB156088}"/>
              </a:ext>
            </a:extLst>
          </p:cNvPr>
          <p:cNvPicPr>
            <a:picLocks noChangeAspect="1"/>
          </p:cNvPicPr>
          <p:nvPr/>
        </p:nvPicPr>
        <p:blipFill>
          <a:blip r:embed="rId3"/>
          <a:stretch>
            <a:fillRect/>
          </a:stretch>
        </p:blipFill>
        <p:spPr>
          <a:xfrm>
            <a:off x="503644" y="2314098"/>
            <a:ext cx="629587" cy="629587"/>
          </a:xfrm>
          <a:prstGeom prst="rect">
            <a:avLst/>
          </a:prstGeom>
        </p:spPr>
      </p:pic>
      <p:sp>
        <p:nvSpPr>
          <p:cNvPr id="9" name="TextBox 8">
            <a:extLst>
              <a:ext uri="{FF2B5EF4-FFF2-40B4-BE49-F238E27FC236}">
                <a16:creationId xmlns:a16="http://schemas.microsoft.com/office/drawing/2014/main" id="{B0174162-0269-1E6F-31B3-E50B0DC5EE85}"/>
              </a:ext>
            </a:extLst>
          </p:cNvPr>
          <p:cNvSpPr txBox="1"/>
          <p:nvPr/>
        </p:nvSpPr>
        <p:spPr>
          <a:xfrm>
            <a:off x="139427" y="2104286"/>
            <a:ext cx="1300620" cy="246221"/>
          </a:xfrm>
          <a:prstGeom prst="rect">
            <a:avLst/>
          </a:prstGeom>
          <a:noFill/>
        </p:spPr>
        <p:txBody>
          <a:bodyPr wrap="square" rtlCol="0">
            <a:spAutoFit/>
          </a:bodyPr>
          <a:lstStyle/>
          <a:p>
            <a:pPr algn="ctr"/>
            <a:r>
              <a:rPr lang="en-US" sz="1000" dirty="0"/>
              <a:t>State information</a:t>
            </a:r>
          </a:p>
        </p:txBody>
      </p:sp>
      <p:pic>
        <p:nvPicPr>
          <p:cNvPr id="17" name="Picture 16" descr="A blue head with lines and symbols&#10;&#10;AI-generated content may be incorrect.">
            <a:extLst>
              <a:ext uri="{FF2B5EF4-FFF2-40B4-BE49-F238E27FC236}">
                <a16:creationId xmlns:a16="http://schemas.microsoft.com/office/drawing/2014/main" id="{A1A6A183-BE1A-054E-66F2-3A659AE40EAF}"/>
              </a:ext>
            </a:extLst>
          </p:cNvPr>
          <p:cNvPicPr>
            <a:picLocks noChangeAspect="1"/>
          </p:cNvPicPr>
          <p:nvPr/>
        </p:nvPicPr>
        <p:blipFill>
          <a:blip r:embed="rId4"/>
          <a:stretch>
            <a:fillRect/>
          </a:stretch>
        </p:blipFill>
        <p:spPr>
          <a:xfrm>
            <a:off x="3846111" y="4390528"/>
            <a:ext cx="772236" cy="772236"/>
          </a:xfrm>
          <a:prstGeom prst="rect">
            <a:avLst/>
          </a:prstGeom>
        </p:spPr>
      </p:pic>
      <p:pic>
        <p:nvPicPr>
          <p:cNvPr id="18" name="Graphic 17" descr="Arrow Right with solid fill">
            <a:extLst>
              <a:ext uri="{FF2B5EF4-FFF2-40B4-BE49-F238E27FC236}">
                <a16:creationId xmlns:a16="http://schemas.microsoft.com/office/drawing/2014/main" id="{B3AD67FE-B845-30F8-A4F1-7DE82541CF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07199">
            <a:off x="4579645" y="4152598"/>
            <a:ext cx="721221" cy="721221"/>
          </a:xfrm>
          <a:prstGeom prst="rect">
            <a:avLst/>
          </a:prstGeom>
        </p:spPr>
      </p:pic>
      <p:pic>
        <p:nvPicPr>
          <p:cNvPr id="19" name="Graphic 18" descr="Arrow Right with solid fill">
            <a:extLst>
              <a:ext uri="{FF2B5EF4-FFF2-40B4-BE49-F238E27FC236}">
                <a16:creationId xmlns:a16="http://schemas.microsoft.com/office/drawing/2014/main" id="{F14F42A9-1873-5B6E-10C5-4544688754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76779">
            <a:off x="4507992" y="4904141"/>
            <a:ext cx="721221" cy="721221"/>
          </a:xfrm>
          <a:prstGeom prst="rect">
            <a:avLst/>
          </a:prstGeom>
        </p:spPr>
      </p:pic>
      <p:sp>
        <p:nvSpPr>
          <p:cNvPr id="20" name="TextBox 19">
            <a:extLst>
              <a:ext uri="{FF2B5EF4-FFF2-40B4-BE49-F238E27FC236}">
                <a16:creationId xmlns:a16="http://schemas.microsoft.com/office/drawing/2014/main" id="{F1D39C1D-AE69-2D8E-88D5-251EB4C7BBDF}"/>
              </a:ext>
            </a:extLst>
          </p:cNvPr>
          <p:cNvSpPr txBox="1"/>
          <p:nvPr/>
        </p:nvSpPr>
        <p:spPr>
          <a:xfrm>
            <a:off x="5194817" y="4209408"/>
            <a:ext cx="1124262" cy="553998"/>
          </a:xfrm>
          <a:prstGeom prst="rect">
            <a:avLst/>
          </a:prstGeom>
          <a:noFill/>
        </p:spPr>
        <p:txBody>
          <a:bodyPr wrap="square" rtlCol="0">
            <a:spAutoFit/>
          </a:bodyPr>
          <a:lstStyle/>
          <a:p>
            <a:pPr algn="ctr"/>
            <a:r>
              <a:rPr lang="en-US" sz="1000" dirty="0"/>
              <a:t>Actor Network – Probability over actions </a:t>
            </a:r>
          </a:p>
        </p:txBody>
      </p:sp>
      <p:sp>
        <p:nvSpPr>
          <p:cNvPr id="21" name="TextBox 20">
            <a:extLst>
              <a:ext uri="{FF2B5EF4-FFF2-40B4-BE49-F238E27FC236}">
                <a16:creationId xmlns:a16="http://schemas.microsoft.com/office/drawing/2014/main" id="{E830BB2E-BD84-2970-826C-274BD09158CE}"/>
              </a:ext>
            </a:extLst>
          </p:cNvPr>
          <p:cNvSpPr txBox="1"/>
          <p:nvPr/>
        </p:nvSpPr>
        <p:spPr>
          <a:xfrm>
            <a:off x="5171867" y="5179860"/>
            <a:ext cx="1124262" cy="553998"/>
          </a:xfrm>
          <a:prstGeom prst="rect">
            <a:avLst/>
          </a:prstGeom>
          <a:noFill/>
        </p:spPr>
        <p:txBody>
          <a:bodyPr wrap="square" rtlCol="0">
            <a:spAutoFit/>
          </a:bodyPr>
          <a:lstStyle/>
          <a:p>
            <a:pPr algn="ctr"/>
            <a:r>
              <a:rPr lang="en-US" sz="1000" dirty="0"/>
              <a:t>Critic Network – expected return over the action</a:t>
            </a:r>
          </a:p>
        </p:txBody>
      </p:sp>
      <p:cxnSp>
        <p:nvCxnSpPr>
          <p:cNvPr id="25" name="Elbow Connector 24">
            <a:extLst>
              <a:ext uri="{FF2B5EF4-FFF2-40B4-BE49-F238E27FC236}">
                <a16:creationId xmlns:a16="http://schemas.microsoft.com/office/drawing/2014/main" id="{81B059D4-8FF9-5405-65B6-E0A7EE888197}"/>
              </a:ext>
            </a:extLst>
          </p:cNvPr>
          <p:cNvCxnSpPr>
            <a:cxnSpLocks/>
            <a:stCxn id="30" idx="2"/>
            <a:endCxn id="39" idx="3"/>
          </p:cNvCxnSpPr>
          <p:nvPr/>
        </p:nvCxnSpPr>
        <p:spPr>
          <a:xfrm rot="16200000" flipH="1">
            <a:off x="504294" y="3957215"/>
            <a:ext cx="1076067" cy="38132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28" name="Rounded Rectangle 27">
            <a:extLst>
              <a:ext uri="{FF2B5EF4-FFF2-40B4-BE49-F238E27FC236}">
                <a16:creationId xmlns:a16="http://schemas.microsoft.com/office/drawing/2014/main" id="{957F6E8E-7500-59C2-3BF5-90E35741ECC8}"/>
              </a:ext>
            </a:extLst>
          </p:cNvPr>
          <p:cNvSpPr/>
          <p:nvPr/>
        </p:nvSpPr>
        <p:spPr>
          <a:xfrm>
            <a:off x="2157462" y="4430806"/>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Self Attention</a:t>
            </a:r>
          </a:p>
        </p:txBody>
      </p:sp>
      <p:sp>
        <p:nvSpPr>
          <p:cNvPr id="29" name="TextBox 28">
            <a:extLst>
              <a:ext uri="{FF2B5EF4-FFF2-40B4-BE49-F238E27FC236}">
                <a16:creationId xmlns:a16="http://schemas.microsoft.com/office/drawing/2014/main" id="{0D1AE07F-2C10-A896-5005-CD5C4F09E10B}"/>
              </a:ext>
            </a:extLst>
          </p:cNvPr>
          <p:cNvSpPr txBox="1"/>
          <p:nvPr/>
        </p:nvSpPr>
        <p:spPr>
          <a:xfrm>
            <a:off x="1134093" y="3739507"/>
            <a:ext cx="4104990" cy="276999"/>
          </a:xfrm>
          <a:prstGeom prst="rect">
            <a:avLst/>
          </a:prstGeom>
          <a:noFill/>
        </p:spPr>
        <p:txBody>
          <a:bodyPr wrap="square" rtlCol="0">
            <a:spAutoFit/>
          </a:bodyPr>
          <a:lstStyle/>
          <a:p>
            <a:pPr algn="ctr"/>
            <a:r>
              <a:rPr lang="en-US" sz="1200" b="1" dirty="0"/>
              <a:t>The  LLM action gets mapped into a vector a</a:t>
            </a:r>
            <a:r>
              <a:rPr lang="en-US" sz="1200" b="1" baseline="-25000" dirty="0"/>
              <a:t>t</a:t>
            </a:r>
          </a:p>
        </p:txBody>
      </p:sp>
      <p:sp>
        <p:nvSpPr>
          <p:cNvPr id="30" name="TextBox 29">
            <a:extLst>
              <a:ext uri="{FF2B5EF4-FFF2-40B4-BE49-F238E27FC236}">
                <a16:creationId xmlns:a16="http://schemas.microsoft.com/office/drawing/2014/main" id="{52119E6C-438F-8521-835A-2CDB7FB4ABCF}"/>
              </a:ext>
            </a:extLst>
          </p:cNvPr>
          <p:cNvSpPr txBox="1"/>
          <p:nvPr/>
        </p:nvSpPr>
        <p:spPr>
          <a:xfrm>
            <a:off x="139427" y="2871180"/>
            <a:ext cx="1424475" cy="738664"/>
          </a:xfrm>
          <a:prstGeom prst="rect">
            <a:avLst/>
          </a:prstGeom>
          <a:noFill/>
        </p:spPr>
        <p:txBody>
          <a:bodyPr wrap="square" rtlCol="0">
            <a:spAutoFit/>
          </a:bodyPr>
          <a:lstStyle/>
          <a:p>
            <a:pPr algn="ctr"/>
            <a:r>
              <a:rPr lang="en-US" sz="1050" dirty="0"/>
              <a:t>The state representation gets mapped into a vector h </a:t>
            </a:r>
            <a:r>
              <a:rPr lang="en-US" sz="1050" baseline="30000" dirty="0" err="1"/>
              <a:t>s</a:t>
            </a:r>
            <a:r>
              <a:rPr lang="en-US" sz="1050" baseline="-25000" dirty="0" err="1"/>
              <a:t>t</a:t>
            </a:r>
            <a:r>
              <a:rPr lang="en-US" sz="1050" baseline="-25000" dirty="0"/>
              <a:t> </a:t>
            </a:r>
          </a:p>
        </p:txBody>
      </p:sp>
      <p:pic>
        <p:nvPicPr>
          <p:cNvPr id="31" name="Graphic 30" descr="Arrow Right with solid fill">
            <a:extLst>
              <a:ext uri="{FF2B5EF4-FFF2-40B4-BE49-F238E27FC236}">
                <a16:creationId xmlns:a16="http://schemas.microsoft.com/office/drawing/2014/main" id="{15372FD0-0583-59D2-D87E-EC46364E8C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85904" y="4451926"/>
            <a:ext cx="374336" cy="448417"/>
          </a:xfrm>
          <a:prstGeom prst="rect">
            <a:avLst/>
          </a:prstGeom>
        </p:spPr>
      </p:pic>
      <p:sp>
        <p:nvSpPr>
          <p:cNvPr id="32" name="TextBox 31">
            <a:extLst>
              <a:ext uri="{FF2B5EF4-FFF2-40B4-BE49-F238E27FC236}">
                <a16:creationId xmlns:a16="http://schemas.microsoft.com/office/drawing/2014/main" id="{E924CCC4-2136-EF4E-60D2-AAD17213039C}"/>
              </a:ext>
            </a:extLst>
          </p:cNvPr>
          <p:cNvSpPr txBox="1"/>
          <p:nvPr/>
        </p:nvSpPr>
        <p:spPr>
          <a:xfrm>
            <a:off x="3050350" y="4700526"/>
            <a:ext cx="1124262" cy="261610"/>
          </a:xfrm>
          <a:prstGeom prst="rect">
            <a:avLst/>
          </a:prstGeom>
          <a:noFill/>
        </p:spPr>
        <p:txBody>
          <a:bodyPr wrap="square" rtlCol="0">
            <a:spAutoFit/>
          </a:bodyPr>
          <a:lstStyle/>
          <a:p>
            <a:pPr algn="ctr"/>
            <a:r>
              <a:rPr lang="en-US" sz="1100" b="1" dirty="0" err="1"/>
              <a:t>h</a:t>
            </a:r>
            <a:r>
              <a:rPr lang="en-US" sz="1100" b="1" baseline="-25000" dirty="0" err="1"/>
              <a:t>t</a:t>
            </a:r>
            <a:endParaRPr lang="en-US" sz="1100" b="1" dirty="0"/>
          </a:p>
        </p:txBody>
      </p:sp>
      <p:pic>
        <p:nvPicPr>
          <p:cNvPr id="34" name="Graphic 33" descr="Arrow Right with solid fill">
            <a:extLst>
              <a:ext uri="{FF2B5EF4-FFF2-40B4-BE49-F238E27FC236}">
                <a16:creationId xmlns:a16="http://schemas.microsoft.com/office/drawing/2014/main" id="{37A1BF08-E8DC-8B64-71A3-0F9AA0A477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7542" y="2399954"/>
            <a:ext cx="300699" cy="448417"/>
          </a:xfrm>
          <a:prstGeom prst="rect">
            <a:avLst/>
          </a:prstGeom>
        </p:spPr>
      </p:pic>
      <p:sp>
        <p:nvSpPr>
          <p:cNvPr id="38" name="TextBox 37">
            <a:extLst>
              <a:ext uri="{FF2B5EF4-FFF2-40B4-BE49-F238E27FC236}">
                <a16:creationId xmlns:a16="http://schemas.microsoft.com/office/drawing/2014/main" id="{6E9E266F-5209-625C-A8BE-C2613840E96F}"/>
              </a:ext>
            </a:extLst>
          </p:cNvPr>
          <p:cNvSpPr txBox="1"/>
          <p:nvPr/>
        </p:nvSpPr>
        <p:spPr>
          <a:xfrm>
            <a:off x="107636" y="6248400"/>
            <a:ext cx="10691265" cy="338554"/>
          </a:xfrm>
          <a:prstGeom prst="rect">
            <a:avLst/>
          </a:prstGeom>
          <a:noFill/>
        </p:spPr>
        <p:txBody>
          <a:bodyPr wrap="square" rtlCol="0">
            <a:spAutoFit/>
          </a:bodyPr>
          <a:lstStyle/>
          <a:p>
            <a:r>
              <a:rPr lang="en-US" sz="1600" dirty="0"/>
              <a:t>Preprint in </a:t>
            </a:r>
            <a:r>
              <a:rPr lang="en-US" sz="1600" dirty="0" err="1"/>
              <a:t>ArXiv</a:t>
            </a:r>
            <a:r>
              <a:rPr lang="en-US" sz="1600" dirty="0"/>
              <a:t>, Feb 2025</a:t>
            </a:r>
            <a:endParaRPr lang="en-SG" sz="1600" dirty="0"/>
          </a:p>
        </p:txBody>
      </p:sp>
      <p:pic>
        <p:nvPicPr>
          <p:cNvPr id="39" name="Picture 38" descr="A black background with a black square&#10;&#10;AI-generated content may be incorrect.">
            <a:extLst>
              <a:ext uri="{FF2B5EF4-FFF2-40B4-BE49-F238E27FC236}">
                <a16:creationId xmlns:a16="http://schemas.microsoft.com/office/drawing/2014/main" id="{CB65F443-3897-6B5C-04CD-CAF3D8D6290D}"/>
              </a:ext>
            </a:extLst>
          </p:cNvPr>
          <p:cNvPicPr>
            <a:picLocks noChangeAspect="1"/>
          </p:cNvPicPr>
          <p:nvPr/>
        </p:nvPicPr>
        <p:blipFill>
          <a:blip r:embed="rId7"/>
          <a:stretch>
            <a:fillRect/>
          </a:stretch>
        </p:blipFill>
        <p:spPr>
          <a:xfrm flipH="1">
            <a:off x="1232989" y="4568147"/>
            <a:ext cx="235527" cy="235527"/>
          </a:xfrm>
          <a:prstGeom prst="rect">
            <a:avLst/>
          </a:prstGeom>
        </p:spPr>
      </p:pic>
      <p:cxnSp>
        <p:nvCxnSpPr>
          <p:cNvPr id="40" name="Straight Arrow Connector 39">
            <a:extLst>
              <a:ext uri="{FF2B5EF4-FFF2-40B4-BE49-F238E27FC236}">
                <a16:creationId xmlns:a16="http://schemas.microsoft.com/office/drawing/2014/main" id="{9AF5644E-2B36-842E-A260-548AD5D14F4F}"/>
              </a:ext>
            </a:extLst>
          </p:cNvPr>
          <p:cNvCxnSpPr>
            <a:cxnSpLocks/>
            <a:stCxn id="39" idx="1"/>
            <a:endCxn id="28" idx="1"/>
          </p:cNvCxnSpPr>
          <p:nvPr/>
        </p:nvCxnSpPr>
        <p:spPr>
          <a:xfrm>
            <a:off x="1468516" y="4685911"/>
            <a:ext cx="6889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35FDAE0A-CDCF-051F-F1D9-AA2AF9BE49AA}"/>
              </a:ext>
            </a:extLst>
          </p:cNvPr>
          <p:cNvSpPr txBox="1"/>
          <p:nvPr/>
        </p:nvSpPr>
        <p:spPr>
          <a:xfrm>
            <a:off x="603383" y="4760841"/>
            <a:ext cx="1449235" cy="784830"/>
          </a:xfrm>
          <a:prstGeom prst="rect">
            <a:avLst/>
          </a:prstGeom>
          <a:noFill/>
        </p:spPr>
        <p:txBody>
          <a:bodyPr wrap="square" rtlCol="0">
            <a:spAutoFit/>
          </a:bodyPr>
          <a:lstStyle/>
          <a:p>
            <a:pPr algn="ctr"/>
            <a:r>
              <a:rPr lang="en-US" sz="1100" dirty="0"/>
              <a:t>Concatenation of state vector </a:t>
            </a:r>
            <a:r>
              <a:rPr lang="en-US" sz="1100" b="1" dirty="0"/>
              <a:t>(h </a:t>
            </a:r>
            <a:r>
              <a:rPr lang="en-US" sz="1100" b="1" baseline="30000" dirty="0" err="1"/>
              <a:t>s</a:t>
            </a:r>
            <a:r>
              <a:rPr lang="en-US" sz="1100" b="1" baseline="-25000" dirty="0" err="1"/>
              <a:t>t</a:t>
            </a:r>
            <a:r>
              <a:rPr lang="en-US" sz="1100" b="1" baseline="-25000" dirty="0"/>
              <a:t> </a:t>
            </a:r>
            <a:r>
              <a:rPr lang="en-US" sz="1100" b="1" dirty="0"/>
              <a:t>) </a:t>
            </a:r>
            <a:r>
              <a:rPr lang="en-US" sz="1100" dirty="0"/>
              <a:t>and LLM action</a:t>
            </a:r>
            <a:r>
              <a:rPr lang="en-US" sz="1100" b="1" dirty="0"/>
              <a:t>(a</a:t>
            </a:r>
            <a:r>
              <a:rPr lang="en-US" sz="1100" b="1" baseline="-25000" dirty="0"/>
              <a:t>t</a:t>
            </a:r>
            <a:r>
              <a:rPr lang="en-US" sz="1100" b="1" dirty="0"/>
              <a:t>)</a:t>
            </a:r>
            <a:r>
              <a:rPr lang="en-US" sz="1100" dirty="0"/>
              <a:t> to get vector (</a:t>
            </a:r>
            <a:r>
              <a:rPr lang="en-US" sz="1100" b="1" dirty="0" err="1"/>
              <a:t>h</a:t>
            </a:r>
            <a:r>
              <a:rPr lang="en-US" sz="1100" b="1" baseline="-25000" dirty="0" err="1"/>
              <a:t>t</a:t>
            </a:r>
            <a:r>
              <a:rPr lang="en-US" sz="1100" dirty="0"/>
              <a:t>)</a:t>
            </a:r>
          </a:p>
        </p:txBody>
      </p:sp>
      <p:pic>
        <p:nvPicPr>
          <p:cNvPr id="45" name="Graphic 44" descr="Arrow Right with solid fill">
            <a:extLst>
              <a:ext uri="{FF2B5EF4-FFF2-40B4-BE49-F238E27FC236}">
                <a16:creationId xmlns:a16="http://schemas.microsoft.com/office/drawing/2014/main" id="{A59868B4-E696-F89C-A58A-DDC73A0EDA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9536" y="5212796"/>
            <a:ext cx="374336" cy="448417"/>
          </a:xfrm>
          <a:prstGeom prst="rect">
            <a:avLst/>
          </a:prstGeom>
        </p:spPr>
      </p:pic>
      <p:pic>
        <p:nvPicPr>
          <p:cNvPr id="46" name="Graphic 45" descr="Arrow Right with solid fill">
            <a:extLst>
              <a:ext uri="{FF2B5EF4-FFF2-40B4-BE49-F238E27FC236}">
                <a16:creationId xmlns:a16="http://schemas.microsoft.com/office/drawing/2014/main" id="{93FE7ACE-7ECF-06F9-DB59-BEB1E12117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9536" y="4227717"/>
            <a:ext cx="374336" cy="448417"/>
          </a:xfrm>
          <a:prstGeom prst="rect">
            <a:avLst/>
          </a:prstGeom>
        </p:spPr>
      </p:pic>
      <p:sp>
        <p:nvSpPr>
          <p:cNvPr id="50" name="TextBox 49">
            <a:extLst>
              <a:ext uri="{FF2B5EF4-FFF2-40B4-BE49-F238E27FC236}">
                <a16:creationId xmlns:a16="http://schemas.microsoft.com/office/drawing/2014/main" id="{BB385267-3C59-8B32-9FB6-B9A07F35E740}"/>
              </a:ext>
            </a:extLst>
          </p:cNvPr>
          <p:cNvSpPr txBox="1"/>
          <p:nvPr/>
        </p:nvSpPr>
        <p:spPr>
          <a:xfrm>
            <a:off x="5239083" y="93593"/>
            <a:ext cx="1723136" cy="307777"/>
          </a:xfrm>
          <a:prstGeom prst="rect">
            <a:avLst/>
          </a:prstGeom>
          <a:noFill/>
        </p:spPr>
        <p:txBody>
          <a:bodyPr wrap="square" rtlCol="0">
            <a:spAutoFit/>
          </a:bodyPr>
          <a:lstStyle/>
          <a:p>
            <a:pPr algn="ctr"/>
            <a:r>
              <a:rPr lang="en-US" sz="1400" b="1" dirty="0"/>
              <a:t>Decision Engine</a:t>
            </a:r>
          </a:p>
        </p:txBody>
      </p:sp>
      <p:sp>
        <p:nvSpPr>
          <p:cNvPr id="53" name="TextBox 52">
            <a:extLst>
              <a:ext uri="{FF2B5EF4-FFF2-40B4-BE49-F238E27FC236}">
                <a16:creationId xmlns:a16="http://schemas.microsoft.com/office/drawing/2014/main" id="{7A01C5E8-5B0A-91FF-D44E-007E4D68E072}"/>
              </a:ext>
            </a:extLst>
          </p:cNvPr>
          <p:cNvSpPr txBox="1"/>
          <p:nvPr/>
        </p:nvSpPr>
        <p:spPr>
          <a:xfrm>
            <a:off x="1952756" y="4992586"/>
            <a:ext cx="1733945" cy="1061829"/>
          </a:xfrm>
          <a:prstGeom prst="rect">
            <a:avLst/>
          </a:prstGeom>
          <a:noFill/>
        </p:spPr>
        <p:txBody>
          <a:bodyPr wrap="square">
            <a:spAutoFit/>
          </a:bodyPr>
          <a:lstStyle/>
          <a:p>
            <a:pPr algn="ctr"/>
            <a:r>
              <a:rPr lang="en-US" sz="1050" dirty="0"/>
              <a:t>Self attention for –Mixing the signal</a:t>
            </a:r>
            <a:br>
              <a:rPr lang="en-US" sz="1050" dirty="0"/>
            </a:br>
            <a:br>
              <a:rPr lang="en-US" sz="1050" dirty="0"/>
            </a:br>
            <a:r>
              <a:rPr lang="en-US" sz="1050" dirty="0"/>
              <a:t> (Trust the teacher more in some contexts, rely on raw state in others)</a:t>
            </a:r>
          </a:p>
        </p:txBody>
      </p:sp>
      <p:pic>
        <p:nvPicPr>
          <p:cNvPr id="73" name="Graphic 72" descr="Arrow Right with solid fill">
            <a:extLst>
              <a:ext uri="{FF2B5EF4-FFF2-40B4-BE49-F238E27FC236}">
                <a16:creationId xmlns:a16="http://schemas.microsoft.com/office/drawing/2014/main" id="{498F8BFC-A806-21B0-689D-BFA2BBCE89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4125708" y="1779748"/>
            <a:ext cx="618084" cy="448417"/>
          </a:xfrm>
          <a:prstGeom prst="rect">
            <a:avLst/>
          </a:prstGeom>
        </p:spPr>
      </p:pic>
      <p:sp>
        <p:nvSpPr>
          <p:cNvPr id="75" name="Rounded Rectangle 74">
            <a:extLst>
              <a:ext uri="{FF2B5EF4-FFF2-40B4-BE49-F238E27FC236}">
                <a16:creationId xmlns:a16="http://schemas.microsoft.com/office/drawing/2014/main" id="{678325F8-F28A-AD71-DB15-A6927B26FB49}"/>
              </a:ext>
            </a:extLst>
          </p:cNvPr>
          <p:cNvSpPr/>
          <p:nvPr/>
        </p:nvSpPr>
        <p:spPr>
          <a:xfrm>
            <a:off x="1844762" y="1044079"/>
            <a:ext cx="1655180" cy="208013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ln w="0"/>
                <a:solidFill>
                  <a:schemeClr val="tx1"/>
                </a:solidFill>
                <a:effectLst>
                  <a:outerShdw blurRad="38100" dist="19050" dir="2700000" algn="tl" rotWithShape="0">
                    <a:schemeClr val="dk1">
                      <a:alpha val="40000"/>
                    </a:schemeClr>
                  </a:outerShdw>
                </a:effectLst>
              </a:rPr>
              <a:t>Structure observation state in a string format:</a:t>
            </a:r>
          </a:p>
          <a:p>
            <a:pPr algn="ctr"/>
            <a:endParaRPr lang="en-US" sz="800" dirty="0">
              <a:ln w="0"/>
              <a:solidFill>
                <a:schemeClr val="tx1"/>
              </a:solidFill>
              <a:effectLst>
                <a:outerShdw blurRad="38100" dist="19050" dir="2700000" algn="tl" rotWithShape="0">
                  <a:schemeClr val="dk1">
                    <a:alpha val="40000"/>
                  </a:schemeClr>
                </a:outerShdw>
              </a:effectLst>
            </a:endParaRP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Coordinates of </a:t>
            </a:r>
            <a:r>
              <a:rPr lang="en-US" sz="800" dirty="0" err="1">
                <a:ln w="0"/>
                <a:solidFill>
                  <a:schemeClr val="tx1"/>
                </a:solidFill>
                <a:effectLst>
                  <a:outerShdw blurRad="38100" dist="19050" dir="2700000" algn="tl" rotWithShape="0">
                    <a:schemeClr val="dk1">
                      <a:alpha val="40000"/>
                    </a:schemeClr>
                  </a:outerShdw>
                </a:effectLst>
              </a:rPr>
              <a:t>ownship</a:t>
            </a:r>
            <a:r>
              <a:rPr lang="en-US" sz="800" dirty="0">
                <a:ln w="0"/>
                <a:solidFill>
                  <a:schemeClr val="tx1"/>
                </a:solidFill>
                <a:effectLst>
                  <a:outerShdw blurRad="38100" dist="19050" dir="2700000" algn="tl" rotWithShape="0">
                    <a:schemeClr val="dk1">
                      <a:alpha val="40000"/>
                    </a:schemeClr>
                  </a:outerShdw>
                </a:effectLst>
              </a:rPr>
              <a:t> and intruder</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Headings of </a:t>
            </a:r>
            <a:r>
              <a:rPr lang="en-US" sz="800" dirty="0" err="1">
                <a:ln w="0"/>
                <a:solidFill>
                  <a:schemeClr val="tx1"/>
                </a:solidFill>
                <a:effectLst>
                  <a:outerShdw blurRad="38100" dist="19050" dir="2700000" algn="tl" rotWithShape="0">
                    <a:schemeClr val="dk1">
                      <a:alpha val="40000"/>
                    </a:schemeClr>
                  </a:outerShdw>
                </a:effectLst>
              </a:rPr>
              <a:t>ownship</a:t>
            </a:r>
            <a:r>
              <a:rPr lang="en-US" sz="800" dirty="0">
                <a:ln w="0"/>
                <a:solidFill>
                  <a:schemeClr val="tx1"/>
                </a:solidFill>
                <a:effectLst>
                  <a:outerShdw blurRad="38100" dist="19050" dir="2700000" algn="tl" rotWithShape="0">
                    <a:schemeClr val="dk1">
                      <a:alpha val="40000"/>
                    </a:schemeClr>
                  </a:outerShdw>
                </a:effectLst>
              </a:rPr>
              <a:t> and intruder</a:t>
            </a:r>
          </a:p>
          <a:p>
            <a:pPr marL="171450" indent="-171450">
              <a:buFont typeface="Arial" panose="020B0604020202020204" pitchFamily="34" charset="0"/>
              <a:buChar char="•"/>
            </a:pPr>
            <a:r>
              <a:rPr lang="en-US" sz="800" dirty="0" err="1">
                <a:ln w="0"/>
                <a:solidFill>
                  <a:schemeClr val="tx1"/>
                </a:solidFill>
                <a:effectLst>
                  <a:outerShdw blurRad="38100" dist="19050" dir="2700000" algn="tl" rotWithShape="0">
                    <a:schemeClr val="dk1">
                      <a:alpha val="40000"/>
                    </a:schemeClr>
                  </a:outerShdw>
                </a:effectLst>
              </a:rPr>
              <a:t>Ownship</a:t>
            </a:r>
            <a:r>
              <a:rPr lang="en-US" sz="800" dirty="0">
                <a:ln w="0"/>
                <a:solidFill>
                  <a:schemeClr val="tx1"/>
                </a:solidFill>
                <a:effectLst>
                  <a:outerShdw blurRad="38100" dist="19050" dir="2700000" algn="tl" rotWithShape="0">
                    <a:schemeClr val="dk1">
                      <a:alpha val="40000"/>
                    </a:schemeClr>
                  </a:outerShdw>
                </a:effectLst>
              </a:rPr>
              <a:t> destination </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Separation distance</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Intruder destination distance</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CTD to original path</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Distance to ATCO path</a:t>
            </a:r>
          </a:p>
        </p:txBody>
      </p:sp>
      <p:sp>
        <p:nvSpPr>
          <p:cNvPr id="76" name="Rounded Rectangle 75">
            <a:extLst>
              <a:ext uri="{FF2B5EF4-FFF2-40B4-BE49-F238E27FC236}">
                <a16:creationId xmlns:a16="http://schemas.microsoft.com/office/drawing/2014/main" id="{3F3E3693-25A3-3242-539A-8DDB8325B527}"/>
              </a:ext>
            </a:extLst>
          </p:cNvPr>
          <p:cNvSpPr/>
          <p:nvPr/>
        </p:nvSpPr>
        <p:spPr>
          <a:xfrm>
            <a:off x="3640317" y="708774"/>
            <a:ext cx="1655180" cy="9464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ln w="0"/>
                <a:solidFill>
                  <a:schemeClr val="tx1"/>
                </a:solidFill>
                <a:effectLst>
                  <a:outerShdw blurRad="38100" dist="19050" dir="2700000" algn="tl" rotWithShape="0">
                    <a:schemeClr val="dk1">
                      <a:alpha val="40000"/>
                    </a:schemeClr>
                  </a:outerShdw>
                </a:effectLst>
              </a:rPr>
              <a:t>Maintain a tiny running buffer of last 2-5 observations</a:t>
            </a:r>
          </a:p>
          <a:p>
            <a:pPr algn="ctr"/>
            <a:endParaRPr lang="en-US" sz="800" dirty="0">
              <a:ln w="0"/>
              <a:solidFill>
                <a:schemeClr val="tx1"/>
              </a:solidFill>
              <a:effectLst>
                <a:outerShdw blurRad="38100" dist="19050" dir="2700000" algn="tl" rotWithShape="0">
                  <a:schemeClr val="dk1">
                    <a:alpha val="40000"/>
                  </a:schemeClr>
                </a:outerShdw>
              </a:effectLst>
            </a:endParaRPr>
          </a:p>
          <a:p>
            <a:pPr algn="ctr"/>
            <a:r>
              <a:rPr lang="en-US" sz="800" dirty="0">
                <a:ln w="0"/>
                <a:solidFill>
                  <a:schemeClr val="tx1"/>
                </a:solidFill>
                <a:effectLst>
                  <a:outerShdw blurRad="38100" dist="19050" dir="2700000" algn="tl" rotWithShape="0">
                    <a:schemeClr val="dk1">
                      <a:alpha val="40000"/>
                    </a:schemeClr>
                  </a:outerShdw>
                </a:effectLst>
              </a:rPr>
              <a:t>(contains the same set of attributes as observation)</a:t>
            </a:r>
          </a:p>
          <a:p>
            <a:pPr algn="ctr"/>
            <a:endParaRPr lang="en-US" sz="800" dirty="0">
              <a:ln w="0"/>
              <a:solidFill>
                <a:schemeClr val="tx1"/>
              </a:solidFill>
              <a:effectLst>
                <a:outerShdw blurRad="38100" dist="19050" dir="2700000" algn="tl" rotWithShape="0">
                  <a:schemeClr val="dk1">
                    <a:alpha val="40000"/>
                  </a:schemeClr>
                </a:outerShdw>
              </a:effectLst>
            </a:endParaRPr>
          </a:p>
        </p:txBody>
      </p:sp>
      <p:sp>
        <p:nvSpPr>
          <p:cNvPr id="77" name="Rounded Rectangle 76">
            <a:extLst>
              <a:ext uri="{FF2B5EF4-FFF2-40B4-BE49-F238E27FC236}">
                <a16:creationId xmlns:a16="http://schemas.microsoft.com/office/drawing/2014/main" id="{BD65E1A9-6371-ABE4-0501-B33909476D57}"/>
              </a:ext>
            </a:extLst>
          </p:cNvPr>
          <p:cNvSpPr/>
          <p:nvPr/>
        </p:nvSpPr>
        <p:spPr>
          <a:xfrm>
            <a:off x="3640317" y="2531295"/>
            <a:ext cx="1655180" cy="9464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ln w="0"/>
                <a:solidFill>
                  <a:schemeClr val="tx1"/>
                </a:solidFill>
                <a:effectLst>
                  <a:outerShdw blurRad="38100" dist="19050" dir="2700000" algn="tl" rotWithShape="0">
                    <a:schemeClr val="dk1">
                      <a:alpha val="40000"/>
                    </a:schemeClr>
                  </a:outerShdw>
                </a:effectLst>
              </a:rPr>
              <a:t>Compute derived signals</a:t>
            </a:r>
            <a:endParaRPr lang="en-US" sz="900" dirty="0">
              <a:ln w="0"/>
              <a:solidFill>
                <a:schemeClr val="tx1"/>
              </a:solidFill>
              <a:effectLst>
                <a:outerShdw blurRad="38100" dist="19050" dir="2700000" algn="tl" rotWithShape="0">
                  <a:schemeClr val="dk1">
                    <a:alpha val="40000"/>
                  </a:schemeClr>
                </a:outerShdw>
              </a:effectLst>
            </a:endParaRPr>
          </a:p>
          <a:p>
            <a:pPr algn="ctr"/>
            <a:endParaRPr lang="en-US" sz="800" dirty="0">
              <a:ln w="0"/>
              <a:solidFill>
                <a:schemeClr val="tx1"/>
              </a:solidFill>
              <a:effectLst>
                <a:outerShdw blurRad="38100" dist="19050" dir="2700000" algn="tl" rotWithShape="0">
                  <a:schemeClr val="dk1">
                    <a:alpha val="40000"/>
                  </a:schemeClr>
                </a:outerShdw>
              </a:effectLst>
            </a:endParaRP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Closure rate</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Minimum deviation required to avoid conflict</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Distance from airspace boundary</a:t>
            </a:r>
          </a:p>
        </p:txBody>
      </p:sp>
      <p:sp>
        <p:nvSpPr>
          <p:cNvPr id="78" name="Rounded Rectangle 77">
            <a:extLst>
              <a:ext uri="{FF2B5EF4-FFF2-40B4-BE49-F238E27FC236}">
                <a16:creationId xmlns:a16="http://schemas.microsoft.com/office/drawing/2014/main" id="{77EB7167-442B-4FD7-2B2A-DFFF14360159}"/>
              </a:ext>
            </a:extLst>
          </p:cNvPr>
          <p:cNvSpPr/>
          <p:nvPr/>
        </p:nvSpPr>
        <p:spPr>
          <a:xfrm>
            <a:off x="5415857" y="1050530"/>
            <a:ext cx="1655180" cy="208013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ln w="0"/>
                <a:solidFill>
                  <a:schemeClr val="tx1"/>
                </a:solidFill>
                <a:effectLst>
                  <a:outerShdw blurRad="38100" dist="19050" dir="2700000" algn="tl" rotWithShape="0">
                    <a:schemeClr val="dk1">
                      <a:alpha val="40000"/>
                    </a:schemeClr>
                  </a:outerShdw>
                </a:effectLst>
              </a:rPr>
              <a:t>Baseline stats of the whole Behavior conformance csv:</a:t>
            </a:r>
          </a:p>
          <a:p>
            <a:pPr algn="ctr"/>
            <a:endParaRPr lang="en-US" sz="800" dirty="0">
              <a:ln w="0"/>
              <a:solidFill>
                <a:schemeClr val="tx1"/>
              </a:solidFill>
              <a:effectLst>
                <a:outerShdw blurRad="38100" dist="19050" dir="2700000" algn="tl" rotWithShape="0">
                  <a:schemeClr val="dk1">
                    <a:alpha val="40000"/>
                  </a:schemeClr>
                </a:outerShdw>
              </a:effectLst>
            </a:endParaRP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Average initiation time before CPA</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Average deviation angle</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Typical merge back time after turn</a:t>
            </a:r>
          </a:p>
          <a:p>
            <a:pPr marL="171450" indent="-171450">
              <a:buFont typeface="Arial" panose="020B0604020202020204" pitchFamily="34" charset="0"/>
              <a:buChar char="•"/>
            </a:pPr>
            <a:r>
              <a:rPr lang="en-US" sz="800" dirty="0">
                <a:ln w="0"/>
                <a:solidFill>
                  <a:schemeClr val="tx1"/>
                </a:solidFill>
                <a:effectLst>
                  <a:outerShdw blurRad="38100" dist="19050" dir="2700000" algn="tl" rotWithShape="0">
                    <a:schemeClr val="dk1">
                      <a:alpha val="40000"/>
                    </a:schemeClr>
                  </a:outerShdw>
                </a:effectLst>
              </a:rPr>
              <a:t>General protocols followed by ATCOs in FIR 6</a:t>
            </a:r>
          </a:p>
          <a:p>
            <a:pPr algn="ctr"/>
            <a:endParaRPr lang="en-US" sz="800" dirty="0">
              <a:ln w="0"/>
              <a:solidFill>
                <a:schemeClr val="tx1"/>
              </a:solidFill>
              <a:effectLst>
                <a:outerShdw blurRad="38100" dist="19050" dir="2700000" algn="tl" rotWithShape="0">
                  <a:schemeClr val="dk1">
                    <a:alpha val="40000"/>
                  </a:schemeClr>
                </a:outerShdw>
              </a:effectLst>
            </a:endParaRPr>
          </a:p>
        </p:txBody>
      </p:sp>
      <p:sp>
        <p:nvSpPr>
          <p:cNvPr id="79" name="TextBox 78">
            <a:extLst>
              <a:ext uri="{FF2B5EF4-FFF2-40B4-BE49-F238E27FC236}">
                <a16:creationId xmlns:a16="http://schemas.microsoft.com/office/drawing/2014/main" id="{D1CD8B46-14CB-48EF-9591-E956FC0D50DA}"/>
              </a:ext>
            </a:extLst>
          </p:cNvPr>
          <p:cNvSpPr txBox="1"/>
          <p:nvPr/>
        </p:nvSpPr>
        <p:spPr>
          <a:xfrm>
            <a:off x="3363431" y="2312999"/>
            <a:ext cx="2142636" cy="215444"/>
          </a:xfrm>
          <a:prstGeom prst="rect">
            <a:avLst/>
          </a:prstGeom>
          <a:noFill/>
        </p:spPr>
        <p:txBody>
          <a:bodyPr wrap="square" rtlCol="0">
            <a:spAutoFit/>
          </a:bodyPr>
          <a:lstStyle/>
          <a:p>
            <a:pPr algn="ctr"/>
            <a:r>
              <a:rPr lang="en-US" sz="800" b="1" dirty="0"/>
              <a:t>Function call – computed in every run</a:t>
            </a:r>
          </a:p>
        </p:txBody>
      </p:sp>
      <p:pic>
        <p:nvPicPr>
          <p:cNvPr id="80" name="Graphic 79" descr="Arrow Right with solid fill">
            <a:extLst>
              <a:ext uri="{FF2B5EF4-FFF2-40B4-BE49-F238E27FC236}">
                <a16:creationId xmlns:a16="http://schemas.microsoft.com/office/drawing/2014/main" id="{F838E17F-4549-6320-46AF-27D82395758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90887" y="1866999"/>
            <a:ext cx="412390" cy="448417"/>
          </a:xfrm>
          <a:prstGeom prst="rect">
            <a:avLst/>
          </a:prstGeom>
        </p:spPr>
      </p:pic>
      <p:sp>
        <p:nvSpPr>
          <p:cNvPr id="81" name="Right Brace 80">
            <a:extLst>
              <a:ext uri="{FF2B5EF4-FFF2-40B4-BE49-F238E27FC236}">
                <a16:creationId xmlns:a16="http://schemas.microsoft.com/office/drawing/2014/main" id="{C9465666-FF29-C02E-8AEA-0D23CB31CB92}"/>
              </a:ext>
            </a:extLst>
          </p:cNvPr>
          <p:cNvSpPr/>
          <p:nvPr/>
        </p:nvSpPr>
        <p:spPr>
          <a:xfrm>
            <a:off x="7049981" y="750374"/>
            <a:ext cx="472904" cy="269979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82" name="TextBox 81">
            <a:extLst>
              <a:ext uri="{FF2B5EF4-FFF2-40B4-BE49-F238E27FC236}">
                <a16:creationId xmlns:a16="http://schemas.microsoft.com/office/drawing/2014/main" id="{52FD41ED-A9F2-A228-93E9-1024EABDB3CC}"/>
              </a:ext>
            </a:extLst>
          </p:cNvPr>
          <p:cNvSpPr txBox="1"/>
          <p:nvPr/>
        </p:nvSpPr>
        <p:spPr>
          <a:xfrm>
            <a:off x="5161162" y="837798"/>
            <a:ext cx="2256591" cy="215444"/>
          </a:xfrm>
          <a:prstGeom prst="rect">
            <a:avLst/>
          </a:prstGeom>
          <a:noFill/>
        </p:spPr>
        <p:txBody>
          <a:bodyPr wrap="square" rtlCol="0">
            <a:spAutoFit/>
          </a:bodyPr>
          <a:lstStyle/>
          <a:p>
            <a:pPr algn="ctr"/>
            <a:r>
              <a:rPr lang="en-US" sz="800" b="1" dirty="0"/>
              <a:t>Function call – computed only once</a:t>
            </a:r>
          </a:p>
        </p:txBody>
      </p:sp>
      <p:sp>
        <p:nvSpPr>
          <p:cNvPr id="83" name="Rounded Rectangle 82">
            <a:extLst>
              <a:ext uri="{FF2B5EF4-FFF2-40B4-BE49-F238E27FC236}">
                <a16:creationId xmlns:a16="http://schemas.microsoft.com/office/drawing/2014/main" id="{A6C48A3E-ECE2-5D59-A2E1-D09FB120AA78}"/>
              </a:ext>
            </a:extLst>
          </p:cNvPr>
          <p:cNvSpPr/>
          <p:nvPr/>
        </p:nvSpPr>
        <p:spPr>
          <a:xfrm>
            <a:off x="7597105" y="1669059"/>
            <a:ext cx="1000667" cy="848751"/>
          </a:xfrm>
          <a:prstGeom prst="roundRect">
            <a:avLst/>
          </a:prstGeom>
          <a:solidFill>
            <a:schemeClr val="accent6">
              <a:lumMod val="20000"/>
              <a:lumOff val="8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US" sz="1000" dirty="0"/>
              <a:t>Base Prompt construction (JSON + Instruct) </a:t>
            </a:r>
          </a:p>
        </p:txBody>
      </p:sp>
      <p:sp>
        <p:nvSpPr>
          <p:cNvPr id="84" name="Rounded Rectangle 83">
            <a:extLst>
              <a:ext uri="{FF2B5EF4-FFF2-40B4-BE49-F238E27FC236}">
                <a16:creationId xmlns:a16="http://schemas.microsoft.com/office/drawing/2014/main" id="{9FC336C7-C8D7-E89F-CFA1-48413552B0C6}"/>
              </a:ext>
            </a:extLst>
          </p:cNvPr>
          <p:cNvSpPr/>
          <p:nvPr/>
        </p:nvSpPr>
        <p:spPr>
          <a:xfrm>
            <a:off x="10245868" y="1828352"/>
            <a:ext cx="1124262" cy="51021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LLM Call</a:t>
            </a:r>
          </a:p>
        </p:txBody>
      </p:sp>
      <p:pic>
        <p:nvPicPr>
          <p:cNvPr id="85" name="Graphic 84" descr="Arrow Right with solid fill">
            <a:extLst>
              <a:ext uri="{FF2B5EF4-FFF2-40B4-BE49-F238E27FC236}">
                <a16:creationId xmlns:a16="http://schemas.microsoft.com/office/drawing/2014/main" id="{6F697DDA-6901-0E9D-8584-62EB743631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8762881" y="1361948"/>
            <a:ext cx="448416" cy="448417"/>
          </a:xfrm>
          <a:prstGeom prst="rect">
            <a:avLst/>
          </a:prstGeom>
        </p:spPr>
      </p:pic>
      <p:sp>
        <p:nvSpPr>
          <p:cNvPr id="86" name="Rounded Rectangle 85">
            <a:extLst>
              <a:ext uri="{FF2B5EF4-FFF2-40B4-BE49-F238E27FC236}">
                <a16:creationId xmlns:a16="http://schemas.microsoft.com/office/drawing/2014/main" id="{831EBD51-DD73-88A1-0345-026175397922}"/>
              </a:ext>
            </a:extLst>
          </p:cNvPr>
          <p:cNvSpPr/>
          <p:nvPr/>
        </p:nvSpPr>
        <p:spPr>
          <a:xfrm>
            <a:off x="6757279" y="5029439"/>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Entropy loss</a:t>
            </a:r>
            <a:endParaRPr lang="en-US" sz="1100" dirty="0">
              <a:solidFill>
                <a:schemeClr val="tx1"/>
              </a:solidFill>
            </a:endParaRPr>
          </a:p>
        </p:txBody>
      </p:sp>
      <p:sp>
        <p:nvSpPr>
          <p:cNvPr id="87" name="Rounded Rectangle 86">
            <a:extLst>
              <a:ext uri="{FF2B5EF4-FFF2-40B4-BE49-F238E27FC236}">
                <a16:creationId xmlns:a16="http://schemas.microsoft.com/office/drawing/2014/main" id="{5F606873-6D56-44A9-AD5F-EC87EBB77320}"/>
              </a:ext>
            </a:extLst>
          </p:cNvPr>
          <p:cNvSpPr/>
          <p:nvPr/>
        </p:nvSpPr>
        <p:spPr>
          <a:xfrm>
            <a:off x="6762388" y="4501484"/>
            <a:ext cx="1317600" cy="439200"/>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Value-Function Loss</a:t>
            </a:r>
          </a:p>
        </p:txBody>
      </p:sp>
      <p:sp>
        <p:nvSpPr>
          <p:cNvPr id="88" name="Rounded Rectangle 87">
            <a:extLst>
              <a:ext uri="{FF2B5EF4-FFF2-40B4-BE49-F238E27FC236}">
                <a16:creationId xmlns:a16="http://schemas.microsoft.com/office/drawing/2014/main" id="{FE50391A-40FD-568F-926D-6D5E933D3C94}"/>
              </a:ext>
            </a:extLst>
          </p:cNvPr>
          <p:cNvSpPr/>
          <p:nvPr/>
        </p:nvSpPr>
        <p:spPr>
          <a:xfrm>
            <a:off x="6751623" y="3929371"/>
            <a:ext cx="1317939" cy="437881"/>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PPO surrogate loss</a:t>
            </a:r>
          </a:p>
        </p:txBody>
      </p:sp>
      <p:pic>
        <p:nvPicPr>
          <p:cNvPr id="89" name="Graphic 88" descr="Badge Follow with solid fill">
            <a:extLst>
              <a:ext uri="{FF2B5EF4-FFF2-40B4-BE49-F238E27FC236}">
                <a16:creationId xmlns:a16="http://schemas.microsoft.com/office/drawing/2014/main" id="{756F77F8-E1E2-C824-93E3-E6CCC4ADD7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245450" y="4281001"/>
            <a:ext cx="344606" cy="346028"/>
          </a:xfrm>
          <a:prstGeom prst="rect">
            <a:avLst/>
          </a:prstGeom>
        </p:spPr>
      </p:pic>
      <p:sp>
        <p:nvSpPr>
          <p:cNvPr id="90" name="Right Brace 89">
            <a:extLst>
              <a:ext uri="{FF2B5EF4-FFF2-40B4-BE49-F238E27FC236}">
                <a16:creationId xmlns:a16="http://schemas.microsoft.com/office/drawing/2014/main" id="{C778E8BA-8A27-D69F-AAB0-0C71230F248E}"/>
              </a:ext>
            </a:extLst>
          </p:cNvPr>
          <p:cNvSpPr/>
          <p:nvPr/>
        </p:nvSpPr>
        <p:spPr>
          <a:xfrm>
            <a:off x="8129890" y="4367252"/>
            <a:ext cx="319381" cy="884776"/>
          </a:xfrm>
          <a:prstGeom prst="rightBrace">
            <a:avLst>
              <a:gd name="adj1" fmla="val 8333"/>
              <a:gd name="adj2" fmla="val 10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91" name="TextBox 90">
            <a:extLst>
              <a:ext uri="{FF2B5EF4-FFF2-40B4-BE49-F238E27FC236}">
                <a16:creationId xmlns:a16="http://schemas.microsoft.com/office/drawing/2014/main" id="{5405F0D4-08E8-D8A6-3C33-7EBEA7151045}"/>
              </a:ext>
            </a:extLst>
          </p:cNvPr>
          <p:cNvSpPr txBox="1"/>
          <p:nvPr/>
        </p:nvSpPr>
        <p:spPr>
          <a:xfrm>
            <a:off x="8405760" y="5033918"/>
            <a:ext cx="680509" cy="461665"/>
          </a:xfrm>
          <a:prstGeom prst="rect">
            <a:avLst/>
          </a:prstGeom>
          <a:noFill/>
        </p:spPr>
        <p:txBody>
          <a:bodyPr wrap="square" rtlCol="0">
            <a:spAutoFit/>
          </a:bodyPr>
          <a:lstStyle/>
          <a:p>
            <a:pPr algn="ctr"/>
            <a:r>
              <a:rPr lang="en-US" sz="1200" b="1" dirty="0"/>
              <a:t>Action</a:t>
            </a:r>
            <a:br>
              <a:rPr lang="en-US" sz="1200" b="1" dirty="0"/>
            </a:br>
            <a:r>
              <a:rPr lang="en-US" sz="1200" b="1" dirty="0"/>
              <a:t>A</a:t>
            </a:r>
            <a:r>
              <a:rPr lang="en-US" sz="1200" b="1" baseline="-25000" dirty="0"/>
              <a:t>t</a:t>
            </a:r>
          </a:p>
        </p:txBody>
      </p:sp>
      <p:pic>
        <p:nvPicPr>
          <p:cNvPr id="92" name="Graphic 91" descr="Badge Follow with solid fill">
            <a:extLst>
              <a:ext uri="{FF2B5EF4-FFF2-40B4-BE49-F238E27FC236}">
                <a16:creationId xmlns:a16="http://schemas.microsoft.com/office/drawing/2014/main" id="{19AB3802-599F-BA31-0695-EE9203DE515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249946" y="4842586"/>
            <a:ext cx="344606" cy="344606"/>
          </a:xfrm>
          <a:prstGeom prst="rect">
            <a:avLst/>
          </a:prstGeom>
        </p:spPr>
      </p:pic>
      <p:sp>
        <p:nvSpPr>
          <p:cNvPr id="93" name="Rounded Rectangle 92">
            <a:extLst>
              <a:ext uri="{FF2B5EF4-FFF2-40B4-BE49-F238E27FC236}">
                <a16:creationId xmlns:a16="http://schemas.microsoft.com/office/drawing/2014/main" id="{079809E7-AB3E-CAFC-642F-08FFA21B870C}"/>
              </a:ext>
            </a:extLst>
          </p:cNvPr>
          <p:cNvSpPr/>
          <p:nvPr/>
        </p:nvSpPr>
        <p:spPr>
          <a:xfrm>
            <a:off x="6751623" y="5583348"/>
            <a:ext cx="1317600" cy="439200"/>
          </a:xfrm>
          <a:prstGeom prst="roundRect">
            <a:avLst/>
          </a:prstGeom>
          <a:solidFill>
            <a:srgbClr val="446E3F">
              <a:alpha val="16863"/>
            </a:srgbClr>
          </a:solidFill>
          <a:ln w="12700" cap="flat" cmpd="sng" algn="ctr">
            <a:solidFill>
              <a:schemeClr val="accent1"/>
            </a:solidFill>
            <a:prstDash val="lgDash"/>
            <a:miter lim="800000"/>
            <a:extLst>
              <a:ext uri="{C807C97D-BFC1-408E-A445-0C87EB9F89A2}">
                <ask:lineSketchStyleProps xmlns:ask="http://schemas.microsoft.com/office/drawing/2018/sketchyshapes" sd="1219033472">
                  <a:custGeom>
                    <a:avLst/>
                    <a:gdLst>
                      <a:gd name="connsiteX0" fmla="*/ 0 w 1317939"/>
                      <a:gd name="connsiteY0" fmla="*/ 72982 h 437881"/>
                      <a:gd name="connsiteX1" fmla="*/ 72982 w 1317939"/>
                      <a:gd name="connsiteY1" fmla="*/ 0 h 437881"/>
                      <a:gd name="connsiteX2" fmla="*/ 658970 w 1317939"/>
                      <a:gd name="connsiteY2" fmla="*/ 0 h 437881"/>
                      <a:gd name="connsiteX3" fmla="*/ 1244957 w 1317939"/>
                      <a:gd name="connsiteY3" fmla="*/ 0 h 437881"/>
                      <a:gd name="connsiteX4" fmla="*/ 1317939 w 1317939"/>
                      <a:gd name="connsiteY4" fmla="*/ 72982 h 437881"/>
                      <a:gd name="connsiteX5" fmla="*/ 1317939 w 1317939"/>
                      <a:gd name="connsiteY5" fmla="*/ 364899 h 437881"/>
                      <a:gd name="connsiteX6" fmla="*/ 1244957 w 1317939"/>
                      <a:gd name="connsiteY6" fmla="*/ 437881 h 437881"/>
                      <a:gd name="connsiteX7" fmla="*/ 647250 w 1317939"/>
                      <a:gd name="connsiteY7" fmla="*/ 437881 h 437881"/>
                      <a:gd name="connsiteX8" fmla="*/ 72982 w 1317939"/>
                      <a:gd name="connsiteY8" fmla="*/ 437881 h 437881"/>
                      <a:gd name="connsiteX9" fmla="*/ 0 w 1317939"/>
                      <a:gd name="connsiteY9" fmla="*/ 364899 h 437881"/>
                      <a:gd name="connsiteX10" fmla="*/ 0 w 1317939"/>
                      <a:gd name="connsiteY10" fmla="*/ 72982 h 43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939" h="437881" fill="none" extrusionOk="0">
                        <a:moveTo>
                          <a:pt x="0" y="72982"/>
                        </a:moveTo>
                        <a:cubicBezTo>
                          <a:pt x="2495" y="35731"/>
                          <a:pt x="36478" y="-3330"/>
                          <a:pt x="72982" y="0"/>
                        </a:cubicBezTo>
                        <a:cubicBezTo>
                          <a:pt x="194475" y="-2230"/>
                          <a:pt x="504605" y="62557"/>
                          <a:pt x="658970" y="0"/>
                        </a:cubicBezTo>
                        <a:cubicBezTo>
                          <a:pt x="813335" y="-62557"/>
                          <a:pt x="1028241" y="46093"/>
                          <a:pt x="1244957" y="0"/>
                        </a:cubicBezTo>
                        <a:cubicBezTo>
                          <a:pt x="1280435" y="-9844"/>
                          <a:pt x="1318263" y="28287"/>
                          <a:pt x="1317939" y="72982"/>
                        </a:cubicBezTo>
                        <a:cubicBezTo>
                          <a:pt x="1345857" y="210849"/>
                          <a:pt x="1300786" y="237915"/>
                          <a:pt x="1317939" y="364899"/>
                        </a:cubicBezTo>
                        <a:cubicBezTo>
                          <a:pt x="1308514" y="405594"/>
                          <a:pt x="1290711" y="428062"/>
                          <a:pt x="1244957" y="437881"/>
                        </a:cubicBezTo>
                        <a:cubicBezTo>
                          <a:pt x="1007652" y="484831"/>
                          <a:pt x="805332" y="429189"/>
                          <a:pt x="647250" y="437881"/>
                        </a:cubicBezTo>
                        <a:cubicBezTo>
                          <a:pt x="489168" y="446573"/>
                          <a:pt x="283855" y="389992"/>
                          <a:pt x="72982" y="437881"/>
                        </a:cubicBezTo>
                        <a:cubicBezTo>
                          <a:pt x="32447" y="431734"/>
                          <a:pt x="6642" y="406591"/>
                          <a:pt x="0" y="364899"/>
                        </a:cubicBezTo>
                        <a:cubicBezTo>
                          <a:pt x="-4847" y="235232"/>
                          <a:pt x="17910" y="153731"/>
                          <a:pt x="0" y="72982"/>
                        </a:cubicBezTo>
                        <a:close/>
                      </a:path>
                      <a:path w="1317939" h="437881" stroke="0" extrusionOk="0">
                        <a:moveTo>
                          <a:pt x="0" y="72982"/>
                        </a:moveTo>
                        <a:cubicBezTo>
                          <a:pt x="-8022" y="27727"/>
                          <a:pt x="21582" y="4163"/>
                          <a:pt x="72982" y="0"/>
                        </a:cubicBezTo>
                        <a:cubicBezTo>
                          <a:pt x="362370" y="-17701"/>
                          <a:pt x="557029" y="68401"/>
                          <a:pt x="682409" y="0"/>
                        </a:cubicBezTo>
                        <a:cubicBezTo>
                          <a:pt x="807789" y="-68401"/>
                          <a:pt x="1039318" y="35133"/>
                          <a:pt x="1244957" y="0"/>
                        </a:cubicBezTo>
                        <a:cubicBezTo>
                          <a:pt x="1284128" y="-621"/>
                          <a:pt x="1325602" y="36336"/>
                          <a:pt x="1317939" y="72982"/>
                        </a:cubicBezTo>
                        <a:cubicBezTo>
                          <a:pt x="1342082" y="211484"/>
                          <a:pt x="1309848" y="280261"/>
                          <a:pt x="1317939" y="364899"/>
                        </a:cubicBezTo>
                        <a:cubicBezTo>
                          <a:pt x="1323728" y="395786"/>
                          <a:pt x="1277963" y="444297"/>
                          <a:pt x="1244957" y="437881"/>
                        </a:cubicBezTo>
                        <a:cubicBezTo>
                          <a:pt x="1056981" y="480030"/>
                          <a:pt x="891570" y="395637"/>
                          <a:pt x="658970" y="437881"/>
                        </a:cubicBezTo>
                        <a:cubicBezTo>
                          <a:pt x="426370" y="480125"/>
                          <a:pt x="255213" y="389590"/>
                          <a:pt x="72982" y="437881"/>
                        </a:cubicBezTo>
                        <a:cubicBezTo>
                          <a:pt x="23707" y="437368"/>
                          <a:pt x="2651" y="397936"/>
                          <a:pt x="0" y="364899"/>
                        </a:cubicBezTo>
                        <a:cubicBezTo>
                          <a:pt x="-28107" y="249873"/>
                          <a:pt x="284" y="155358"/>
                          <a:pt x="0" y="72982"/>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KL Divergence loss</a:t>
            </a:r>
          </a:p>
        </p:txBody>
      </p:sp>
      <p:pic>
        <p:nvPicPr>
          <p:cNvPr id="94" name="Graphic 93" descr="Badge Follow with solid fill">
            <a:extLst>
              <a:ext uri="{FF2B5EF4-FFF2-40B4-BE49-F238E27FC236}">
                <a16:creationId xmlns:a16="http://schemas.microsoft.com/office/drawing/2014/main" id="{8F9308B9-CF2A-50EA-7FAA-4424A7ED22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245450" y="5364806"/>
            <a:ext cx="344606" cy="344606"/>
          </a:xfrm>
          <a:prstGeom prst="rect">
            <a:avLst/>
          </a:prstGeom>
        </p:spPr>
      </p:pic>
      <p:cxnSp>
        <p:nvCxnSpPr>
          <p:cNvPr id="95" name="Straight Arrow Connector 94">
            <a:extLst>
              <a:ext uri="{FF2B5EF4-FFF2-40B4-BE49-F238E27FC236}">
                <a16:creationId xmlns:a16="http://schemas.microsoft.com/office/drawing/2014/main" id="{E08D9BA6-036F-A682-0980-3961BF64DA53}"/>
              </a:ext>
            </a:extLst>
          </p:cNvPr>
          <p:cNvCxnSpPr>
            <a:cxnSpLocks/>
          </p:cNvCxnSpPr>
          <p:nvPr/>
        </p:nvCxnSpPr>
        <p:spPr>
          <a:xfrm>
            <a:off x="8983046" y="5268247"/>
            <a:ext cx="2064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6" name="Rounded Rectangle 95">
            <a:extLst>
              <a:ext uri="{FF2B5EF4-FFF2-40B4-BE49-F238E27FC236}">
                <a16:creationId xmlns:a16="http://schemas.microsoft.com/office/drawing/2014/main" id="{77B6B3A6-9D99-9BC8-6E2C-0906F4A876EF}"/>
              </a:ext>
            </a:extLst>
          </p:cNvPr>
          <p:cNvSpPr/>
          <p:nvPr/>
        </p:nvSpPr>
        <p:spPr>
          <a:xfrm>
            <a:off x="6765833" y="6142868"/>
            <a:ext cx="1317939" cy="437881"/>
          </a:xfrm>
          <a:prstGeom prst="roundRect">
            <a:avLst/>
          </a:prstGeom>
          <a:solidFill>
            <a:srgbClr val="446E3F">
              <a:alpha val="16863"/>
            </a:srgbClr>
          </a:solidFill>
          <a:ln w="12700" cap="flat" cmpd="sng" algn="ctr">
            <a:solidFill>
              <a:schemeClr val="accent1"/>
            </a:solidFill>
            <a:prstDash val="lgDash"/>
            <a:miter lim="800000"/>
            <a:extLst>
              <a:ext uri="{C807C97D-BFC1-408E-A445-0C87EB9F89A2}">
                <ask:lineSketchStyleProps xmlns:ask="http://schemas.microsoft.com/office/drawing/2018/sketchyshapes" sd="1219033472">
                  <a:custGeom>
                    <a:avLst/>
                    <a:gdLst>
                      <a:gd name="connsiteX0" fmla="*/ 0 w 1317939"/>
                      <a:gd name="connsiteY0" fmla="*/ 72982 h 437881"/>
                      <a:gd name="connsiteX1" fmla="*/ 72982 w 1317939"/>
                      <a:gd name="connsiteY1" fmla="*/ 0 h 437881"/>
                      <a:gd name="connsiteX2" fmla="*/ 658970 w 1317939"/>
                      <a:gd name="connsiteY2" fmla="*/ 0 h 437881"/>
                      <a:gd name="connsiteX3" fmla="*/ 1244957 w 1317939"/>
                      <a:gd name="connsiteY3" fmla="*/ 0 h 437881"/>
                      <a:gd name="connsiteX4" fmla="*/ 1317939 w 1317939"/>
                      <a:gd name="connsiteY4" fmla="*/ 72982 h 437881"/>
                      <a:gd name="connsiteX5" fmla="*/ 1317939 w 1317939"/>
                      <a:gd name="connsiteY5" fmla="*/ 364899 h 437881"/>
                      <a:gd name="connsiteX6" fmla="*/ 1244957 w 1317939"/>
                      <a:gd name="connsiteY6" fmla="*/ 437881 h 437881"/>
                      <a:gd name="connsiteX7" fmla="*/ 647250 w 1317939"/>
                      <a:gd name="connsiteY7" fmla="*/ 437881 h 437881"/>
                      <a:gd name="connsiteX8" fmla="*/ 72982 w 1317939"/>
                      <a:gd name="connsiteY8" fmla="*/ 437881 h 437881"/>
                      <a:gd name="connsiteX9" fmla="*/ 0 w 1317939"/>
                      <a:gd name="connsiteY9" fmla="*/ 364899 h 437881"/>
                      <a:gd name="connsiteX10" fmla="*/ 0 w 1317939"/>
                      <a:gd name="connsiteY10" fmla="*/ 72982 h 43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939" h="437881" fill="none" extrusionOk="0">
                        <a:moveTo>
                          <a:pt x="0" y="72982"/>
                        </a:moveTo>
                        <a:cubicBezTo>
                          <a:pt x="2495" y="35731"/>
                          <a:pt x="36478" y="-3330"/>
                          <a:pt x="72982" y="0"/>
                        </a:cubicBezTo>
                        <a:cubicBezTo>
                          <a:pt x="194475" y="-2230"/>
                          <a:pt x="504605" y="62557"/>
                          <a:pt x="658970" y="0"/>
                        </a:cubicBezTo>
                        <a:cubicBezTo>
                          <a:pt x="813335" y="-62557"/>
                          <a:pt x="1028241" y="46093"/>
                          <a:pt x="1244957" y="0"/>
                        </a:cubicBezTo>
                        <a:cubicBezTo>
                          <a:pt x="1280435" y="-9844"/>
                          <a:pt x="1318263" y="28287"/>
                          <a:pt x="1317939" y="72982"/>
                        </a:cubicBezTo>
                        <a:cubicBezTo>
                          <a:pt x="1345857" y="210849"/>
                          <a:pt x="1300786" y="237915"/>
                          <a:pt x="1317939" y="364899"/>
                        </a:cubicBezTo>
                        <a:cubicBezTo>
                          <a:pt x="1308514" y="405594"/>
                          <a:pt x="1290711" y="428062"/>
                          <a:pt x="1244957" y="437881"/>
                        </a:cubicBezTo>
                        <a:cubicBezTo>
                          <a:pt x="1007652" y="484831"/>
                          <a:pt x="805332" y="429189"/>
                          <a:pt x="647250" y="437881"/>
                        </a:cubicBezTo>
                        <a:cubicBezTo>
                          <a:pt x="489168" y="446573"/>
                          <a:pt x="283855" y="389992"/>
                          <a:pt x="72982" y="437881"/>
                        </a:cubicBezTo>
                        <a:cubicBezTo>
                          <a:pt x="32447" y="431734"/>
                          <a:pt x="6642" y="406591"/>
                          <a:pt x="0" y="364899"/>
                        </a:cubicBezTo>
                        <a:cubicBezTo>
                          <a:pt x="-4847" y="235232"/>
                          <a:pt x="17910" y="153731"/>
                          <a:pt x="0" y="72982"/>
                        </a:cubicBezTo>
                        <a:close/>
                      </a:path>
                      <a:path w="1317939" h="437881" stroke="0" extrusionOk="0">
                        <a:moveTo>
                          <a:pt x="0" y="72982"/>
                        </a:moveTo>
                        <a:cubicBezTo>
                          <a:pt x="-8022" y="27727"/>
                          <a:pt x="21582" y="4163"/>
                          <a:pt x="72982" y="0"/>
                        </a:cubicBezTo>
                        <a:cubicBezTo>
                          <a:pt x="362370" y="-17701"/>
                          <a:pt x="557029" y="68401"/>
                          <a:pt x="682409" y="0"/>
                        </a:cubicBezTo>
                        <a:cubicBezTo>
                          <a:pt x="807789" y="-68401"/>
                          <a:pt x="1039318" y="35133"/>
                          <a:pt x="1244957" y="0"/>
                        </a:cubicBezTo>
                        <a:cubicBezTo>
                          <a:pt x="1284128" y="-621"/>
                          <a:pt x="1325602" y="36336"/>
                          <a:pt x="1317939" y="72982"/>
                        </a:cubicBezTo>
                        <a:cubicBezTo>
                          <a:pt x="1342082" y="211484"/>
                          <a:pt x="1309848" y="280261"/>
                          <a:pt x="1317939" y="364899"/>
                        </a:cubicBezTo>
                        <a:cubicBezTo>
                          <a:pt x="1323728" y="395786"/>
                          <a:pt x="1277963" y="444297"/>
                          <a:pt x="1244957" y="437881"/>
                        </a:cubicBezTo>
                        <a:cubicBezTo>
                          <a:pt x="1056981" y="480030"/>
                          <a:pt x="891570" y="395637"/>
                          <a:pt x="658970" y="437881"/>
                        </a:cubicBezTo>
                        <a:cubicBezTo>
                          <a:pt x="426370" y="480125"/>
                          <a:pt x="255213" y="389590"/>
                          <a:pt x="72982" y="437881"/>
                        </a:cubicBezTo>
                        <a:cubicBezTo>
                          <a:pt x="23707" y="437368"/>
                          <a:pt x="2651" y="397936"/>
                          <a:pt x="0" y="364899"/>
                        </a:cubicBezTo>
                        <a:cubicBezTo>
                          <a:pt x="-28107" y="249873"/>
                          <a:pt x="284" y="155358"/>
                          <a:pt x="0" y="72982"/>
                        </a:cubicBezTo>
                        <a:close/>
                      </a:path>
                    </a:pathLst>
                  </a:custGeom>
                  <ask:type>
                    <ask:lineSketchNone/>
                  </ask:type>
                </ask:lineSketchStyleProps>
              </a:ext>
            </a:extLs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MSE Loss</a:t>
            </a:r>
          </a:p>
        </p:txBody>
      </p:sp>
      <p:pic>
        <p:nvPicPr>
          <p:cNvPr id="97" name="Graphic 96" descr="Badge Follow with solid fill">
            <a:extLst>
              <a:ext uri="{FF2B5EF4-FFF2-40B4-BE49-F238E27FC236}">
                <a16:creationId xmlns:a16="http://schemas.microsoft.com/office/drawing/2014/main" id="{2B1D2638-731A-FEE1-2AD2-2031BDDE4C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7252499" y="5913293"/>
            <a:ext cx="344606" cy="344606"/>
          </a:xfrm>
          <a:prstGeom prst="rect">
            <a:avLst/>
          </a:prstGeom>
        </p:spPr>
      </p:pic>
      <p:sp>
        <p:nvSpPr>
          <p:cNvPr id="98" name="Rounded Rectangle 97">
            <a:extLst>
              <a:ext uri="{FF2B5EF4-FFF2-40B4-BE49-F238E27FC236}">
                <a16:creationId xmlns:a16="http://schemas.microsoft.com/office/drawing/2014/main" id="{C991C1EF-84FC-192F-6CDD-0BEBE5B34635}"/>
              </a:ext>
            </a:extLst>
          </p:cNvPr>
          <p:cNvSpPr/>
          <p:nvPr/>
        </p:nvSpPr>
        <p:spPr>
          <a:xfrm>
            <a:off x="9166226" y="4056250"/>
            <a:ext cx="1766378" cy="2378667"/>
          </a:xfrm>
          <a:prstGeom prst="roundRect">
            <a:avLst/>
          </a:prstGeom>
          <a:solidFill>
            <a:schemeClr val="accent1">
              <a:alpha val="17514"/>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algn="ctr"/>
            <a:r>
              <a:rPr lang="en-US" sz="1000" dirty="0">
                <a:solidFill>
                  <a:schemeClr val="tx1"/>
                </a:solidFill>
              </a:rPr>
              <a:t>Evaluates the LLM action and PPO action based on context of scenario summary/base prompt</a:t>
            </a:r>
          </a:p>
          <a:p>
            <a:pPr algn="ctr"/>
            <a:r>
              <a:rPr lang="en-US" sz="1000" dirty="0">
                <a:solidFill>
                  <a:schemeClr val="tx1"/>
                </a:solidFill>
              </a:rPr>
              <a:t>+</a:t>
            </a:r>
          </a:p>
          <a:p>
            <a:pPr algn="ctr"/>
            <a:r>
              <a:rPr lang="en-US" sz="1000" dirty="0">
                <a:solidFill>
                  <a:schemeClr val="tx1"/>
                </a:solidFill>
              </a:rPr>
              <a:t> reward generated (individual components) and suggests </a:t>
            </a:r>
            <a:r>
              <a:rPr lang="el-GR" sz="1000" dirty="0">
                <a:solidFill>
                  <a:schemeClr val="tx1"/>
                </a:solidFill>
              </a:rPr>
              <a:t>Δ</a:t>
            </a:r>
            <a:r>
              <a:rPr lang="en-US" sz="1000" dirty="0">
                <a:solidFill>
                  <a:schemeClr val="tx1"/>
                </a:solidFill>
              </a:rPr>
              <a:t>m (if needed) and </a:t>
            </a:r>
          </a:p>
          <a:p>
            <a:pPr algn="ctr"/>
            <a:r>
              <a:rPr lang="en-US" sz="1000" dirty="0">
                <a:solidFill>
                  <a:schemeClr val="tx1"/>
                </a:solidFill>
              </a:rPr>
              <a:t>Updates the memory</a:t>
            </a:r>
          </a:p>
          <a:p>
            <a:pPr algn="ctr"/>
            <a:r>
              <a:rPr lang="en-US" sz="1000" dirty="0">
                <a:solidFill>
                  <a:schemeClr val="tx1"/>
                </a:solidFill>
              </a:rPr>
              <a:t> </a:t>
            </a:r>
          </a:p>
        </p:txBody>
      </p:sp>
      <p:sp>
        <p:nvSpPr>
          <p:cNvPr id="99" name="TextBox 98">
            <a:extLst>
              <a:ext uri="{FF2B5EF4-FFF2-40B4-BE49-F238E27FC236}">
                <a16:creationId xmlns:a16="http://schemas.microsoft.com/office/drawing/2014/main" id="{236A49DB-1E28-A435-54EB-03F5DD8A735C}"/>
              </a:ext>
            </a:extLst>
          </p:cNvPr>
          <p:cNvSpPr txBox="1"/>
          <p:nvPr/>
        </p:nvSpPr>
        <p:spPr>
          <a:xfrm>
            <a:off x="9277714" y="4107664"/>
            <a:ext cx="1543401" cy="307777"/>
          </a:xfrm>
          <a:prstGeom prst="rect">
            <a:avLst/>
          </a:prstGeom>
          <a:noFill/>
        </p:spPr>
        <p:txBody>
          <a:bodyPr wrap="square" rtlCol="0">
            <a:spAutoFit/>
          </a:bodyPr>
          <a:lstStyle/>
          <a:p>
            <a:r>
              <a:rPr lang="en-US" sz="1400" b="1" dirty="0"/>
              <a:t>Evaluator Engine</a:t>
            </a:r>
          </a:p>
        </p:txBody>
      </p:sp>
      <p:sp>
        <p:nvSpPr>
          <p:cNvPr id="100" name="Right Brace 99">
            <a:extLst>
              <a:ext uri="{FF2B5EF4-FFF2-40B4-BE49-F238E27FC236}">
                <a16:creationId xmlns:a16="http://schemas.microsoft.com/office/drawing/2014/main" id="{737E5704-BF3A-85B1-64BA-6641D8AA8C9A}"/>
              </a:ext>
            </a:extLst>
          </p:cNvPr>
          <p:cNvSpPr/>
          <p:nvPr/>
        </p:nvSpPr>
        <p:spPr>
          <a:xfrm>
            <a:off x="8124244" y="5249039"/>
            <a:ext cx="341975" cy="1127305"/>
          </a:xfrm>
          <a:prstGeom prst="rightBrace">
            <a:avLst>
              <a:gd name="adj1" fmla="val 8333"/>
              <a:gd name="adj2" fmla="val 489"/>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cxnSp>
        <p:nvCxnSpPr>
          <p:cNvPr id="102" name="Elbow Connector 101">
            <a:extLst>
              <a:ext uri="{FF2B5EF4-FFF2-40B4-BE49-F238E27FC236}">
                <a16:creationId xmlns:a16="http://schemas.microsoft.com/office/drawing/2014/main" id="{723A647C-A684-BE69-D31D-49D22C53B423}"/>
              </a:ext>
            </a:extLst>
          </p:cNvPr>
          <p:cNvCxnSpPr>
            <a:cxnSpLocks/>
            <a:stCxn id="4" idx="3"/>
            <a:endCxn id="39" idx="0"/>
          </p:cNvCxnSpPr>
          <p:nvPr/>
        </p:nvCxnSpPr>
        <p:spPr>
          <a:xfrm flipH="1">
            <a:off x="1350752" y="2019400"/>
            <a:ext cx="10196828" cy="2548747"/>
          </a:xfrm>
          <a:prstGeom prst="bentConnector4">
            <a:avLst>
              <a:gd name="adj1" fmla="val -2242"/>
              <a:gd name="adj2" fmla="val 68600"/>
            </a:avLst>
          </a:prstGeom>
          <a:ln>
            <a:tailEnd type="triangle"/>
          </a:ln>
        </p:spPr>
        <p:style>
          <a:lnRef idx="2">
            <a:schemeClr val="dk1"/>
          </a:lnRef>
          <a:fillRef idx="0">
            <a:schemeClr val="dk1"/>
          </a:fillRef>
          <a:effectRef idx="1">
            <a:schemeClr val="dk1"/>
          </a:effectRef>
          <a:fontRef idx="minor">
            <a:schemeClr val="tx1"/>
          </a:fontRef>
        </p:style>
      </p:cxnSp>
      <p:pic>
        <p:nvPicPr>
          <p:cNvPr id="104" name="Picture 103" descr="A computer server and a yellow object&#10;&#10;AI-generated content may be incorrect.">
            <a:extLst>
              <a:ext uri="{FF2B5EF4-FFF2-40B4-BE49-F238E27FC236}">
                <a16:creationId xmlns:a16="http://schemas.microsoft.com/office/drawing/2014/main" id="{94D8508A-9E4C-03F5-3C4F-83F5A9F58159}"/>
              </a:ext>
            </a:extLst>
          </p:cNvPr>
          <p:cNvPicPr>
            <a:picLocks noChangeAspect="1"/>
          </p:cNvPicPr>
          <p:nvPr/>
        </p:nvPicPr>
        <p:blipFill>
          <a:blip r:embed="rId10"/>
          <a:stretch>
            <a:fillRect/>
          </a:stretch>
        </p:blipFill>
        <p:spPr>
          <a:xfrm>
            <a:off x="10488937" y="570794"/>
            <a:ext cx="519545" cy="519545"/>
          </a:xfrm>
          <a:prstGeom prst="rect">
            <a:avLst/>
          </a:prstGeom>
        </p:spPr>
      </p:pic>
      <p:sp>
        <p:nvSpPr>
          <p:cNvPr id="105" name="TextBox 104">
            <a:extLst>
              <a:ext uri="{FF2B5EF4-FFF2-40B4-BE49-F238E27FC236}">
                <a16:creationId xmlns:a16="http://schemas.microsoft.com/office/drawing/2014/main" id="{755F7C6D-6607-4692-F480-61B7A5638AF4}"/>
              </a:ext>
            </a:extLst>
          </p:cNvPr>
          <p:cNvSpPr txBox="1"/>
          <p:nvPr/>
        </p:nvSpPr>
        <p:spPr>
          <a:xfrm>
            <a:off x="10237593" y="1086597"/>
            <a:ext cx="1124262" cy="246221"/>
          </a:xfrm>
          <a:prstGeom prst="rect">
            <a:avLst/>
          </a:prstGeom>
          <a:noFill/>
        </p:spPr>
        <p:txBody>
          <a:bodyPr wrap="square" rtlCol="0">
            <a:spAutoFit/>
          </a:bodyPr>
          <a:lstStyle/>
          <a:p>
            <a:pPr algn="ctr"/>
            <a:r>
              <a:rPr lang="en-US" sz="1000" dirty="0"/>
              <a:t>Memory context</a:t>
            </a:r>
          </a:p>
        </p:txBody>
      </p:sp>
      <p:pic>
        <p:nvPicPr>
          <p:cNvPr id="106" name="Graphic 105" descr="Arrow Right with solid fill">
            <a:extLst>
              <a:ext uri="{FF2B5EF4-FFF2-40B4-BE49-F238E27FC236}">
                <a16:creationId xmlns:a16="http://schemas.microsoft.com/office/drawing/2014/main" id="{63DA5B99-082C-BB20-E385-13DAFEC56E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00000">
            <a:off x="9650542" y="641921"/>
            <a:ext cx="771158" cy="448417"/>
          </a:xfrm>
          <a:prstGeom prst="rect">
            <a:avLst/>
          </a:prstGeom>
        </p:spPr>
      </p:pic>
      <p:sp>
        <p:nvSpPr>
          <p:cNvPr id="108" name="TextBox 107">
            <a:extLst>
              <a:ext uri="{FF2B5EF4-FFF2-40B4-BE49-F238E27FC236}">
                <a16:creationId xmlns:a16="http://schemas.microsoft.com/office/drawing/2014/main" id="{0DB39702-6AD9-75B5-CE48-5A4A6825CB27}"/>
              </a:ext>
            </a:extLst>
          </p:cNvPr>
          <p:cNvSpPr txBox="1"/>
          <p:nvPr/>
        </p:nvSpPr>
        <p:spPr>
          <a:xfrm>
            <a:off x="8124085" y="468478"/>
            <a:ext cx="1634182" cy="784830"/>
          </a:xfrm>
          <a:prstGeom prst="rect">
            <a:avLst/>
          </a:prstGeom>
          <a:noFill/>
        </p:spPr>
        <p:txBody>
          <a:bodyPr wrap="square" rtlCol="0">
            <a:spAutoFit/>
          </a:bodyPr>
          <a:lstStyle/>
          <a:p>
            <a:pPr algn="ctr"/>
            <a:r>
              <a:rPr lang="en-US" sz="900" dirty="0"/>
              <a:t>The LLM retrieves similar context/conflicts from the past and </a:t>
            </a:r>
            <a:r>
              <a:rPr lang="en-US" sz="900" b="1" dirty="0"/>
              <a:t>updates the base prompt with successful run (if available)</a:t>
            </a:r>
          </a:p>
        </p:txBody>
      </p:sp>
      <p:pic>
        <p:nvPicPr>
          <p:cNvPr id="110" name="Picture 109" descr="A black background with a black square&#10;&#10;AI-generated content may be incorrect.">
            <a:extLst>
              <a:ext uri="{FF2B5EF4-FFF2-40B4-BE49-F238E27FC236}">
                <a16:creationId xmlns:a16="http://schemas.microsoft.com/office/drawing/2014/main" id="{0E5176FF-2061-5469-201C-AD3E8BC4BA2E}"/>
              </a:ext>
            </a:extLst>
          </p:cNvPr>
          <p:cNvPicPr>
            <a:picLocks noChangeAspect="1"/>
          </p:cNvPicPr>
          <p:nvPr/>
        </p:nvPicPr>
        <p:blipFill>
          <a:blip r:embed="rId7"/>
          <a:stretch>
            <a:fillRect/>
          </a:stretch>
        </p:blipFill>
        <p:spPr>
          <a:xfrm flipH="1">
            <a:off x="8865282" y="1818395"/>
            <a:ext cx="235527" cy="235527"/>
          </a:xfrm>
          <a:prstGeom prst="rect">
            <a:avLst/>
          </a:prstGeom>
        </p:spPr>
      </p:pic>
      <p:sp>
        <p:nvSpPr>
          <p:cNvPr id="117" name="Rounded Rectangle 116">
            <a:extLst>
              <a:ext uri="{FF2B5EF4-FFF2-40B4-BE49-F238E27FC236}">
                <a16:creationId xmlns:a16="http://schemas.microsoft.com/office/drawing/2014/main" id="{2BB3FC44-A32A-D1CB-0C29-4EDD66A2F25E}"/>
              </a:ext>
            </a:extLst>
          </p:cNvPr>
          <p:cNvSpPr/>
          <p:nvPr/>
        </p:nvSpPr>
        <p:spPr>
          <a:xfrm>
            <a:off x="9221820" y="1917899"/>
            <a:ext cx="802831" cy="377187"/>
          </a:xfrm>
          <a:prstGeom prst="roundRect">
            <a:avLst/>
          </a:prstGeom>
          <a:solidFill>
            <a:schemeClr val="accent6">
              <a:lumMod val="20000"/>
              <a:lumOff val="8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US" sz="1000" dirty="0"/>
              <a:t>Final prompt</a:t>
            </a:r>
          </a:p>
        </p:txBody>
      </p:sp>
      <p:pic>
        <p:nvPicPr>
          <p:cNvPr id="119" name="Graphic 118" descr="Arrow Right with solid fill">
            <a:extLst>
              <a:ext uri="{FF2B5EF4-FFF2-40B4-BE49-F238E27FC236}">
                <a16:creationId xmlns:a16="http://schemas.microsoft.com/office/drawing/2014/main" id="{F7208B29-D833-5467-B9B9-896445107E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27814" y="1870541"/>
            <a:ext cx="218053" cy="448417"/>
          </a:xfrm>
          <a:prstGeom prst="rect">
            <a:avLst/>
          </a:prstGeom>
        </p:spPr>
      </p:pic>
      <p:cxnSp>
        <p:nvCxnSpPr>
          <p:cNvPr id="133" name="Curved Connector 132">
            <a:extLst>
              <a:ext uri="{FF2B5EF4-FFF2-40B4-BE49-F238E27FC236}">
                <a16:creationId xmlns:a16="http://schemas.microsoft.com/office/drawing/2014/main" id="{44566072-631D-EDB1-CC6F-0187ED200FCE}"/>
              </a:ext>
            </a:extLst>
          </p:cNvPr>
          <p:cNvCxnSpPr>
            <a:cxnSpLocks/>
            <a:stCxn id="83" idx="3"/>
            <a:endCxn id="99" idx="0"/>
          </p:cNvCxnSpPr>
          <p:nvPr/>
        </p:nvCxnSpPr>
        <p:spPr>
          <a:xfrm>
            <a:off x="8597772" y="2093435"/>
            <a:ext cx="1451643" cy="2014229"/>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39" name="Elbow Connector 138">
            <a:extLst>
              <a:ext uri="{FF2B5EF4-FFF2-40B4-BE49-F238E27FC236}">
                <a16:creationId xmlns:a16="http://schemas.microsoft.com/office/drawing/2014/main" id="{D99F1CAF-55C5-358F-6DCE-1EC54BFE9DF1}"/>
              </a:ext>
            </a:extLst>
          </p:cNvPr>
          <p:cNvCxnSpPr>
            <a:cxnSpLocks/>
            <a:stCxn id="98" idx="3"/>
            <a:endCxn id="104" idx="3"/>
          </p:cNvCxnSpPr>
          <p:nvPr/>
        </p:nvCxnSpPr>
        <p:spPr>
          <a:xfrm flipV="1">
            <a:off x="10932604" y="830567"/>
            <a:ext cx="75878" cy="4415017"/>
          </a:xfrm>
          <a:prstGeom prst="bentConnector3">
            <a:avLst>
              <a:gd name="adj1" fmla="val 1453822"/>
            </a:avLst>
          </a:prstGeom>
          <a:ln>
            <a:tailEnd type="triangle"/>
          </a:ln>
        </p:spPr>
        <p:style>
          <a:lnRef idx="2">
            <a:schemeClr val="dk1"/>
          </a:lnRef>
          <a:fillRef idx="0">
            <a:schemeClr val="dk1"/>
          </a:fillRef>
          <a:effectRef idx="1">
            <a:schemeClr val="dk1"/>
          </a:effectRef>
          <a:fontRef idx="minor">
            <a:schemeClr val="tx1"/>
          </a:fontRef>
        </p:style>
      </p:cxnSp>
      <p:sp>
        <p:nvSpPr>
          <p:cNvPr id="148" name="Rounded Rectangle 147">
            <a:extLst>
              <a:ext uri="{FF2B5EF4-FFF2-40B4-BE49-F238E27FC236}">
                <a16:creationId xmlns:a16="http://schemas.microsoft.com/office/drawing/2014/main" id="{EF57051A-B2EF-0EEF-BD85-194F2278F044}"/>
              </a:ext>
            </a:extLst>
          </p:cNvPr>
          <p:cNvSpPr/>
          <p:nvPr/>
        </p:nvSpPr>
        <p:spPr>
          <a:xfrm>
            <a:off x="9465943" y="4424842"/>
            <a:ext cx="1124262" cy="375225"/>
          </a:xfrm>
          <a:prstGeom prst="roundRect">
            <a:avLst/>
          </a:prstGeom>
          <a:solidFill>
            <a:srgbClr val="446E3F">
              <a:alpha val="16863"/>
            </a:srgbClr>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LLM Call</a:t>
            </a:r>
          </a:p>
        </p:txBody>
      </p:sp>
      <mc:AlternateContent xmlns:mc="http://schemas.openxmlformats.org/markup-compatibility/2006">
        <mc:Choice xmlns:a14="http://schemas.microsoft.com/office/drawing/2010/main" Requires="a14">
          <p:sp>
            <p:nvSpPr>
              <p:cNvPr id="157" name="TextBox 156">
                <a:extLst>
                  <a:ext uri="{FF2B5EF4-FFF2-40B4-BE49-F238E27FC236}">
                    <a16:creationId xmlns:a16="http://schemas.microsoft.com/office/drawing/2014/main" id="{DB994EAF-F7F0-43B6-0ABA-6CB4A85536A0}"/>
                  </a:ext>
                </a:extLst>
              </p:cNvPr>
              <p:cNvSpPr txBox="1"/>
              <p:nvPr/>
            </p:nvSpPr>
            <p:spPr>
              <a:xfrm>
                <a:off x="8670485" y="2349374"/>
                <a:ext cx="2877095" cy="1323439"/>
              </a:xfrm>
              <a:prstGeom prst="rect">
                <a:avLst/>
              </a:prstGeom>
              <a:noFill/>
            </p:spPr>
            <p:txBody>
              <a:bodyPr wrap="square" rtlCol="0">
                <a:spAutoFit/>
              </a:bodyPr>
              <a:lstStyle/>
              <a:p>
                <a:pPr algn="ctr"/>
                <a:r>
                  <a:rPr lang="en-US" sz="1000" dirty="0"/>
                  <a:t>A scenario is considered similar if the difference between the present and the past cases for following  is </a:t>
                </a:r>
                <a:r>
                  <a:rPr lang="en-US" sz="1000" b="1" dirty="0"/>
                  <a:t>within a threshold </a:t>
                </a:r>
                <a14:m>
                  <m:oMath xmlns:m="http://schemas.openxmlformats.org/officeDocument/2006/math">
                    <m:r>
                      <a:rPr lang="en-US" sz="1000" b="1" i="1">
                        <a:latin typeface="Cambria Math" panose="02040503050406030204" pitchFamily="18" charset="0"/>
                        <a:ea typeface="Cambria Math" panose="02040503050406030204" pitchFamily="18" charset="0"/>
                      </a:rPr>
                      <m:t>𝜷</m:t>
                    </m:r>
                  </m:oMath>
                </a14:m>
                <a:r>
                  <a:rPr lang="en-US" sz="1000" dirty="0"/>
                  <a:t> </a:t>
                </a:r>
              </a:p>
              <a:p>
                <a:pPr marL="171450" indent="-171450">
                  <a:buFont typeface="Arial" panose="020B0604020202020204" pitchFamily="34" charset="0"/>
                  <a:buChar char="•"/>
                </a:pPr>
                <a:r>
                  <a:rPr lang="en-US" sz="1000" dirty="0"/>
                  <a:t>TTCP,</a:t>
                </a:r>
              </a:p>
              <a:p>
                <a:pPr marL="171450" indent="-171450">
                  <a:buFont typeface="Arial" panose="020B0604020202020204" pitchFamily="34" charset="0"/>
                  <a:buChar char="•"/>
                </a:pPr>
                <a:r>
                  <a:rPr lang="en-US" sz="1000" dirty="0"/>
                  <a:t>separation distance</a:t>
                </a:r>
              </a:p>
              <a:p>
                <a:pPr marL="171450" indent="-171450">
                  <a:buFont typeface="Arial" panose="020B0604020202020204" pitchFamily="34" charset="0"/>
                  <a:buChar char="•"/>
                </a:pPr>
                <a:r>
                  <a:rPr lang="en-US" sz="1000" dirty="0">
                    <a:solidFill>
                      <a:srgbClr val="C00000"/>
                    </a:solidFill>
                  </a:rPr>
                  <a:t>Can add another metric for text similarity</a:t>
                </a:r>
              </a:p>
              <a:p>
                <a:r>
                  <a:rPr lang="en-US" sz="1000" dirty="0"/>
                  <a:t>(We consider top n matches to get LLM </a:t>
                </a:r>
                <a:r>
                  <a:rPr lang="en-US" sz="1000" baseline="-25000" dirty="0"/>
                  <a:t>action</a:t>
                </a:r>
                <a:r>
                  <a:rPr lang="en-US" sz="1000" dirty="0"/>
                  <a:t>)</a:t>
                </a:r>
                <a:endParaRPr lang="en-US" sz="1000" dirty="0">
                  <a:solidFill>
                    <a:srgbClr val="C00000"/>
                  </a:solidFill>
                </a:endParaRPr>
              </a:p>
              <a:p>
                <a:endParaRPr lang="en-US" sz="1000" dirty="0"/>
              </a:p>
            </p:txBody>
          </p:sp>
        </mc:Choice>
        <mc:Fallback>
          <p:sp>
            <p:nvSpPr>
              <p:cNvPr id="157" name="TextBox 156">
                <a:extLst>
                  <a:ext uri="{FF2B5EF4-FFF2-40B4-BE49-F238E27FC236}">
                    <a16:creationId xmlns:a16="http://schemas.microsoft.com/office/drawing/2014/main" id="{DB994EAF-F7F0-43B6-0ABA-6CB4A85536A0}"/>
                  </a:ext>
                </a:extLst>
              </p:cNvPr>
              <p:cNvSpPr txBox="1">
                <a:spLocks noRot="1" noChangeAspect="1" noMove="1" noResize="1" noEditPoints="1" noAdjustHandles="1" noChangeArrowheads="1" noChangeShapeType="1" noTextEdit="1"/>
              </p:cNvSpPr>
              <p:nvPr/>
            </p:nvSpPr>
            <p:spPr>
              <a:xfrm>
                <a:off x="8670485" y="2349374"/>
                <a:ext cx="2877095" cy="1323439"/>
              </a:xfrm>
              <a:prstGeom prst="rect">
                <a:avLst/>
              </a:prstGeom>
              <a:blipFill>
                <a:blip r:embed="rId11"/>
                <a:stretch>
                  <a:fillRect/>
                </a:stretch>
              </a:blipFill>
            </p:spPr>
            <p:txBody>
              <a:bodyPr/>
              <a:lstStyle/>
              <a:p>
                <a:r>
                  <a:rPr lang="en-US">
                    <a:noFill/>
                  </a:rPr>
                  <a:t> </a:t>
                </a:r>
              </a:p>
            </p:txBody>
          </p:sp>
        </mc:Fallback>
      </mc:AlternateContent>
      <p:pic>
        <p:nvPicPr>
          <p:cNvPr id="160" name="Graphic 159" descr="Arrow Right with solid fill">
            <a:extLst>
              <a:ext uri="{FF2B5EF4-FFF2-40B4-BE49-F238E27FC236}">
                <a16:creationId xmlns:a16="http://schemas.microsoft.com/office/drawing/2014/main" id="{9439041E-2D1A-A101-BEC3-1BDD023DB8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10520790" y="1315512"/>
            <a:ext cx="448416" cy="448417"/>
          </a:xfrm>
          <a:prstGeom prst="rect">
            <a:avLst/>
          </a:prstGeom>
        </p:spPr>
      </p:pic>
      <p:sp>
        <p:nvSpPr>
          <p:cNvPr id="162" name="TextBox 161">
            <a:extLst>
              <a:ext uri="{FF2B5EF4-FFF2-40B4-BE49-F238E27FC236}">
                <a16:creationId xmlns:a16="http://schemas.microsoft.com/office/drawing/2014/main" id="{462EEC71-69A7-0BE2-3314-2371D10C8B15}"/>
              </a:ext>
            </a:extLst>
          </p:cNvPr>
          <p:cNvSpPr txBox="1"/>
          <p:nvPr/>
        </p:nvSpPr>
        <p:spPr>
          <a:xfrm>
            <a:off x="10692362" y="1284153"/>
            <a:ext cx="1387899" cy="553998"/>
          </a:xfrm>
          <a:prstGeom prst="rect">
            <a:avLst/>
          </a:prstGeom>
          <a:noFill/>
        </p:spPr>
        <p:txBody>
          <a:bodyPr wrap="square" rtlCol="0">
            <a:spAutoFit/>
          </a:bodyPr>
          <a:lstStyle/>
          <a:p>
            <a:pPr algn="ctr"/>
            <a:r>
              <a:rPr lang="en-US" sz="1000" dirty="0"/>
              <a:t>Create scenario summary log it with TTCP, Sep </a:t>
            </a:r>
            <a:r>
              <a:rPr lang="en-US" sz="1000" dirty="0" err="1"/>
              <a:t>dist</a:t>
            </a:r>
            <a:r>
              <a:rPr lang="en-US" sz="1000" dirty="0"/>
              <a:t> </a:t>
            </a:r>
          </a:p>
        </p:txBody>
      </p:sp>
      <p:sp>
        <p:nvSpPr>
          <p:cNvPr id="168" name="TextBox 167">
            <a:extLst>
              <a:ext uri="{FF2B5EF4-FFF2-40B4-BE49-F238E27FC236}">
                <a16:creationId xmlns:a16="http://schemas.microsoft.com/office/drawing/2014/main" id="{C7455637-47F2-02A4-8DEE-ED9F3BB024D8}"/>
              </a:ext>
            </a:extLst>
          </p:cNvPr>
          <p:cNvSpPr txBox="1"/>
          <p:nvPr/>
        </p:nvSpPr>
        <p:spPr>
          <a:xfrm rot="5400000">
            <a:off x="11134580" y="2734080"/>
            <a:ext cx="1124262" cy="246221"/>
          </a:xfrm>
          <a:prstGeom prst="rect">
            <a:avLst/>
          </a:prstGeom>
          <a:noFill/>
        </p:spPr>
        <p:txBody>
          <a:bodyPr wrap="square" rtlCol="0">
            <a:spAutoFit/>
          </a:bodyPr>
          <a:lstStyle/>
          <a:p>
            <a:pPr algn="ctr"/>
            <a:r>
              <a:rPr lang="en-US" sz="1000" b="1" dirty="0"/>
              <a:t>LLM Action</a:t>
            </a:r>
          </a:p>
        </p:txBody>
      </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FBBE0E4E-66B8-DDB8-ECFB-B732819F426F}"/>
                  </a:ext>
                </a:extLst>
              </p:cNvPr>
              <p:cNvSpPr txBox="1"/>
              <p:nvPr/>
            </p:nvSpPr>
            <p:spPr>
              <a:xfrm>
                <a:off x="10927310" y="5038942"/>
                <a:ext cx="1124262" cy="246221"/>
              </a:xfrm>
              <a:prstGeom prst="rect">
                <a:avLst/>
              </a:prstGeom>
              <a:noFill/>
            </p:spPr>
            <p:txBody>
              <a:bodyPr wrap="square" rtlCol="0">
                <a:spAutoFit/>
              </a:bodyPr>
              <a:lstStyle/>
              <a:p>
                <a:pPr algn="ctr"/>
                <a14:m>
                  <m:oMath xmlns:m="http://schemas.openxmlformats.org/officeDocument/2006/math">
                    <m:r>
                      <a:rPr lang="en-US" sz="1000" b="1" i="1" smtClean="0">
                        <a:latin typeface="Cambria Math" panose="02040503050406030204" pitchFamily="18" charset="0"/>
                        <a:ea typeface="Cambria Math" panose="02040503050406030204" pitchFamily="18" charset="0"/>
                      </a:rPr>
                      <m:t>∆</m:t>
                    </m:r>
                  </m:oMath>
                </a14:m>
                <a:r>
                  <a:rPr lang="en-US" sz="1000" b="1" dirty="0"/>
                  <a:t>  Action</a:t>
                </a:r>
              </a:p>
            </p:txBody>
          </p:sp>
        </mc:Choice>
        <mc:Fallback>
          <p:sp>
            <p:nvSpPr>
              <p:cNvPr id="169" name="TextBox 168">
                <a:extLst>
                  <a:ext uri="{FF2B5EF4-FFF2-40B4-BE49-F238E27FC236}">
                    <a16:creationId xmlns:a16="http://schemas.microsoft.com/office/drawing/2014/main" id="{FBBE0E4E-66B8-DDB8-ECFB-B732819F426F}"/>
                  </a:ext>
                </a:extLst>
              </p:cNvPr>
              <p:cNvSpPr txBox="1">
                <a:spLocks noRot="1" noChangeAspect="1" noMove="1" noResize="1" noEditPoints="1" noAdjustHandles="1" noChangeArrowheads="1" noChangeShapeType="1" noTextEdit="1"/>
              </p:cNvSpPr>
              <p:nvPr/>
            </p:nvSpPr>
            <p:spPr>
              <a:xfrm>
                <a:off x="10927310" y="5038942"/>
                <a:ext cx="1124262" cy="246221"/>
              </a:xfrm>
              <a:prstGeom prst="rect">
                <a:avLst/>
              </a:prstGeom>
              <a:blipFill>
                <a:blip r:embed="rId12"/>
                <a:stretch>
                  <a:fillRect b="-9524"/>
                </a:stretch>
              </a:blipFill>
            </p:spPr>
            <p:txBody>
              <a:bodyPr/>
              <a:lstStyle/>
              <a:p>
                <a:r>
                  <a:rPr lang="en-US">
                    <a:noFill/>
                  </a:rPr>
                  <a:t> </a:t>
                </a:r>
              </a:p>
            </p:txBody>
          </p:sp>
        </mc:Fallback>
      </mc:AlternateContent>
      <p:sp>
        <p:nvSpPr>
          <p:cNvPr id="178" name="Right Brace 177">
            <a:extLst>
              <a:ext uri="{FF2B5EF4-FFF2-40B4-BE49-F238E27FC236}">
                <a16:creationId xmlns:a16="http://schemas.microsoft.com/office/drawing/2014/main" id="{E7FD2024-F726-2AA6-443D-F935F23B6418}"/>
              </a:ext>
            </a:extLst>
          </p:cNvPr>
          <p:cNvSpPr/>
          <p:nvPr/>
        </p:nvSpPr>
        <p:spPr>
          <a:xfrm rot="10800000">
            <a:off x="1499525" y="749101"/>
            <a:ext cx="472904" cy="269979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708976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2091</TotalTime>
  <Words>6524</Words>
  <Application>Microsoft Macintosh PowerPoint</Application>
  <PresentationFormat>Widescreen</PresentationFormat>
  <Paragraphs>559</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Office Theme</vt:lpstr>
      <vt:lpstr>Research Papers which have explored How LLMs can improve RL Applications or Convergence</vt:lpstr>
      <vt:lpstr>1. iLLM-TSC: INTEGRATION REINFORCEMENT LEARNING AND LARGE LANGUAGE MODEL FOR TRAFFIC SIGNAL CONTROL POLICY IMPROVEMENT </vt:lpstr>
      <vt:lpstr>PowerPoint Presentation</vt:lpstr>
      <vt:lpstr>PowerPoint Presentation</vt:lpstr>
      <vt:lpstr>Limitations:</vt:lpstr>
      <vt:lpstr>2. TeLL-Drive: Enhancing Autonomous Driving with Teacher LLM-Guided Deep Reinforcement Learning</vt:lpstr>
      <vt:lpstr>PowerPoint Presentation</vt:lpstr>
      <vt:lpstr>PowerPoint Presentation</vt:lpstr>
      <vt:lpstr>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Aradhya Dhruv</dc:creator>
  <cp:lastModifiedBy>Aradhya Dhruv</cp:lastModifiedBy>
  <cp:revision>38</cp:revision>
  <dcterms:created xsi:type="dcterms:W3CDTF">2025-08-01T02:49:38Z</dcterms:created>
  <dcterms:modified xsi:type="dcterms:W3CDTF">2025-08-08T08:58:29Z</dcterms:modified>
</cp:coreProperties>
</file>